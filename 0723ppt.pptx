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858000" cy="10287000"/>
          </a:xfrm>
          <a:prstGeom prst="rect">
            <a:avLst/>
          </a:prstGeom>
          <a:solidFill>
            <a:srgbClr val="1F2A44"/>
          </a:solidFill>
          <a:ln w="12700">
            <a:solidFill>
              <a:srgbClr val="FFFFFF">
                <a:alpha val="0"/>
              </a:srgbClr>
            </a:solidFill>
            <a:prstDash val="solid"/>
          </a:ln>
        </p:spPr>
      </p:sp>
      <p:pic>
        <p:nvPicPr>
          <p:cNvPr id="3" name="Image 0" descr="gen-dedup-cc949a26dbb9ee0ec60c16e48174e118.png">    </p:cNvPr>
          <p:cNvPicPr>
            <a:picLocks noChangeAspect="1"/>
          </p:cNvPicPr>
          <p:nvPr/>
        </p:nvPicPr>
        <p:blipFill>
          <a:blip r:embed="rId1"/>
          <a:srcRect l="0" r="0" t="0" b="0"/>
          <a:stretch/>
        </p:blipFill>
        <p:spPr>
          <a:xfrm>
            <a:off x="8001000" y="1904695"/>
            <a:ext cx="9353398" cy="6495898"/>
          </a:xfrm>
          <a:prstGeom prst="rect">
            <a:avLst/>
          </a:prstGeom>
        </p:spPr>
      </p:pic>
      <p:pic>
        <p:nvPicPr>
          <p:cNvPr id="4" name="Image 1" descr="gen-dedup-2607b74636b5c9898b8ca346fe9fc63e.png">    </p:cNvPr>
          <p:cNvPicPr>
            <a:picLocks noChangeAspect="1"/>
          </p:cNvPicPr>
          <p:nvPr/>
        </p:nvPicPr>
        <p:blipFill>
          <a:blip r:embed="rId2"/>
          <a:srcRect l="-2083" r="-2083" t="0" b="0"/>
          <a:stretch/>
        </p:blipFill>
        <p:spPr>
          <a:xfrm>
            <a:off x="8477402" y="5715000"/>
            <a:ext cx="8382305" cy="9144"/>
          </a:xfrm>
          <a:prstGeom prst="rect">
            <a:avLst/>
          </a:prstGeom>
        </p:spPr>
      </p:pic>
      <p:pic>
        <p:nvPicPr>
          <p:cNvPr id="5" name="Image 2" descr="gen-dedup-7c870103cb4ee70b38fe70e991a34efb.png">    </p:cNvPr>
          <p:cNvPicPr>
            <a:picLocks noChangeAspect="1"/>
          </p:cNvPicPr>
          <p:nvPr/>
        </p:nvPicPr>
        <p:blipFill>
          <a:blip r:embed="rId3"/>
          <a:srcRect l="0" r="0" t="-201" b="-201"/>
          <a:stretch/>
        </p:blipFill>
        <p:spPr>
          <a:xfrm>
            <a:off x="6858000" y="0"/>
            <a:ext cx="75895" cy="10287000"/>
          </a:xfrm>
          <a:prstGeom prst="rect">
            <a:avLst/>
          </a:prstGeom>
        </p:spPr>
      </p:pic>
      <p:sp>
        <p:nvSpPr>
          <p:cNvPr id="6" name="Text 1"/>
          <p:cNvSpPr txBox="1"/>
          <p:nvPr/>
        </p:nvSpPr>
        <p:spPr>
          <a:xfrm>
            <a:off x="857707" y="1143000"/>
            <a:ext cx="5143500" cy="219456"/>
          </a:xfrm>
          <a:prstGeom prst="rect">
            <a:avLst/>
          </a:prstGeom>
          <a:noFill/>
          <a:ln/>
        </p:spPr>
        <p:txBody>
          <a:bodyPr wrap="none" lIns="0" tIns="0" rIns="0" bIns="0" rtlCol="0" anchor="ctr"/>
          <a:lstStyle/>
          <a:p>
            <a:pPr algn="l" indent="0" marL="0">
              <a:buNone/>
            </a:pPr>
            <a:r>
              <a:rPr lang="en-US" sz="1300" spc="243" kern="0" dirty="0">
                <a:solidFill>
                  <a:srgbClr val="B68C2E"/>
                </a:solidFill>
                <a:latin typeface="IBM Plex Mono" pitchFamily="34" charset="0"/>
                <a:ea typeface="IBM Plex Mono" pitchFamily="34" charset="-122"/>
                <a:cs typeface="IBM Plex Mono" pitchFamily="34" charset="-120"/>
              </a:rPr>
              <a:t>APP BRIEFING // WORKSHEET-BUILDER</a:t>
            </a:r>
            <a:endParaRPr lang="en-US" sz="1300" dirty="0"/>
          </a:p>
        </p:txBody>
      </p:sp>
      <p:sp>
        <p:nvSpPr>
          <p:cNvPr id="7" name="Text 2"/>
          <p:cNvSpPr txBox="1"/>
          <p:nvPr/>
        </p:nvSpPr>
        <p:spPr>
          <a:xfrm>
            <a:off x="857707" y="1619402"/>
            <a:ext cx="5143500" cy="228600"/>
          </a:xfrm>
          <a:prstGeom prst="rect">
            <a:avLst/>
          </a:prstGeom>
          <a:noFill/>
          <a:ln/>
        </p:spPr>
        <p:txBody>
          <a:bodyPr wrap="none" lIns="0" tIns="0" rIns="0" bIns="0" rtlCol="0" anchor="ctr"/>
          <a:lstStyle/>
          <a:p>
            <a:pPr algn="l" indent="0" marL="0">
              <a:buNone/>
            </a:pPr>
            <a:r>
              <a:rPr lang="en-US" sz="1200" spc="384" kern="0" dirty="0">
                <a:solidFill>
                  <a:srgbClr val="A4ABB8"/>
                </a:solidFill>
                <a:latin typeface="Inter" pitchFamily="34" charset="0"/>
                <a:ea typeface="Inter" pitchFamily="34" charset="-122"/>
                <a:cs typeface="Inter" pitchFamily="34" charset="-120"/>
              </a:rPr>
              <a:t>高校生のキャリア探究を加速する</a:t>
            </a:r>
            <a:endParaRPr lang="en-US" sz="1200" dirty="0"/>
          </a:p>
        </p:txBody>
      </p:sp>
      <p:sp>
        <p:nvSpPr>
          <p:cNvPr id="8" name="Text 3"/>
          <p:cNvSpPr txBox="1"/>
          <p:nvPr/>
        </p:nvSpPr>
        <p:spPr>
          <a:xfrm>
            <a:off x="857707" y="2667305"/>
            <a:ext cx="5143500" cy="2286000"/>
          </a:xfrm>
          <a:prstGeom prst="rect">
            <a:avLst/>
          </a:prstGeom>
          <a:noFill/>
          <a:ln/>
        </p:spPr>
        <p:txBody>
          <a:bodyPr wrap="square" lIns="0" tIns="0" rIns="0" bIns="0" rtlCol="0" anchor="t"/>
          <a:lstStyle/>
          <a:p>
            <a:pPr algn="l" indent="0" marL="0">
              <a:buNone/>
            </a:pPr>
            <a:r>
              <a:rPr lang="en-US" sz="4200" b="1" dirty="0">
                <a:solidFill>
                  <a:srgbClr val="FFFFFF"/>
                </a:solidFill>
                <a:latin typeface="Noto Serif JP" pitchFamily="34" charset="0"/>
                <a:ea typeface="Noto Serif JP" pitchFamily="34" charset="-122"/>
                <a:cs typeface="Noto Serif JP" pitchFamily="34" charset="-120"/>
              </a:rPr>
              <a:t>インターンシップ</a:t>
            </a:r>
            <a:pPr algn="l" indent="0" marL="0">
              <a:buNone/>
            </a:pPr>
            <a:endParaRPr lang="en-US" sz="4200" dirty="0"/>
          </a:p>
          <a:p>
            <a:pPr algn="l" indent="0" marL="0">
              <a:buNone/>
            </a:pPr>
            <a:r>
              <a:rPr lang="en-US" sz="4200" b="1" dirty="0">
                <a:solidFill>
                  <a:srgbClr val="B68C2E"/>
                </a:solidFill>
                <a:latin typeface="Noto Serif JP" pitchFamily="34" charset="0"/>
                <a:ea typeface="Noto Serif JP" pitchFamily="34" charset="-122"/>
                <a:cs typeface="Noto Serif JP" pitchFamily="34" charset="-120"/>
              </a:rPr>
              <a:t>解剖シート</a:t>
            </a:r>
            <a:pPr algn="l" indent="0" marL="0">
              <a:buNone/>
            </a:pPr>
            <a:endParaRPr lang="en-US" sz="4200" dirty="0"/>
          </a:p>
          <a:p>
            <a:pPr algn="l" indent="0" marL="0">
              <a:buNone/>
            </a:pPr>
            <a:r>
              <a:rPr lang="en-US" sz="4200" b="1" dirty="0">
                <a:solidFill>
                  <a:srgbClr val="FFFFFF"/>
                </a:solidFill>
                <a:latin typeface="Noto Serif JP" pitchFamily="34" charset="0"/>
                <a:ea typeface="Noto Serif JP" pitchFamily="34" charset="-122"/>
                <a:cs typeface="Noto Serif JP" pitchFamily="34" charset="-120"/>
              </a:rPr>
              <a:t>作成支援アプリ</a:t>
            </a:r>
            <a:endParaRPr lang="en-US" sz="4200" dirty="0"/>
          </a:p>
        </p:txBody>
      </p:sp>
      <p:sp>
        <p:nvSpPr>
          <p:cNvPr id="9" name="Text 4"/>
          <p:cNvSpPr txBox="1"/>
          <p:nvPr/>
        </p:nvSpPr>
        <p:spPr>
          <a:xfrm>
            <a:off x="857707" y="5486400"/>
            <a:ext cx="5143500" cy="952805"/>
          </a:xfrm>
          <a:prstGeom prst="rect">
            <a:avLst/>
          </a:prstGeom>
          <a:noFill/>
          <a:ln/>
        </p:spPr>
        <p:txBody>
          <a:bodyPr wrap="square" lIns="0" tIns="0" rIns="0" bIns="0" rtlCol="0" anchor="t"/>
          <a:lstStyle/>
          <a:p>
            <a:pPr algn="l" indent="0" marL="0">
              <a:lnSpc>
                <a:spcPts val="2400"/>
              </a:lnSpc>
              <a:buNone/>
            </a:pPr>
            <a:r>
              <a:rPr lang="en-US" sz="1500" dirty="0">
                <a:solidFill>
                  <a:srgbClr val="E5E7EB"/>
                </a:solidFill>
                <a:latin typeface="Noto Sans JP" pitchFamily="34" charset="0"/>
                <a:ea typeface="Noto Sans JP" pitchFamily="34" charset="-122"/>
                <a:cs typeface="Noto Sans JP" pitchFamily="34" charset="-120"/>
              </a:rPr>
              <a:t>体験を単なる「思い出」で終わらせない。</a:t>
            </a:r>
            <a:pPr algn="l" indent="0" marL="0">
              <a:lnSpc>
                <a:spcPts val="2400"/>
              </a:lnSpc>
              <a:buNone/>
            </a:pPr>
            <a:endParaRPr lang="en-US" sz="1500" dirty="0"/>
          </a:p>
          <a:p>
            <a:pPr algn="l" indent="0" marL="0">
              <a:lnSpc>
                <a:spcPts val="2400"/>
              </a:lnSpc>
              <a:buNone/>
            </a:pPr>
            <a:r>
              <a:rPr lang="en-US" sz="1500" dirty="0">
                <a:solidFill>
                  <a:srgbClr val="E5E7EB"/>
                </a:solidFill>
                <a:latin typeface="Noto Sans JP" pitchFamily="34" charset="0"/>
                <a:ea typeface="Noto Sans JP" pitchFamily="34" charset="-122"/>
                <a:cs typeface="Noto Sans JP" pitchFamily="34" charset="-120"/>
              </a:rPr>
              <a:t>外資系コンサルティングファームの分析フレームワークを取り入れた、探究学習用デジタルワークシート。</a:t>
            </a:r>
            <a:endParaRPr lang="en-US" sz="1500" dirty="0"/>
          </a:p>
        </p:txBody>
      </p:sp>
      <p:sp>
        <p:nvSpPr>
          <p:cNvPr id="10" name="Text 5"/>
          <p:cNvSpPr txBox="1"/>
          <p:nvPr/>
        </p:nvSpPr>
        <p:spPr>
          <a:xfrm>
            <a:off x="857707" y="7958023"/>
            <a:ext cx="5143500" cy="814730"/>
          </a:xfrm>
          <a:prstGeom prst="rect">
            <a:avLst/>
          </a:prstGeom>
          <a:noFill/>
          <a:ln/>
        </p:spPr>
        <p:txBody>
          <a:bodyPr wrap="square" lIns="0" tIns="0" rIns="0" bIns="0" rtlCol="0" anchor="t"/>
          <a:lstStyle/>
          <a:p>
            <a:pPr algn="l" indent="0" marL="0">
              <a:lnSpc>
                <a:spcPts val="2025"/>
              </a:lnSpc>
              <a:buNone/>
            </a:pPr>
            <a:r>
              <a:rPr lang="en-US" sz="1100" b="1" dirty="0">
                <a:solidFill>
                  <a:srgbClr val="FFFFFF"/>
                </a:solidFill>
                <a:latin typeface="Noto Sans JP" pitchFamily="34" charset="0"/>
                <a:ea typeface="Noto Sans JP" pitchFamily="34" charset="-122"/>
                <a:cs typeface="Noto Sans JP" pitchFamily="34" charset="-120"/>
              </a:rPr>
              <a:t>PRODUCER</a:t>
            </a:r>
            <a:pPr algn="l" indent="0" marL="0">
              <a:lnSpc>
                <a:spcPts val="2025"/>
              </a:lnSpc>
              <a:buNone/>
            </a:pPr>
            <a:r>
              <a:rPr lang="en-US" sz="1100" dirty="0">
                <a:solidFill>
                  <a:srgbClr val="A4ABB8"/>
                </a:solidFill>
                <a:latin typeface="Noto Sans JP" pitchFamily="34" charset="0"/>
                <a:ea typeface="Noto Sans JP" pitchFamily="34" charset="-122"/>
                <a:cs typeface="Noto Sans JP" pitchFamily="34" charset="-120"/>
              </a:rPr>
              <a:t> キャリアコンサルタントチーム</a:t>
            </a:r>
            <a:pPr algn="l" indent="0" marL="0">
              <a:lnSpc>
                <a:spcPts val="2025"/>
              </a:lnSpc>
              <a:buNone/>
            </a:pPr>
            <a:endParaRPr lang="en-US" sz="1100" dirty="0"/>
          </a:p>
          <a:p>
            <a:pPr algn="l" indent="0" marL="0">
              <a:lnSpc>
                <a:spcPts val="2025"/>
              </a:lnSpc>
              <a:buNone/>
            </a:pPr>
            <a:r>
              <a:rPr lang="en-US" sz="1100" b="1" dirty="0">
                <a:solidFill>
                  <a:srgbClr val="FFFFFF"/>
                </a:solidFill>
                <a:latin typeface="Noto Sans JP" pitchFamily="34" charset="0"/>
                <a:ea typeface="Noto Sans JP" pitchFamily="34" charset="-122"/>
                <a:cs typeface="Noto Sans JP" pitchFamily="34" charset="-120"/>
              </a:rPr>
              <a:t>TARGET</a:t>
            </a:r>
            <a:pPr algn="l" indent="0" marL="0">
              <a:lnSpc>
                <a:spcPts val="2025"/>
              </a:lnSpc>
              <a:buNone/>
            </a:pPr>
            <a:r>
              <a:rPr lang="en-US" sz="1100" dirty="0">
                <a:solidFill>
                  <a:srgbClr val="A4ABB8"/>
                </a:solidFill>
                <a:latin typeface="Noto Sans JP" pitchFamily="34" charset="0"/>
                <a:ea typeface="Noto Sans JP" pitchFamily="34" charset="-122"/>
                <a:cs typeface="Noto Sans JP" pitchFamily="34" charset="-120"/>
              </a:rPr>
              <a:t> 高校生・探究学習指導教員</a:t>
            </a:r>
            <a:pPr algn="l" indent="0" marL="0">
              <a:lnSpc>
                <a:spcPts val="2025"/>
              </a:lnSpc>
              <a:buNone/>
            </a:pPr>
            <a:endParaRPr lang="en-US" sz="1100" dirty="0"/>
          </a:p>
          <a:p>
            <a:pPr algn="l" indent="0" marL="0">
              <a:lnSpc>
                <a:spcPts val="2025"/>
              </a:lnSpc>
              <a:buNone/>
            </a:pPr>
            <a:r>
              <a:rPr lang="en-US" sz="1100" b="1" dirty="0">
                <a:solidFill>
                  <a:srgbClr val="FFFFFF"/>
                </a:solidFill>
                <a:latin typeface="Noto Sans JP" pitchFamily="34" charset="0"/>
                <a:ea typeface="Noto Sans JP" pitchFamily="34" charset="-122"/>
                <a:cs typeface="Noto Sans JP" pitchFamily="34" charset="-120"/>
              </a:rPr>
              <a:t>DATE</a:t>
            </a:r>
            <a:pPr algn="l" indent="0" marL="0">
              <a:lnSpc>
                <a:spcPts val="2025"/>
              </a:lnSpc>
              <a:buNone/>
            </a:pPr>
            <a:r>
              <a:rPr lang="en-US" sz="1100" dirty="0">
                <a:solidFill>
                  <a:srgbClr val="A4ABB8"/>
                </a:solidFill>
                <a:latin typeface="Noto Sans JP" pitchFamily="34" charset="0"/>
                <a:ea typeface="Noto Sans JP" pitchFamily="34" charset="-122"/>
                <a:cs typeface="Noto Sans JP" pitchFamily="34" charset="-120"/>
              </a:rPr>
              <a:t> 2026年7月20日</a:t>
            </a:r>
            <a:endParaRPr lang="en-US" sz="1100" dirty="0"/>
          </a:p>
        </p:txBody>
      </p:sp>
      <p:sp>
        <p:nvSpPr>
          <p:cNvPr id="11" name="Text 6"/>
          <p:cNvSpPr txBox="1"/>
          <p:nvPr/>
        </p:nvSpPr>
        <p:spPr>
          <a:xfrm>
            <a:off x="8477402" y="2381098"/>
            <a:ext cx="8382305" cy="171907"/>
          </a:xfrm>
          <a:prstGeom prst="rect">
            <a:avLst/>
          </a:prstGeom>
          <a:noFill/>
          <a:ln/>
        </p:spPr>
        <p:txBody>
          <a:bodyPr wrap="none" lIns="0" tIns="0" rIns="0" bIns="0" rtlCol="0" anchor="ctr"/>
          <a:lstStyle/>
          <a:p>
            <a:pPr algn="l" indent="0" marL="0">
              <a:buNone/>
            </a:pPr>
            <a:r>
              <a:rPr lang="en-US" sz="1000" spc="294" kern="0" dirty="0">
                <a:solidFill>
                  <a:srgbClr val="B68C2E"/>
                </a:solidFill>
                <a:latin typeface="IBM Plex Mono" pitchFamily="34" charset="0"/>
                <a:ea typeface="IBM Plex Mono" pitchFamily="34" charset="-122"/>
                <a:cs typeface="IBM Plex Mono" pitchFamily="34" charset="-120"/>
              </a:rPr>
              <a:t>01 / 10 · OVERVIEW</a:t>
            </a:r>
            <a:endParaRPr lang="en-US" sz="1000" dirty="0"/>
          </a:p>
        </p:txBody>
      </p:sp>
      <p:sp>
        <p:nvSpPr>
          <p:cNvPr id="12" name="Text 7"/>
          <p:cNvSpPr txBox="1"/>
          <p:nvPr/>
        </p:nvSpPr>
        <p:spPr>
          <a:xfrm>
            <a:off x="8477402" y="2762402"/>
            <a:ext cx="8382305" cy="200254"/>
          </a:xfrm>
          <a:prstGeom prst="rect">
            <a:avLst/>
          </a:prstGeom>
          <a:noFill/>
          <a:ln/>
        </p:spPr>
        <p:txBody>
          <a:bodyPr wrap="none" lIns="0" tIns="0" rIns="0" bIns="0" rtlCol="0" anchor="ctr"/>
          <a:lstStyle/>
          <a:p>
            <a:pPr algn="l" indent="0" marL="0">
              <a:buNone/>
            </a:pPr>
            <a:r>
              <a:rPr lang="en-US" sz="1100" b="1" spc="113" kern="0" dirty="0">
                <a:solidFill>
                  <a:srgbClr val="5A6271"/>
                </a:solidFill>
                <a:latin typeface="Noto Sans JP" pitchFamily="34" charset="0"/>
                <a:ea typeface="Noto Sans JP" pitchFamily="34" charset="-122"/>
                <a:cs typeface="Noto Sans JP" pitchFamily="34" charset="-120"/>
              </a:rPr>
              <a:t>本アプリの開発基本コンセプト</a:t>
            </a:r>
            <a:endParaRPr lang="en-US" sz="1100" dirty="0"/>
          </a:p>
        </p:txBody>
      </p:sp>
      <p:sp>
        <p:nvSpPr>
          <p:cNvPr id="13" name="Text 8"/>
          <p:cNvSpPr txBox="1"/>
          <p:nvPr/>
        </p:nvSpPr>
        <p:spPr>
          <a:xfrm>
            <a:off x="8477402" y="3333902"/>
            <a:ext cx="8382305" cy="1467612"/>
          </a:xfrm>
          <a:prstGeom prst="rect">
            <a:avLst/>
          </a:prstGeom>
          <a:noFill/>
          <a:ln/>
        </p:spPr>
        <p:txBody>
          <a:bodyPr wrap="square" lIns="0" tIns="0" rIns="0" bIns="0" rtlCol="0" anchor="t"/>
          <a:lstStyle/>
          <a:p>
            <a:pPr algn="l" indent="0" marL="0">
              <a:buNone/>
            </a:pPr>
            <a:r>
              <a:rPr lang="en-US" sz="2800" b="1" dirty="0">
                <a:solidFill>
                  <a:srgbClr val="1F2A44"/>
                </a:solidFill>
                <a:latin typeface="Noto Serif JP" pitchFamily="34" charset="0"/>
                <a:ea typeface="Noto Serif JP" pitchFamily="34" charset="-122"/>
                <a:cs typeface="Noto Serif JP" pitchFamily="34" charset="-120"/>
              </a:rPr>
              <a:t>「働く現場」のシステムを可視化し、</a:t>
            </a:r>
            <a:pPr algn="l" indent="0" marL="0">
              <a:buNone/>
            </a:pPr>
            <a:endParaRPr lang="en-US" sz="2800" dirty="0"/>
          </a:p>
          <a:p>
            <a:pPr algn="l" indent="0" marL="0">
              <a:buNone/>
            </a:pPr>
            <a:r>
              <a:rPr lang="en-US" sz="2800" b="1" dirty="0">
                <a:solidFill>
                  <a:srgbClr val="1F2A44"/>
                </a:solidFill>
                <a:latin typeface="Noto Serif JP" pitchFamily="34" charset="0"/>
                <a:ea typeface="Noto Serif JP" pitchFamily="34" charset="-122"/>
                <a:cs typeface="Noto Serif JP" pitchFamily="34" charset="-120"/>
              </a:rPr>
              <a:t>体験から</a:t>
            </a:r>
            <a:pPr algn="l" indent="0" marL="0">
              <a:buNone/>
            </a:pPr>
            <a:r>
              <a:rPr lang="en-US" sz="2800" b="1" dirty="0">
                <a:solidFill>
                  <a:srgbClr val="B68C2E"/>
                </a:solidFill>
                <a:latin typeface="Noto Serif JP" pitchFamily="34" charset="0"/>
                <a:ea typeface="Noto Serif JP" pitchFamily="34" charset="-122"/>
                <a:cs typeface="Noto Serif JP" pitchFamily="34" charset="-120"/>
              </a:rPr>
              <a:t>プロの思考と未来のアイデア</a:t>
            </a:r>
            <a:pPr algn="l" indent="0" marL="0">
              <a:buNone/>
            </a:pPr>
            <a:r>
              <a:rPr lang="en-US" sz="2800" b="1" dirty="0">
                <a:solidFill>
                  <a:srgbClr val="1F2A44"/>
                </a:solidFill>
                <a:latin typeface="Noto Serif JP" pitchFamily="34" charset="0"/>
                <a:ea typeface="Noto Serif JP" pitchFamily="34" charset="-122"/>
                <a:cs typeface="Noto Serif JP" pitchFamily="34" charset="-120"/>
              </a:rPr>
              <a:t>を</a:t>
            </a:r>
            <a:pPr algn="l" indent="0" marL="0">
              <a:buNone/>
            </a:pPr>
            <a:endParaRPr lang="en-US" sz="2800" dirty="0"/>
          </a:p>
          <a:p>
            <a:pPr algn="l" indent="0" marL="0">
              <a:buNone/>
            </a:pPr>
            <a:r>
              <a:rPr lang="en-US" sz="2800" b="1" dirty="0">
                <a:solidFill>
                  <a:srgbClr val="1F2A44"/>
                </a:solidFill>
                <a:latin typeface="Noto Serif JP" pitchFamily="34" charset="0"/>
                <a:ea typeface="Noto Serif JP" pitchFamily="34" charset="-122"/>
                <a:cs typeface="Noto Serif JP" pitchFamily="34" charset="-120"/>
              </a:rPr>
              <a:t>引き出すワークシート作成支援ツール</a:t>
            </a:r>
            <a:endParaRPr lang="en-US" sz="2800" dirty="0"/>
          </a:p>
        </p:txBody>
      </p:sp>
      <p:sp>
        <p:nvSpPr>
          <p:cNvPr id="14" name="Text 9"/>
          <p:cNvSpPr txBox="1"/>
          <p:nvPr/>
        </p:nvSpPr>
        <p:spPr>
          <a:xfrm>
            <a:off x="8477402" y="6096305"/>
            <a:ext cx="2486254" cy="200254"/>
          </a:xfrm>
          <a:prstGeom prst="rect">
            <a:avLst/>
          </a:prstGeom>
          <a:noFill/>
          <a:ln/>
        </p:spPr>
        <p:txBody>
          <a:bodyPr wrap="none" lIns="0" tIns="0" rIns="0" bIns="0" rtlCol="0" anchor="ctr"/>
          <a:lstStyle/>
          <a:p>
            <a:pPr algn="l" indent="0" marL="0">
              <a:buNone/>
            </a:pPr>
            <a:r>
              <a:rPr lang="en-US" sz="900" b="1" spc="98" kern="0" dirty="0">
                <a:solidFill>
                  <a:srgbClr val="1F2A44"/>
                </a:solidFill>
                <a:latin typeface="IBM Plex Mono" pitchFamily="34" charset="0"/>
                <a:ea typeface="IBM Plex Mono" pitchFamily="34" charset="-122"/>
                <a:cs typeface="IBM Plex Mono" pitchFamily="34" charset="-120"/>
              </a:rPr>
              <a:t>01 / SYSTEMATIC</a:t>
            </a:r>
            <a:endParaRPr lang="en-US" sz="900" dirty="0"/>
          </a:p>
        </p:txBody>
      </p:sp>
      <p:sp>
        <p:nvSpPr>
          <p:cNvPr id="15" name="Text 10"/>
          <p:cNvSpPr txBox="1"/>
          <p:nvPr/>
        </p:nvSpPr>
        <p:spPr>
          <a:xfrm>
            <a:off x="8477402" y="6388913"/>
            <a:ext cx="2486254" cy="247802"/>
          </a:xfrm>
          <a:prstGeom prst="rect">
            <a:avLst/>
          </a:prstGeom>
          <a:noFill/>
          <a:ln/>
        </p:spPr>
        <p:txBody>
          <a:bodyPr wrap="none" lIns="0" tIns="0" rIns="0" bIns="0" rtlCol="0" anchor="ctr"/>
          <a:lstStyle/>
          <a:p>
            <a:pPr algn="l" indent="0" marL="0">
              <a:buNone/>
            </a:pPr>
            <a:r>
              <a:rPr lang="en-US" sz="1200" b="1" dirty="0">
                <a:solidFill>
                  <a:srgbClr val="1B1B1B"/>
                </a:solidFill>
                <a:latin typeface="Noto Sans JP" pitchFamily="34" charset="0"/>
                <a:ea typeface="Noto Sans JP" pitchFamily="34" charset="-122"/>
                <a:cs typeface="Noto Sans JP" pitchFamily="34" charset="-120"/>
              </a:rPr>
              <a:t>MBA基準の5大カテゴリ</a:t>
            </a:r>
            <a:endParaRPr lang="en-US" sz="1200" dirty="0"/>
          </a:p>
        </p:txBody>
      </p:sp>
      <p:sp>
        <p:nvSpPr>
          <p:cNvPr id="16" name="Text 11"/>
          <p:cNvSpPr txBox="1"/>
          <p:nvPr/>
        </p:nvSpPr>
        <p:spPr>
          <a:xfrm>
            <a:off x="8477402" y="6690665"/>
            <a:ext cx="2486254" cy="400507"/>
          </a:xfrm>
          <a:prstGeom prst="rect">
            <a:avLst/>
          </a:prstGeom>
          <a:noFill/>
          <a:ln/>
        </p:spPr>
        <p:txBody>
          <a:bodyPr wrap="square" lIns="0" tIns="0" rIns="0" bIns="0" rtlCol="0" anchor="ctr"/>
          <a:lstStyle/>
          <a:p>
            <a:pPr algn="l" indent="0" marL="0">
              <a:buNone/>
            </a:pPr>
            <a:r>
              <a:rPr lang="en-US" sz="900" dirty="0">
                <a:solidFill>
                  <a:srgbClr val="5A6271"/>
                </a:solidFill>
                <a:latin typeface="Noto Sans JP" pitchFamily="34" charset="0"/>
                <a:ea typeface="Noto Sans JP" pitchFamily="34" charset="-122"/>
                <a:cs typeface="Noto Sans JP" pitchFamily="34" charset="-120"/>
              </a:rPr>
              <a:t>基本情報、ビジネスシステム、職種、キャリア、未来像の22の問い。</a:t>
            </a:r>
            <a:endParaRPr lang="en-US" sz="900" dirty="0"/>
          </a:p>
        </p:txBody>
      </p:sp>
      <p:sp>
        <p:nvSpPr>
          <p:cNvPr id="17" name="Shape 12"/>
          <p:cNvSpPr/>
          <p:nvPr/>
        </p:nvSpPr>
        <p:spPr>
          <a:xfrm>
            <a:off x="11188598" y="6096305"/>
            <a:ext cx="9144" cy="990295"/>
          </a:xfrm>
          <a:prstGeom prst="rect">
            <a:avLst/>
          </a:prstGeom>
          <a:solidFill>
            <a:srgbClr val="E5E7EB"/>
          </a:solidFill>
          <a:ln w="12700">
            <a:solidFill>
              <a:srgbClr val="E5E7EB">
                <a:alpha val="0"/>
              </a:srgbClr>
            </a:solidFill>
            <a:prstDash val="solid"/>
          </a:ln>
        </p:spPr>
      </p:sp>
      <p:sp>
        <p:nvSpPr>
          <p:cNvPr id="18" name="Text 13"/>
          <p:cNvSpPr txBox="1"/>
          <p:nvPr/>
        </p:nvSpPr>
        <p:spPr>
          <a:xfrm>
            <a:off x="11426342" y="6096305"/>
            <a:ext cx="2486254" cy="200254"/>
          </a:xfrm>
          <a:prstGeom prst="rect">
            <a:avLst/>
          </a:prstGeom>
          <a:noFill/>
          <a:ln/>
        </p:spPr>
        <p:txBody>
          <a:bodyPr wrap="none" lIns="0" tIns="0" rIns="0" bIns="0" rtlCol="0" anchor="ctr"/>
          <a:lstStyle/>
          <a:p>
            <a:pPr algn="l" indent="0" marL="0">
              <a:buNone/>
            </a:pPr>
            <a:r>
              <a:rPr lang="en-US" sz="900" b="1" spc="98" kern="0" dirty="0">
                <a:solidFill>
                  <a:srgbClr val="1F2A44"/>
                </a:solidFill>
                <a:latin typeface="IBM Plex Mono" pitchFamily="34" charset="0"/>
                <a:ea typeface="IBM Plex Mono" pitchFamily="34" charset="-122"/>
                <a:cs typeface="IBM Plex Mono" pitchFamily="34" charset="-120"/>
              </a:rPr>
              <a:t>02 / EXPERIENCE</a:t>
            </a:r>
            <a:endParaRPr lang="en-US" sz="900" dirty="0"/>
          </a:p>
        </p:txBody>
      </p:sp>
      <p:sp>
        <p:nvSpPr>
          <p:cNvPr id="19" name="Text 14"/>
          <p:cNvSpPr txBox="1"/>
          <p:nvPr/>
        </p:nvSpPr>
        <p:spPr>
          <a:xfrm>
            <a:off x="11426342" y="6388913"/>
            <a:ext cx="2486254" cy="247802"/>
          </a:xfrm>
          <a:prstGeom prst="rect">
            <a:avLst/>
          </a:prstGeom>
          <a:noFill/>
          <a:ln/>
        </p:spPr>
        <p:txBody>
          <a:bodyPr wrap="none" lIns="0" tIns="0" rIns="0" bIns="0" rtlCol="0" anchor="ctr"/>
          <a:lstStyle/>
          <a:p>
            <a:pPr algn="l" indent="0" marL="0">
              <a:buNone/>
            </a:pPr>
            <a:r>
              <a:rPr lang="en-US" sz="1200" b="1" dirty="0">
                <a:solidFill>
                  <a:srgbClr val="1B1B1B"/>
                </a:solidFill>
                <a:latin typeface="Noto Sans JP" pitchFamily="34" charset="0"/>
                <a:ea typeface="Noto Sans JP" pitchFamily="34" charset="-122"/>
                <a:cs typeface="Noto Sans JP" pitchFamily="34" charset="-120"/>
              </a:rPr>
              <a:t>Live XP進捗管理</a:t>
            </a:r>
            <a:endParaRPr lang="en-US" sz="1200" dirty="0"/>
          </a:p>
        </p:txBody>
      </p:sp>
      <p:sp>
        <p:nvSpPr>
          <p:cNvPr id="20" name="Text 15"/>
          <p:cNvSpPr txBox="1"/>
          <p:nvPr/>
        </p:nvSpPr>
        <p:spPr>
          <a:xfrm>
            <a:off x="11426342" y="6690665"/>
            <a:ext cx="2486254" cy="400507"/>
          </a:xfrm>
          <a:prstGeom prst="rect">
            <a:avLst/>
          </a:prstGeom>
          <a:noFill/>
          <a:ln/>
        </p:spPr>
        <p:txBody>
          <a:bodyPr wrap="square" lIns="0" tIns="0" rIns="0" bIns="0" rtlCol="0" anchor="ctr"/>
          <a:lstStyle/>
          <a:p>
            <a:pPr algn="l" indent="0" marL="0">
              <a:buNone/>
            </a:pPr>
            <a:r>
              <a:rPr lang="en-US" sz="900" dirty="0">
                <a:solidFill>
                  <a:srgbClr val="5A6271"/>
                </a:solidFill>
                <a:latin typeface="Noto Sans JP" pitchFamily="34" charset="0"/>
                <a:ea typeface="Noto Sans JP" pitchFamily="34" charset="-122"/>
                <a:cs typeface="Noto Sans JP" pitchFamily="34" charset="-120"/>
              </a:rPr>
              <a:t>回答率がゲーミフィケーション要素として機能し、モチベーションを向上。</a:t>
            </a:r>
            <a:endParaRPr lang="en-US" sz="900" dirty="0"/>
          </a:p>
        </p:txBody>
      </p:sp>
      <p:sp>
        <p:nvSpPr>
          <p:cNvPr id="21" name="Shape 16"/>
          <p:cNvSpPr/>
          <p:nvPr/>
        </p:nvSpPr>
        <p:spPr>
          <a:xfrm>
            <a:off x="14138453" y="6096305"/>
            <a:ext cx="9144" cy="990295"/>
          </a:xfrm>
          <a:prstGeom prst="rect">
            <a:avLst/>
          </a:prstGeom>
          <a:solidFill>
            <a:srgbClr val="E5E7EB"/>
          </a:solidFill>
          <a:ln w="12700">
            <a:solidFill>
              <a:srgbClr val="E5E7EB">
                <a:alpha val="0"/>
              </a:srgbClr>
            </a:solidFill>
            <a:prstDash val="solid"/>
          </a:ln>
        </p:spPr>
      </p:sp>
      <p:sp>
        <p:nvSpPr>
          <p:cNvPr id="22" name="Text 17"/>
          <p:cNvSpPr txBox="1"/>
          <p:nvPr/>
        </p:nvSpPr>
        <p:spPr>
          <a:xfrm>
            <a:off x="14376197" y="6096305"/>
            <a:ext cx="2486254" cy="200254"/>
          </a:xfrm>
          <a:prstGeom prst="rect">
            <a:avLst/>
          </a:prstGeom>
          <a:noFill/>
          <a:ln/>
        </p:spPr>
        <p:txBody>
          <a:bodyPr wrap="none" lIns="0" tIns="0" rIns="0" bIns="0" rtlCol="0" anchor="ctr"/>
          <a:lstStyle/>
          <a:p>
            <a:pPr algn="l" indent="0" marL="0">
              <a:buNone/>
            </a:pPr>
            <a:r>
              <a:rPr lang="en-US" sz="900" b="1" spc="98" kern="0" dirty="0">
                <a:solidFill>
                  <a:srgbClr val="1F2A44"/>
                </a:solidFill>
                <a:latin typeface="IBM Plex Mono" pitchFamily="34" charset="0"/>
                <a:ea typeface="IBM Plex Mono" pitchFamily="34" charset="-122"/>
                <a:cs typeface="IBM Plex Mono" pitchFamily="34" charset="-120"/>
              </a:rPr>
              <a:t>03 / HYBRID MODE</a:t>
            </a:r>
            <a:endParaRPr lang="en-US" sz="900" dirty="0"/>
          </a:p>
        </p:txBody>
      </p:sp>
      <p:sp>
        <p:nvSpPr>
          <p:cNvPr id="23" name="Text 18"/>
          <p:cNvSpPr txBox="1"/>
          <p:nvPr/>
        </p:nvSpPr>
        <p:spPr>
          <a:xfrm>
            <a:off x="14376197" y="6388913"/>
            <a:ext cx="2486254" cy="247802"/>
          </a:xfrm>
          <a:prstGeom prst="rect">
            <a:avLst/>
          </a:prstGeom>
          <a:noFill/>
          <a:ln/>
        </p:spPr>
        <p:txBody>
          <a:bodyPr wrap="none" lIns="0" tIns="0" rIns="0" bIns="0" rtlCol="0" anchor="ctr"/>
          <a:lstStyle/>
          <a:p>
            <a:pPr algn="l" indent="0" marL="0">
              <a:buNone/>
            </a:pPr>
            <a:r>
              <a:rPr lang="en-US" sz="1200" b="1" dirty="0">
                <a:solidFill>
                  <a:srgbClr val="1B1B1B"/>
                </a:solidFill>
                <a:latin typeface="Noto Sans JP" pitchFamily="34" charset="0"/>
                <a:ea typeface="Noto Sans JP" pitchFamily="34" charset="-122"/>
                <a:cs typeface="Noto Sans JP" pitchFamily="34" charset="-120"/>
              </a:rPr>
              <a:t>A4印刷＆デジタル整理</a:t>
            </a:r>
            <a:endParaRPr lang="en-US" sz="1200" dirty="0"/>
          </a:p>
        </p:txBody>
      </p:sp>
      <p:sp>
        <p:nvSpPr>
          <p:cNvPr id="24" name="Text 19"/>
          <p:cNvSpPr txBox="1"/>
          <p:nvPr/>
        </p:nvSpPr>
        <p:spPr>
          <a:xfrm>
            <a:off x="14376197" y="6690665"/>
            <a:ext cx="2486254" cy="400507"/>
          </a:xfrm>
          <a:prstGeom prst="rect">
            <a:avLst/>
          </a:prstGeom>
          <a:noFill/>
          <a:ln/>
        </p:spPr>
        <p:txBody>
          <a:bodyPr wrap="square" lIns="0" tIns="0" rIns="0" bIns="0" rtlCol="0" anchor="ctr"/>
          <a:lstStyle/>
          <a:p>
            <a:pPr algn="l" indent="0" marL="0">
              <a:buNone/>
            </a:pPr>
            <a:r>
              <a:rPr lang="en-US" sz="900" dirty="0">
                <a:solidFill>
                  <a:srgbClr val="5A6271"/>
                </a:solidFill>
                <a:latin typeface="Noto Sans JP" pitchFamily="34" charset="0"/>
                <a:ea typeface="Noto Sans JP" pitchFamily="34" charset="-122"/>
                <a:cs typeface="Noto Sans JP" pitchFamily="34" charset="-120"/>
              </a:rPr>
              <a:t>手書き用の白紙印刷出力と、PC入力＆整理機能をシームレスに両立。</a:t>
            </a:r>
            <a:endParaRPr lang="en-US" sz="900" dirty="0"/>
          </a:p>
        </p:txBody>
      </p:sp>
      <p:sp>
        <p:nvSpPr>
          <p:cNvPr id="25" name="Text 20"/>
          <p:cNvSpPr txBox="1"/>
          <p:nvPr/>
        </p:nvSpPr>
        <p:spPr>
          <a:xfrm>
            <a:off x="8477402" y="9620402"/>
            <a:ext cx="8382305" cy="133502"/>
          </a:xfrm>
          <a:prstGeom prst="rect">
            <a:avLst/>
          </a:prstGeom>
          <a:noFill/>
          <a:ln/>
        </p:spPr>
        <p:txBody>
          <a:bodyPr wrap="none" lIns="0" tIns="0" rIns="0" bIns="0" rtlCol="0" anchor="ctr"/>
          <a:lstStyle/>
          <a:p>
            <a:pPr algn="l" indent="0" marL="0">
              <a:buNone/>
            </a:pPr>
            <a:r>
              <a:rPr lang="en-US" sz="800" spc="99" kern="0" dirty="0">
                <a:solidFill>
                  <a:srgbClr val="A4ABB8"/>
                </a:solidFill>
                <a:latin typeface="IBM Plex Mono" pitchFamily="34" charset="0"/>
                <a:ea typeface="IBM Plex Mono" pitchFamily="34" charset="-122"/>
                <a:cs typeface="IBM Plex Mono" pitchFamily="34" charset="-120"/>
              </a:rPr>
              <a:t>CONFIDENTIAL · FOR CAREER EDUCATION &amp; EXPLORATION · DO NOT DISTRIBUTE</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A"/>
        </a:solidFill>
      </p:bgPr>
    </p:bg>
    <p:spTree>
      <p:nvGrpSpPr>
        <p:cNvPr id="1" name=""/>
        <p:cNvGrpSpPr/>
        <p:nvPr/>
      </p:nvGrpSpPr>
      <p:grpSpPr>
        <a:xfrm>
          <a:off x="0" y="0"/>
          <a:ext cx="0" cy="0"/>
          <a:chOff x="0" y="0"/>
          <a:chExt cx="0" cy="0"/>
        </a:xfrm>
      </p:grpSpPr>
      <p:pic>
        <p:nvPicPr>
          <p:cNvPr id="2" name="Image 0" descr="gen-dedup-97fba22e14047e916a72d45c364dea0f.png">    </p:cNvPr>
          <p:cNvPicPr>
            <a:picLocks noChangeAspect="1"/>
          </p:cNvPicPr>
          <p:nvPr/>
        </p:nvPicPr>
        <p:blipFill>
          <a:blip r:embed="rId1"/>
          <a:srcRect l="0" r="0" t="-400" b="-400"/>
          <a:stretch/>
        </p:blipFill>
        <p:spPr>
          <a:xfrm>
            <a:off x="857707" y="1571854"/>
            <a:ext cx="16573500" cy="19202"/>
          </a:xfrm>
          <a:prstGeom prst="rect">
            <a:avLst/>
          </a:prstGeom>
        </p:spPr>
      </p:pic>
      <p:pic>
        <p:nvPicPr>
          <p:cNvPr id="3" name="Image 1" descr="gen-dedup-02a52a4d25cff96def8936f80e2a53ad.png">    </p:cNvPr>
          <p:cNvPicPr>
            <a:picLocks noChangeAspect="1"/>
          </p:cNvPicPr>
          <p:nvPr/>
        </p:nvPicPr>
        <p:blipFill>
          <a:blip r:embed="rId2"/>
          <a:srcRect l="-4" r="-4" t="0" b="0"/>
          <a:stretch/>
        </p:blipFill>
        <p:spPr>
          <a:xfrm>
            <a:off x="857707" y="2095805"/>
            <a:ext cx="7830007" cy="6495898"/>
          </a:xfrm>
          <a:prstGeom prst="rect">
            <a:avLst/>
          </a:prstGeom>
        </p:spPr>
      </p:pic>
      <p:pic>
        <p:nvPicPr>
          <p:cNvPr id="4" name="Image 2" descr="gen-dedup-ca58d04d4a01a154e9929a97613be57f.png">    </p:cNvPr>
          <p:cNvPicPr>
            <a:picLocks noChangeAspect="1"/>
          </p:cNvPicPr>
          <p:nvPr/>
        </p:nvPicPr>
        <p:blipFill>
          <a:blip r:embed="rId3"/>
          <a:srcRect l="-4" r="-4" t="0" b="0"/>
          <a:stretch/>
        </p:blipFill>
        <p:spPr>
          <a:xfrm>
            <a:off x="9620402" y="2095805"/>
            <a:ext cx="7810805" cy="6476695"/>
          </a:xfrm>
          <a:prstGeom prst="rect">
            <a:avLst/>
          </a:prstGeom>
        </p:spPr>
      </p:pic>
      <p:sp>
        <p:nvSpPr>
          <p:cNvPr id="5" name="Text 0"/>
          <p:cNvSpPr txBox="1"/>
          <p:nvPr/>
        </p:nvSpPr>
        <p:spPr>
          <a:xfrm>
            <a:off x="857707" y="571500"/>
            <a:ext cx="16573500" cy="171907"/>
          </a:xfrm>
          <a:prstGeom prst="rect">
            <a:avLst/>
          </a:prstGeom>
          <a:noFill/>
          <a:ln/>
        </p:spPr>
        <p:txBody>
          <a:bodyPr wrap="none" lIns="0" tIns="0" rIns="0" bIns="0" rtlCol="0" anchor="ctr"/>
          <a:lstStyle/>
          <a:p>
            <a:pPr algn="l" indent="0" marL="0">
              <a:buNone/>
            </a:pPr>
            <a:r>
              <a:rPr lang="en-US" sz="1000" spc="210" kern="0" dirty="0">
                <a:solidFill>
                  <a:srgbClr val="B68C2E"/>
                </a:solidFill>
                <a:latin typeface="IBM Plex Mono" pitchFamily="34" charset="0"/>
                <a:ea typeface="IBM Plex Mono" pitchFamily="34" charset="-122"/>
                <a:cs typeface="IBM Plex Mono" pitchFamily="34" charset="-120"/>
              </a:rPr>
              <a:t>EXECUTIVE SUMMARY // THE GOVERNING THOUGHT</a:t>
            </a:r>
            <a:endParaRPr lang="en-US" sz="1000" dirty="0"/>
          </a:p>
        </p:txBody>
      </p:sp>
      <p:sp>
        <p:nvSpPr>
          <p:cNvPr id="6" name="Text 1"/>
          <p:cNvSpPr txBox="1"/>
          <p:nvPr/>
        </p:nvSpPr>
        <p:spPr>
          <a:xfrm>
            <a:off x="857707" y="905256"/>
            <a:ext cx="16573500" cy="571500"/>
          </a:xfrm>
          <a:prstGeom prst="rect">
            <a:avLst/>
          </a:prstGeom>
          <a:noFill/>
          <a:ln/>
        </p:spPr>
        <p:txBody>
          <a:bodyPr wrap="none" lIns="0" tIns="0" rIns="0" bIns="0" rtlCol="0" anchor="ctr"/>
          <a:lstStyle/>
          <a:p>
            <a:pPr algn="l" indent="0" marL="0">
              <a:buNone/>
            </a:pPr>
            <a:r>
              <a:rPr lang="en-US" sz="3100" b="1" dirty="0">
                <a:solidFill>
                  <a:srgbClr val="1F2A44"/>
                </a:solidFill>
                <a:latin typeface="Noto Serif JP" pitchFamily="34" charset="0"/>
                <a:ea typeface="Noto Serif JP" pitchFamily="34" charset="-122"/>
                <a:cs typeface="Noto Serif JP" pitchFamily="34" charset="-120"/>
              </a:rPr>
              <a:t>なぜ「思い出」から「探究」への進化が必要なのか</a:t>
            </a:r>
            <a:endParaRPr lang="en-US" sz="3100" dirty="0"/>
          </a:p>
        </p:txBody>
      </p:sp>
      <p:sp>
        <p:nvSpPr>
          <p:cNvPr id="7" name="Text 2"/>
          <p:cNvSpPr txBox="1"/>
          <p:nvPr/>
        </p:nvSpPr>
        <p:spPr>
          <a:xfrm>
            <a:off x="1238098" y="2476195"/>
            <a:ext cx="7049110" cy="200254"/>
          </a:xfrm>
          <a:prstGeom prst="rect">
            <a:avLst/>
          </a:prstGeom>
          <a:noFill/>
          <a:ln/>
        </p:spPr>
        <p:txBody>
          <a:bodyPr wrap="none" lIns="0" tIns="0" rIns="0" bIns="0" rtlCol="0" anchor="ctr"/>
          <a:lstStyle/>
          <a:p>
            <a:pPr algn="l" indent="0" marL="0">
              <a:buNone/>
            </a:pPr>
            <a:r>
              <a:rPr lang="en-US" sz="1100" b="1" spc="113" kern="0" dirty="0">
                <a:solidFill>
                  <a:srgbClr val="B68C2E"/>
                </a:solidFill>
                <a:latin typeface="Noto Sans JP" pitchFamily="34" charset="0"/>
                <a:ea typeface="Noto Sans JP" pitchFamily="34" charset="-122"/>
                <a:cs typeface="Noto Sans JP" pitchFamily="34" charset="-120"/>
              </a:rPr>
              <a:t>CURRENT ISSUES — 従来の体験学習の限界</a:t>
            </a:r>
            <a:endParaRPr lang="en-US" sz="1100" dirty="0"/>
          </a:p>
        </p:txBody>
      </p:sp>
      <p:sp>
        <p:nvSpPr>
          <p:cNvPr id="8" name="Text 3"/>
          <p:cNvSpPr txBox="1"/>
          <p:nvPr/>
        </p:nvSpPr>
        <p:spPr>
          <a:xfrm>
            <a:off x="1238098" y="2922422"/>
            <a:ext cx="7049110" cy="887882"/>
          </a:xfrm>
          <a:prstGeom prst="rect">
            <a:avLst/>
          </a:prstGeom>
          <a:noFill/>
          <a:ln/>
        </p:spPr>
        <p:txBody>
          <a:bodyPr wrap="square" lIns="0" tIns="0" rIns="0" bIns="0" rtlCol="0" anchor="t"/>
          <a:lstStyle/>
          <a:p>
            <a:pPr algn="l" indent="0" marL="0">
              <a:lnSpc>
                <a:spcPts val="3360"/>
              </a:lnSpc>
              <a:buNone/>
            </a:pPr>
            <a:r>
              <a:rPr lang="en-US" sz="2400" b="1" dirty="0">
                <a:solidFill>
                  <a:srgbClr val="1F2A44"/>
                </a:solidFill>
                <a:latin typeface="Noto Serif JP" pitchFamily="34" charset="0"/>
                <a:ea typeface="Noto Serif JP" pitchFamily="34" charset="-122"/>
                <a:cs typeface="Noto Serif JP" pitchFamily="34" charset="-120"/>
              </a:rPr>
              <a:t>「楽しかった」で思考停止する、</a:t>
            </a:r>
            <a:pPr algn="l" indent="0" marL="0">
              <a:lnSpc>
                <a:spcPts val="3360"/>
              </a:lnSpc>
              <a:buNone/>
            </a:pPr>
            <a:endParaRPr lang="en-US" sz="2400" dirty="0"/>
          </a:p>
          <a:p>
            <a:pPr algn="l" indent="0" marL="0">
              <a:lnSpc>
                <a:spcPts val="3360"/>
              </a:lnSpc>
              <a:buNone/>
            </a:pPr>
            <a:r>
              <a:rPr lang="en-US" sz="2400" b="1" dirty="0">
                <a:solidFill>
                  <a:srgbClr val="1F2A44"/>
                </a:solidFill>
                <a:latin typeface="Noto Serif JP" pitchFamily="34" charset="0"/>
                <a:ea typeface="Noto Serif JP" pitchFamily="34" charset="-122"/>
                <a:cs typeface="Noto Serif JP" pitchFamily="34" charset="-120"/>
              </a:rPr>
              <a:t>羅列型の作文ワークシート</a:t>
            </a:r>
            <a:endParaRPr lang="en-US" sz="2400" dirty="0"/>
          </a:p>
        </p:txBody>
      </p:sp>
      <p:sp>
        <p:nvSpPr>
          <p:cNvPr id="9" name="Text 4"/>
          <p:cNvSpPr txBox="1"/>
          <p:nvPr/>
        </p:nvSpPr>
        <p:spPr>
          <a:xfrm>
            <a:off x="1238098" y="4218127"/>
            <a:ext cx="7049110" cy="1783080"/>
          </a:xfrm>
          <a:prstGeom prst="rect">
            <a:avLst/>
          </a:prstGeom>
          <a:noFill/>
          <a:ln/>
        </p:spPr>
        <p:txBody>
          <a:bodyPr wrap="square" lIns="0" tIns="0" rIns="0" bIns="0" rtlCol="0" anchor="t"/>
          <a:lstStyle/>
          <a:p>
            <a:pPr algn="l" indent="0" marL="0">
              <a:lnSpc>
                <a:spcPts val="2700"/>
              </a:lnSpc>
              <a:buNone/>
            </a:pPr>
            <a:r>
              <a:rPr lang="en-US" sz="1300" dirty="0">
                <a:solidFill>
                  <a:srgbClr val="5A6271"/>
                </a:solidFill>
                <a:latin typeface="Noto Sans JP" pitchFamily="34" charset="0"/>
                <a:ea typeface="Noto Sans JP" pitchFamily="34" charset="-122"/>
                <a:cs typeface="Noto Sans JP" pitchFamily="34" charset="-120"/>
              </a:rPr>
              <a:t>従来のインターンシップ報告シートは、時系列で「行ったこと」を記録するものが多く、ビジネスモデル（仕組み）やプロの創意工夫、チームの連携構造にまで踏み込んだ考察に至りませんでした。</a:t>
            </a:r>
            <a:pPr algn="l" indent="0" marL="0">
              <a:lnSpc>
                <a:spcPts val="2700"/>
              </a:lnSpc>
              <a:buNone/>
            </a:pPr>
            <a:endParaRPr lang="en-US" sz="1300" dirty="0"/>
          </a:p>
          <a:p>
            <a:pPr algn="l" indent="0" marL="0">
              <a:lnSpc>
                <a:spcPts val="2700"/>
              </a:lnSpc>
              <a:buNone/>
            </a:pPr>
            <a:r>
              <a:rPr lang="en-US" sz="1300" dirty="0">
                <a:solidFill>
                  <a:srgbClr val="5A6271"/>
                </a:solidFill>
                <a:latin typeface="Noto Sans JP" pitchFamily="34" charset="0"/>
                <a:ea typeface="Noto Sans JP" pitchFamily="34" charset="-122"/>
                <a:cs typeface="Noto Sans JP" pitchFamily="34" charset="-120"/>
              </a:rPr>
              <a:t>結果として、発表会では「レジを体験して楽しかったです」といった表面的な感想に留まり、生徒のキャリア形成や論理的思考を育む「探究学習」の目的が果たしきれていません。</a:t>
            </a:r>
            <a:endParaRPr lang="en-US" sz="1300" dirty="0"/>
          </a:p>
        </p:txBody>
      </p:sp>
      <p:sp>
        <p:nvSpPr>
          <p:cNvPr id="10" name="Text 5"/>
          <p:cNvSpPr txBox="1"/>
          <p:nvPr/>
        </p:nvSpPr>
        <p:spPr>
          <a:xfrm>
            <a:off x="10001707" y="2476195"/>
            <a:ext cx="7049110" cy="200254"/>
          </a:xfrm>
          <a:prstGeom prst="rect">
            <a:avLst/>
          </a:prstGeom>
          <a:noFill/>
          <a:ln/>
        </p:spPr>
        <p:txBody>
          <a:bodyPr wrap="none" lIns="0" tIns="0" rIns="0" bIns="0" rtlCol="0" anchor="ctr"/>
          <a:lstStyle/>
          <a:p>
            <a:pPr algn="l" indent="0" marL="0">
              <a:buNone/>
            </a:pPr>
            <a:r>
              <a:rPr lang="en-US" sz="1100" b="1" spc="113" kern="0" dirty="0">
                <a:solidFill>
                  <a:srgbClr val="B68C2E"/>
                </a:solidFill>
                <a:latin typeface="Noto Sans JP" pitchFamily="34" charset="0"/>
                <a:ea typeface="Noto Sans JP" pitchFamily="34" charset="-122"/>
                <a:cs typeface="Noto Sans JP" pitchFamily="34" charset="-120"/>
              </a:rPr>
              <a:t>OUR VALUE PROPOSITION — 本アプリによる「解剖」アプローチ</a:t>
            </a:r>
            <a:endParaRPr lang="en-US" sz="1100" dirty="0"/>
          </a:p>
        </p:txBody>
      </p:sp>
      <p:sp>
        <p:nvSpPr>
          <p:cNvPr id="11" name="Text 6"/>
          <p:cNvSpPr txBox="1"/>
          <p:nvPr/>
        </p:nvSpPr>
        <p:spPr>
          <a:xfrm>
            <a:off x="10001707" y="2922422"/>
            <a:ext cx="7049110" cy="887882"/>
          </a:xfrm>
          <a:prstGeom prst="rect">
            <a:avLst/>
          </a:prstGeom>
          <a:noFill/>
          <a:ln/>
        </p:spPr>
        <p:txBody>
          <a:bodyPr wrap="square" lIns="0" tIns="0" rIns="0" bIns="0" rtlCol="0" anchor="t"/>
          <a:lstStyle/>
          <a:p>
            <a:pPr algn="l" indent="0" marL="0">
              <a:lnSpc>
                <a:spcPts val="3360"/>
              </a:lnSpc>
              <a:buNone/>
            </a:pPr>
            <a:r>
              <a:rPr lang="en-US" sz="2400" b="1" dirty="0">
                <a:solidFill>
                  <a:srgbClr val="FFFFFF"/>
                </a:solidFill>
                <a:latin typeface="Noto Serif JP" pitchFamily="34" charset="0"/>
                <a:ea typeface="Noto Serif JP" pitchFamily="34" charset="-122"/>
                <a:cs typeface="Noto Serif JP" pitchFamily="34" charset="-120"/>
              </a:rPr>
              <a:t>ビジネスをシステムとして分析し、</a:t>
            </a:r>
            <a:pPr algn="l" indent="0" marL="0">
              <a:lnSpc>
                <a:spcPts val="3360"/>
              </a:lnSpc>
              <a:buNone/>
            </a:pPr>
            <a:endParaRPr lang="en-US" sz="2400" dirty="0"/>
          </a:p>
          <a:p>
            <a:pPr algn="l" indent="0" marL="0">
              <a:lnSpc>
                <a:spcPts val="3360"/>
              </a:lnSpc>
              <a:buNone/>
            </a:pPr>
            <a:r>
              <a:rPr lang="en-US" sz="2400" b="1" dirty="0">
                <a:solidFill>
                  <a:srgbClr val="FFFFFF"/>
                </a:solidFill>
                <a:latin typeface="Noto Serif JP" pitchFamily="34" charset="0"/>
                <a:ea typeface="Noto Serif JP" pitchFamily="34" charset="-122"/>
                <a:cs typeface="Noto Serif JP" pitchFamily="34" charset="-120"/>
              </a:rPr>
              <a:t>自分の行動と言葉をアップデートする</a:t>
            </a:r>
            <a:endParaRPr lang="en-US" sz="2400" dirty="0"/>
          </a:p>
        </p:txBody>
      </p:sp>
      <p:sp>
        <p:nvSpPr>
          <p:cNvPr id="12" name="Text 7"/>
          <p:cNvSpPr txBox="1"/>
          <p:nvPr/>
        </p:nvSpPr>
        <p:spPr>
          <a:xfrm>
            <a:off x="10001707" y="4218127"/>
            <a:ext cx="7049110" cy="1783080"/>
          </a:xfrm>
          <a:prstGeom prst="rect">
            <a:avLst/>
          </a:prstGeom>
          <a:noFill/>
          <a:ln/>
        </p:spPr>
        <p:txBody>
          <a:bodyPr wrap="square" lIns="0" tIns="0" rIns="0" bIns="0" rtlCol="0" anchor="t"/>
          <a:lstStyle/>
          <a:p>
            <a:pPr algn="l" indent="0" marL="0">
              <a:lnSpc>
                <a:spcPts val="2700"/>
              </a:lnSpc>
              <a:buNone/>
            </a:pPr>
            <a:r>
              <a:rPr lang="en-US" sz="1300" dirty="0">
                <a:solidFill>
                  <a:srgbClr val="E5E7EB"/>
                </a:solidFill>
                <a:latin typeface="Noto Sans JP" pitchFamily="34" charset="0"/>
                <a:ea typeface="Noto Sans JP" pitchFamily="34" charset="-122"/>
                <a:cs typeface="Noto Sans JP" pitchFamily="34" charset="-120"/>
              </a:rPr>
              <a:t>本アプリは、単なるメモ帳ではなく、ビジネスモデルを「Input ➔ Process ➔ Output」のシステムとして分析するフレームワークを提供します。</a:t>
            </a:r>
            <a:pPr algn="l" indent="0" marL="0">
              <a:lnSpc>
                <a:spcPts val="2700"/>
              </a:lnSpc>
              <a:buNone/>
            </a:pPr>
            <a:endParaRPr lang="en-US" sz="1300" dirty="0"/>
          </a:p>
          <a:p>
            <a:pPr algn="l" indent="0" marL="0">
              <a:lnSpc>
                <a:spcPts val="2700"/>
              </a:lnSpc>
              <a:buNone/>
            </a:pPr>
            <a:r>
              <a:rPr lang="en-US" sz="1300" dirty="0">
                <a:solidFill>
                  <a:srgbClr val="E5E7EB"/>
                </a:solidFill>
                <a:latin typeface="Noto Sans JP" pitchFamily="34" charset="0"/>
                <a:ea typeface="Noto Sans JP" pitchFamily="34" charset="-122"/>
                <a:cs typeface="Noto Sans JP" pitchFamily="34" charset="-120"/>
              </a:rPr>
              <a:t>プロが何にこだわり、どんなチームのバトンリレーをしているか（職種連携）、更には10年後の未来予測や新事業提案までを段階的にガイド。生徒自身が「プロの視点」をインストールするための科学的な探究アプローチを実現します。</a:t>
            </a:r>
            <a:endParaRPr lang="en-US" sz="1300" dirty="0"/>
          </a:p>
        </p:txBody>
      </p:sp>
      <p:sp>
        <p:nvSpPr>
          <p:cNvPr id="13" name="Text 8"/>
          <p:cNvSpPr txBox="1"/>
          <p:nvPr/>
        </p:nvSpPr>
        <p:spPr>
          <a:xfrm>
            <a:off x="857707" y="9620402"/>
            <a:ext cx="16573500" cy="133502"/>
          </a:xfrm>
          <a:prstGeom prst="rect">
            <a:avLst/>
          </a:prstGeom>
          <a:noFill/>
          <a:ln/>
        </p:spPr>
        <p:txBody>
          <a:bodyPr wrap="none" lIns="0" tIns="0" rIns="0" bIns="0" rtlCol="0" anchor="ctr"/>
          <a:lstStyle/>
          <a:p>
            <a:pPr algn="r" indent="0" marL="0">
              <a:buNone/>
            </a:pPr>
            <a:r>
              <a:rPr lang="en-US" sz="800" spc="99" kern="0" dirty="0">
                <a:solidFill>
                  <a:srgbClr val="A4ABB8"/>
                </a:solidFill>
                <a:latin typeface="IBM Plex Mono" pitchFamily="34" charset="0"/>
                <a:ea typeface="IBM Plex Mono" pitchFamily="34" charset="-122"/>
                <a:cs typeface="IBM Plex Mono" pitchFamily="34" charset="-120"/>
              </a:rPr>
              <a:t>CONFIDENTIAL · INTERNSHIP DISSECTION BRIEF · PAGE 02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gen-dedup-97fba22e14047e916a72d45c364dea0f.png">    </p:cNvPr>
          <p:cNvPicPr>
            <a:picLocks noChangeAspect="1"/>
          </p:cNvPicPr>
          <p:nvPr/>
        </p:nvPicPr>
        <p:blipFill>
          <a:blip r:embed="rId1"/>
          <a:srcRect l="0" r="0" t="-400" b="-400"/>
          <a:stretch/>
        </p:blipFill>
        <p:spPr>
          <a:xfrm>
            <a:off x="857707" y="1571854"/>
            <a:ext cx="16573500" cy="19202"/>
          </a:xfrm>
          <a:prstGeom prst="rect">
            <a:avLst/>
          </a:prstGeom>
        </p:spPr>
      </p:pic>
      <p:sp>
        <p:nvSpPr>
          <p:cNvPr id="3" name="Shape 0"/>
          <p:cNvSpPr/>
          <p:nvPr/>
        </p:nvSpPr>
        <p:spPr>
          <a:xfrm>
            <a:off x="6476695" y="2095805"/>
            <a:ext cx="5143500" cy="3047695"/>
          </a:xfrm>
          <a:prstGeom prst="roundRect">
            <a:avLst>
              <a:gd name="adj" fmla="val 1890"/>
            </a:avLst>
          </a:prstGeom>
          <a:solidFill>
            <a:srgbClr val="F4F6FA"/>
          </a:solidFill>
          <a:ln w="12700">
            <a:solidFill>
              <a:srgbClr val="FFFFFF">
                <a:alpha val="0"/>
              </a:srgbClr>
            </a:solidFill>
            <a:prstDash val="solid"/>
          </a:ln>
        </p:spPr>
      </p:sp>
      <p:sp>
        <p:nvSpPr>
          <p:cNvPr id="4" name="Shape 1"/>
          <p:cNvSpPr/>
          <p:nvPr/>
        </p:nvSpPr>
        <p:spPr>
          <a:xfrm>
            <a:off x="12001500" y="2095805"/>
            <a:ext cx="5429707" cy="3047695"/>
          </a:xfrm>
          <a:prstGeom prst="roundRect">
            <a:avLst>
              <a:gd name="adj" fmla="val 1890"/>
            </a:avLst>
          </a:prstGeom>
          <a:solidFill>
            <a:srgbClr val="F4F6FA"/>
          </a:solidFill>
          <a:ln w="12700">
            <a:solidFill>
              <a:srgbClr val="FFFFFF">
                <a:alpha val="0"/>
              </a:srgbClr>
            </a:solidFill>
            <a:prstDash val="solid"/>
          </a:ln>
        </p:spPr>
      </p:sp>
      <p:sp>
        <p:nvSpPr>
          <p:cNvPr id="5" name="Shape 2"/>
          <p:cNvSpPr/>
          <p:nvPr/>
        </p:nvSpPr>
        <p:spPr>
          <a:xfrm>
            <a:off x="6476695" y="5524805"/>
            <a:ext cx="10953598" cy="3047695"/>
          </a:xfrm>
          <a:prstGeom prst="roundRect">
            <a:avLst>
              <a:gd name="adj" fmla="val 1890"/>
            </a:avLst>
          </a:prstGeom>
          <a:solidFill>
            <a:srgbClr val="1F2A44"/>
          </a:solidFill>
          <a:ln w="12700">
            <a:solidFill>
              <a:srgbClr val="FFFFFF">
                <a:alpha val="0"/>
              </a:srgbClr>
            </a:solidFill>
            <a:prstDash val="solid"/>
          </a:ln>
        </p:spPr>
      </p:sp>
      <p:sp>
        <p:nvSpPr>
          <p:cNvPr id="6" name="Text 3"/>
          <p:cNvSpPr txBox="1"/>
          <p:nvPr/>
        </p:nvSpPr>
        <p:spPr>
          <a:xfrm>
            <a:off x="857707" y="571500"/>
            <a:ext cx="16573500" cy="171907"/>
          </a:xfrm>
          <a:prstGeom prst="rect">
            <a:avLst/>
          </a:prstGeom>
          <a:noFill/>
          <a:ln/>
        </p:spPr>
        <p:txBody>
          <a:bodyPr wrap="none" lIns="0" tIns="0" rIns="0" bIns="0" rtlCol="0" anchor="ctr"/>
          <a:lstStyle/>
          <a:p>
            <a:pPr algn="l" indent="0" marL="0">
              <a:buNone/>
            </a:pPr>
            <a:r>
              <a:rPr lang="en-US" sz="1000" spc="210" kern="0" dirty="0">
                <a:solidFill>
                  <a:srgbClr val="B68C2E"/>
                </a:solidFill>
                <a:latin typeface="IBM Plex Mono" pitchFamily="34" charset="0"/>
                <a:ea typeface="IBM Plex Mono" pitchFamily="34" charset="-122"/>
                <a:cs typeface="IBM Plex Mono" pitchFamily="34" charset="-120"/>
              </a:rPr>
              <a:t>CATEGORY 01 // BASIC INFORMATION</a:t>
            </a:r>
            <a:endParaRPr lang="en-US" sz="1000" dirty="0"/>
          </a:p>
        </p:txBody>
      </p:sp>
      <p:sp>
        <p:nvSpPr>
          <p:cNvPr id="7" name="Text 4"/>
          <p:cNvSpPr txBox="1"/>
          <p:nvPr/>
        </p:nvSpPr>
        <p:spPr>
          <a:xfrm>
            <a:off x="857707" y="905256"/>
            <a:ext cx="16573500" cy="571500"/>
          </a:xfrm>
          <a:prstGeom prst="rect">
            <a:avLst/>
          </a:prstGeom>
          <a:noFill/>
          <a:ln/>
        </p:spPr>
        <p:txBody>
          <a:bodyPr wrap="none" lIns="0" tIns="0" rIns="0" bIns="0" rtlCol="0" anchor="ctr"/>
          <a:lstStyle/>
          <a:p>
            <a:pPr algn="l" indent="0" marL="0">
              <a:buNone/>
            </a:pPr>
            <a:r>
              <a:rPr lang="en-US" sz="3100" b="1" dirty="0">
                <a:solidFill>
                  <a:srgbClr val="1F2A44"/>
                </a:solidFill>
                <a:latin typeface="Noto Serif JP" pitchFamily="34" charset="0"/>
                <a:ea typeface="Noto Serif JP" pitchFamily="34" charset="-122"/>
                <a:cs typeface="Noto Serif JP" pitchFamily="34" charset="-120"/>
              </a:rPr>
              <a:t>【基本情報】調査の第一歩としてのファクト・ファインディング</a:t>
            </a:r>
            <a:endParaRPr lang="en-US" sz="3100" dirty="0"/>
          </a:p>
        </p:txBody>
      </p:sp>
      <p:sp>
        <p:nvSpPr>
          <p:cNvPr id="8" name="Text 5"/>
          <p:cNvSpPr txBox="1"/>
          <p:nvPr/>
        </p:nvSpPr>
        <p:spPr>
          <a:xfrm>
            <a:off x="857707" y="2057400"/>
            <a:ext cx="4953305" cy="1810512"/>
          </a:xfrm>
          <a:prstGeom prst="rect">
            <a:avLst/>
          </a:prstGeom>
          <a:noFill/>
          <a:ln/>
        </p:spPr>
        <p:txBody>
          <a:bodyPr wrap="square" lIns="0" tIns="0" rIns="0" bIns="0" rtlCol="0" anchor="t"/>
          <a:lstStyle/>
          <a:p>
            <a:pPr algn="l" indent="0" marL="0">
              <a:lnSpc>
                <a:spcPts val="3480"/>
              </a:lnSpc>
              <a:buNone/>
            </a:pPr>
            <a:r>
              <a:rPr lang="en-US" sz="2400" b="1" dirty="0">
                <a:solidFill>
                  <a:srgbClr val="1F2A44"/>
                </a:solidFill>
                <a:latin typeface="Noto Serif JP" pitchFamily="34" charset="0"/>
                <a:ea typeface="Noto Serif JP" pitchFamily="34" charset="-122"/>
                <a:cs typeface="Noto Serif JP" pitchFamily="34" charset="-120"/>
              </a:rPr>
              <a:t>基礎データを</a:t>
            </a:r>
            <a:pPr algn="l" indent="0" marL="0">
              <a:lnSpc>
                <a:spcPts val="3480"/>
              </a:lnSpc>
              <a:buNone/>
            </a:pPr>
            <a:endParaRPr lang="en-US" sz="2400" dirty="0"/>
          </a:p>
          <a:p>
            <a:pPr algn="l" indent="0" marL="0">
              <a:lnSpc>
                <a:spcPts val="3480"/>
              </a:lnSpc>
              <a:buNone/>
            </a:pPr>
            <a:r>
              <a:rPr lang="en-US" sz="2400" b="1" dirty="0">
                <a:solidFill>
                  <a:srgbClr val="1F2A44"/>
                </a:solidFill>
                <a:latin typeface="Noto Serif JP" pitchFamily="34" charset="0"/>
                <a:ea typeface="Noto Serif JP" pitchFamily="34" charset="-122"/>
                <a:cs typeface="Noto Serif JP" pitchFamily="34" charset="-120"/>
              </a:rPr>
              <a:t>あやふやにせず、</a:t>
            </a:r>
            <a:pPr algn="l" indent="0" marL="0">
              <a:lnSpc>
                <a:spcPts val="3480"/>
              </a:lnSpc>
              <a:buNone/>
            </a:pPr>
            <a:endParaRPr lang="en-US" sz="2400" dirty="0"/>
          </a:p>
          <a:p>
            <a:pPr algn="l" indent="0" marL="0">
              <a:lnSpc>
                <a:spcPts val="3480"/>
              </a:lnSpc>
              <a:buNone/>
            </a:pPr>
            <a:r>
              <a:rPr lang="en-US" sz="2400" b="1" dirty="0">
                <a:solidFill>
                  <a:srgbClr val="B68C2E"/>
                </a:solidFill>
                <a:latin typeface="Noto Serif JP" pitchFamily="34" charset="0"/>
                <a:ea typeface="Noto Serif JP" pitchFamily="34" charset="-122"/>
                <a:cs typeface="Noto Serif JP" pitchFamily="34" charset="-120"/>
              </a:rPr>
              <a:t>企業の「輪郭」</a:t>
            </a:r>
            <a:pPr algn="l" indent="0" marL="0">
              <a:lnSpc>
                <a:spcPts val="3480"/>
              </a:lnSpc>
              <a:buNone/>
            </a:pPr>
            <a:r>
              <a:rPr lang="en-US" sz="2400" b="1" dirty="0">
                <a:solidFill>
                  <a:srgbClr val="1F2A44"/>
                </a:solidFill>
                <a:latin typeface="Noto Serif JP" pitchFamily="34" charset="0"/>
                <a:ea typeface="Noto Serif JP" pitchFamily="34" charset="-122"/>
                <a:cs typeface="Noto Serif JP" pitchFamily="34" charset="-120"/>
              </a:rPr>
              <a:t>を</a:t>
            </a:r>
            <a:pPr algn="l" indent="0" marL="0">
              <a:lnSpc>
                <a:spcPts val="3480"/>
              </a:lnSpc>
              <a:buNone/>
            </a:pPr>
            <a:endParaRPr lang="en-US" sz="2400" dirty="0"/>
          </a:p>
          <a:p>
            <a:pPr algn="l" indent="0" marL="0">
              <a:lnSpc>
                <a:spcPts val="3480"/>
              </a:lnSpc>
              <a:buNone/>
            </a:pPr>
            <a:r>
              <a:rPr lang="en-US" sz="2400" b="1" dirty="0">
                <a:solidFill>
                  <a:srgbClr val="1F2A44"/>
                </a:solidFill>
                <a:latin typeface="Noto Serif JP" pitchFamily="34" charset="0"/>
                <a:ea typeface="Noto Serif JP" pitchFamily="34" charset="-122"/>
                <a:cs typeface="Noto Serif JP" pitchFamily="34" charset="-120"/>
              </a:rPr>
              <a:t>正確に捉える</a:t>
            </a:r>
            <a:endParaRPr lang="en-US" sz="2400" dirty="0"/>
          </a:p>
        </p:txBody>
      </p:sp>
      <p:sp>
        <p:nvSpPr>
          <p:cNvPr id="9" name="Text 6"/>
          <p:cNvSpPr txBox="1"/>
          <p:nvPr/>
        </p:nvSpPr>
        <p:spPr>
          <a:xfrm>
            <a:off x="857707" y="4226357"/>
            <a:ext cx="4953305" cy="2022653"/>
          </a:xfrm>
          <a:prstGeom prst="rect">
            <a:avLst/>
          </a:prstGeom>
          <a:noFill/>
          <a:ln/>
        </p:spPr>
        <p:txBody>
          <a:bodyPr wrap="square" lIns="0" tIns="0" rIns="0" bIns="0" rtlCol="0" anchor="t"/>
          <a:lstStyle/>
          <a:p>
            <a:pPr algn="l" indent="0" marL="0">
              <a:lnSpc>
                <a:spcPts val="2565"/>
              </a:lnSpc>
              <a:buNone/>
            </a:pPr>
            <a:r>
              <a:rPr lang="en-US" sz="1300" dirty="0">
                <a:solidFill>
                  <a:srgbClr val="5A6271"/>
                </a:solidFill>
                <a:latin typeface="Noto Sans JP" pitchFamily="34" charset="0"/>
                <a:ea typeface="Noto Sans JP" pitchFamily="34" charset="-122"/>
                <a:cs typeface="Noto Sans JP" pitchFamily="34" charset="-120"/>
              </a:rPr>
              <a:t>探究学習の土台は「正確な事実情報」から始まります。</a:t>
            </a:r>
            <a:pPr algn="l" indent="0" marL="0">
              <a:lnSpc>
                <a:spcPts val="2565"/>
              </a:lnSpc>
              <a:buNone/>
            </a:pPr>
            <a:endParaRPr lang="en-US" sz="1300" dirty="0"/>
          </a:p>
          <a:p>
            <a:pPr algn="l" indent="0" marL="0">
              <a:lnSpc>
                <a:spcPts val="2565"/>
              </a:lnSpc>
              <a:buNone/>
            </a:pPr>
            <a:endParaRPr lang="en-US" sz="1300" dirty="0"/>
          </a:p>
          <a:p>
            <a:pPr algn="l" indent="0" marL="0">
              <a:lnSpc>
                <a:spcPts val="2565"/>
              </a:lnSpc>
              <a:buNone/>
            </a:pPr>
            <a:r>
              <a:rPr lang="en-US" sz="1300" dirty="0">
                <a:solidFill>
                  <a:srgbClr val="5A6271"/>
                </a:solidFill>
                <a:latin typeface="Noto Sans JP" pitchFamily="34" charset="0"/>
                <a:ea typeface="Noto Sans JP" pitchFamily="34" charset="-122"/>
                <a:cs typeface="Noto Sans JP" pitchFamily="34" charset="-120"/>
              </a:rPr>
              <a:t>なんとなく知っているつもりの地域の企業を、登記名、具体的な規模、創業された歴史と理念という角度から客観的に見つめ直すプロセスです。 事前学習のフェーズで調べることで、当日の質問の精度が大幅に高まります。</a:t>
            </a:r>
            <a:endParaRPr lang="en-US" sz="1300" dirty="0"/>
          </a:p>
        </p:txBody>
      </p:sp>
      <p:sp>
        <p:nvSpPr>
          <p:cNvPr id="10" name="Text 7"/>
          <p:cNvSpPr txBox="1"/>
          <p:nvPr/>
        </p:nvSpPr>
        <p:spPr>
          <a:xfrm>
            <a:off x="6762902" y="2381098"/>
            <a:ext cx="4572000" cy="162763"/>
          </a:xfrm>
          <a:prstGeom prst="rect">
            <a:avLst/>
          </a:prstGeom>
          <a:noFill/>
          <a:ln/>
        </p:spPr>
        <p:txBody>
          <a:bodyPr wrap="none" lIns="0" tIns="0" rIns="0" bIns="0" rtlCol="0" anchor="ctr"/>
          <a:lstStyle/>
          <a:p>
            <a:pPr algn="l" indent="0" marL="0">
              <a:buNone/>
            </a:pPr>
            <a:r>
              <a:rPr lang="en-US" sz="900" b="1" dirty="0">
                <a:solidFill>
                  <a:srgbClr val="B68C2E"/>
                </a:solidFill>
                <a:latin typeface="IBM Plex Mono" pitchFamily="34" charset="0"/>
                <a:ea typeface="IBM Plex Mono" pitchFamily="34" charset="-122"/>
                <a:cs typeface="IBM Plex Mono" pitchFamily="34" charset="-120"/>
              </a:rPr>
              <a:t>QUESTIONS 01 &amp; 02 · PRE-PHASE</a:t>
            </a:r>
            <a:endParaRPr lang="en-US" sz="900" dirty="0"/>
          </a:p>
        </p:txBody>
      </p:sp>
      <p:sp>
        <p:nvSpPr>
          <p:cNvPr id="11" name="Text 8"/>
          <p:cNvSpPr txBox="1"/>
          <p:nvPr/>
        </p:nvSpPr>
        <p:spPr>
          <a:xfrm>
            <a:off x="6762902" y="2619756"/>
            <a:ext cx="4572000" cy="333756"/>
          </a:xfrm>
          <a:prstGeom prst="rect">
            <a:avLst/>
          </a:prstGeom>
          <a:noFill/>
          <a:ln/>
        </p:spPr>
        <p:txBody>
          <a:bodyPr wrap="none" lIns="0" tIns="0" rIns="0" bIns="0" rtlCol="0" anchor="ctr"/>
          <a:lstStyle/>
          <a:p>
            <a:pPr algn="l" indent="0" marL="0">
              <a:buNone/>
            </a:pPr>
            <a:r>
              <a:rPr lang="en-US" sz="1800" b="1" dirty="0">
                <a:solidFill>
                  <a:srgbClr val="1F2A44"/>
                </a:solidFill>
                <a:latin typeface="Noto Serif JP" pitchFamily="34" charset="0"/>
                <a:ea typeface="Noto Serif JP" pitchFamily="34" charset="-122"/>
                <a:cs typeface="Noto Serif JP" pitchFamily="34" charset="-120"/>
              </a:rPr>
              <a:t>正式名称 ＆ 所在地</a:t>
            </a:r>
            <a:endParaRPr lang="en-US" sz="1800" dirty="0"/>
          </a:p>
        </p:txBody>
      </p:sp>
      <p:sp>
        <p:nvSpPr>
          <p:cNvPr id="12" name="Text 9"/>
          <p:cNvSpPr txBox="1"/>
          <p:nvPr/>
        </p:nvSpPr>
        <p:spPr>
          <a:xfrm>
            <a:off x="6762902" y="3086100"/>
            <a:ext cx="4572000" cy="734263"/>
          </a:xfrm>
          <a:prstGeom prst="rect">
            <a:avLst/>
          </a:prstGeom>
          <a:noFill/>
          <a:ln/>
        </p:spPr>
        <p:txBody>
          <a:bodyPr wrap="square" lIns="0" tIns="0" rIns="0" bIns="0" rtlCol="0" anchor="ctr"/>
          <a:lstStyle/>
          <a:p>
            <a:pPr algn="l" indent="0" marL="0">
              <a:buNone/>
            </a:pPr>
            <a:r>
              <a:rPr lang="en-US" sz="1100" dirty="0">
                <a:solidFill>
                  <a:srgbClr val="5A6271"/>
                </a:solidFill>
                <a:latin typeface="Noto Sans JP" pitchFamily="34" charset="0"/>
                <a:ea typeface="Noto Sans JP" pitchFamily="34" charset="-122"/>
                <a:cs typeface="Noto Sans JP" pitchFamily="34" charset="-120"/>
              </a:rPr>
              <a:t>日常での呼び名（通称）と「株式会社」などの法人格を含めた正式名称を正しく区別する。本社の位置や地域内での店舗展開エリアを明確にし、ビジネスの物理的地理関係を把握します。</a:t>
            </a:r>
            <a:endParaRPr lang="en-US" sz="1100" dirty="0"/>
          </a:p>
        </p:txBody>
      </p:sp>
      <p:sp>
        <p:nvSpPr>
          <p:cNvPr id="13" name="Shape 10"/>
          <p:cNvSpPr/>
          <p:nvPr/>
        </p:nvSpPr>
        <p:spPr>
          <a:xfrm>
            <a:off x="6762902" y="3948379"/>
            <a:ext cx="4572000" cy="9144"/>
          </a:xfrm>
          <a:prstGeom prst="rect">
            <a:avLst/>
          </a:prstGeom>
          <a:solidFill>
            <a:srgbClr val="B68C2E"/>
          </a:solidFill>
          <a:ln w="12700">
            <a:solidFill>
              <a:srgbClr val="B68C2E">
                <a:alpha val="0"/>
              </a:srgbClr>
            </a:solidFill>
            <a:prstDash val="solid"/>
          </a:ln>
        </p:spPr>
      </p:sp>
      <p:sp>
        <p:nvSpPr>
          <p:cNvPr id="14" name="Text 11"/>
          <p:cNvSpPr txBox="1"/>
          <p:nvPr/>
        </p:nvSpPr>
        <p:spPr>
          <a:xfrm>
            <a:off x="6762902" y="4033418"/>
            <a:ext cx="4572000" cy="181966"/>
          </a:xfrm>
          <a:prstGeom prst="rect">
            <a:avLst/>
          </a:prstGeom>
          <a:solidFill>
            <a:srgbClr val="FFFFFF">
              <a:alpha val="0"/>
            </a:srgbClr>
          </a:solidFill>
          <a:ln>
            <a:solidFill>
              <a:srgbClr val="FFFFFF">
                <a:alpha val="0"/>
              </a:srgbClr>
            </a:solidFill>
          </a:ln>
        </p:spPr>
        <p:txBody>
          <a:bodyPr wrap="none" lIns="76200" tIns="0" rIns="76200" bIns="76200" rtlCol="0" anchor="ctr"/>
          <a:lstStyle/>
          <a:p>
            <a:pPr algn="l" indent="0" marL="0">
              <a:buNone/>
            </a:pPr>
            <a:r>
              <a:rPr lang="en-US" sz="900" b="1" dirty="0">
                <a:solidFill>
                  <a:srgbClr val="1F2A44"/>
                </a:solidFill>
                <a:latin typeface="Noto Sans JP" pitchFamily="34" charset="0"/>
                <a:ea typeface="Noto Sans JP" pitchFamily="34" charset="-122"/>
                <a:cs typeface="Noto Sans JP" pitchFamily="34" charset="-120"/>
              </a:rPr>
              <a:t>💡 例：マルヤの場合 ➔ 「株式会社マルヤ」＋「〇〇市内を中心に5店舗展開」</a:t>
            </a:r>
            <a:endParaRPr lang="en-US" sz="900" dirty="0"/>
          </a:p>
        </p:txBody>
      </p:sp>
      <p:sp>
        <p:nvSpPr>
          <p:cNvPr id="15" name="Text 12"/>
          <p:cNvSpPr txBox="1"/>
          <p:nvPr/>
        </p:nvSpPr>
        <p:spPr>
          <a:xfrm>
            <a:off x="12287707" y="2381098"/>
            <a:ext cx="4858207" cy="162763"/>
          </a:xfrm>
          <a:prstGeom prst="rect">
            <a:avLst/>
          </a:prstGeom>
          <a:noFill/>
          <a:ln/>
        </p:spPr>
        <p:txBody>
          <a:bodyPr wrap="none" lIns="0" tIns="0" rIns="0" bIns="0" rtlCol="0" anchor="ctr"/>
          <a:lstStyle/>
          <a:p>
            <a:pPr algn="l" indent="0" marL="0">
              <a:buNone/>
            </a:pPr>
            <a:r>
              <a:rPr lang="en-US" sz="900" b="1" dirty="0">
                <a:solidFill>
                  <a:srgbClr val="B68C2E"/>
                </a:solidFill>
                <a:latin typeface="IBM Plex Mono" pitchFamily="34" charset="0"/>
                <a:ea typeface="IBM Plex Mono" pitchFamily="34" charset="-122"/>
                <a:cs typeface="IBM Plex Mono" pitchFamily="34" charset="-120"/>
              </a:rPr>
              <a:t>QUESTIONS 03 &amp; 04 · PRE-PHASE</a:t>
            </a:r>
            <a:endParaRPr lang="en-US" sz="900" dirty="0"/>
          </a:p>
        </p:txBody>
      </p:sp>
      <p:sp>
        <p:nvSpPr>
          <p:cNvPr id="16" name="Text 13"/>
          <p:cNvSpPr txBox="1"/>
          <p:nvPr/>
        </p:nvSpPr>
        <p:spPr>
          <a:xfrm>
            <a:off x="12287707" y="2619756"/>
            <a:ext cx="4858207" cy="333756"/>
          </a:xfrm>
          <a:prstGeom prst="rect">
            <a:avLst/>
          </a:prstGeom>
          <a:noFill/>
          <a:ln/>
        </p:spPr>
        <p:txBody>
          <a:bodyPr wrap="none" lIns="0" tIns="0" rIns="0" bIns="0" rtlCol="0" anchor="ctr"/>
          <a:lstStyle/>
          <a:p>
            <a:pPr algn="l" indent="0" marL="0">
              <a:buNone/>
            </a:pPr>
            <a:r>
              <a:rPr lang="en-US" sz="1800" b="1" dirty="0">
                <a:solidFill>
                  <a:srgbClr val="1F2A44"/>
                </a:solidFill>
                <a:latin typeface="Noto Serif JP" pitchFamily="34" charset="0"/>
                <a:ea typeface="Noto Serif JP" pitchFamily="34" charset="-122"/>
                <a:cs typeface="Noto Serif JP" pitchFamily="34" charset="-120"/>
              </a:rPr>
              <a:t>組織の分類 ＆ 規模（人数）</a:t>
            </a:r>
            <a:endParaRPr lang="en-US" sz="1800" dirty="0"/>
          </a:p>
        </p:txBody>
      </p:sp>
      <p:sp>
        <p:nvSpPr>
          <p:cNvPr id="17" name="Text 14"/>
          <p:cNvSpPr txBox="1"/>
          <p:nvPr/>
        </p:nvSpPr>
        <p:spPr>
          <a:xfrm>
            <a:off x="12287707" y="3086100"/>
            <a:ext cx="4858207" cy="734263"/>
          </a:xfrm>
          <a:prstGeom prst="rect">
            <a:avLst/>
          </a:prstGeom>
          <a:noFill/>
          <a:ln/>
        </p:spPr>
        <p:txBody>
          <a:bodyPr wrap="square" lIns="0" tIns="0" rIns="0" bIns="0" rtlCol="0" anchor="ctr"/>
          <a:lstStyle/>
          <a:p>
            <a:pPr algn="l" indent="0" marL="0">
              <a:buNone/>
            </a:pPr>
            <a:r>
              <a:rPr lang="en-US" sz="1100" dirty="0">
                <a:solidFill>
                  <a:srgbClr val="5A6271"/>
                </a:solidFill>
                <a:latin typeface="Noto Sans JP" pitchFamily="34" charset="0"/>
                <a:ea typeface="Noto Sans JP" pitchFamily="34" charset="-122"/>
                <a:cs typeface="Noto Sans JP" pitchFamily="34" charset="-120"/>
              </a:rPr>
              <a:t>民間企業なのか公共機関・NPOなのかという「組織の目的の違い」をメタ認識します。また、正社員、パート・アルバイト等の働く人の構成と数から、組織の規模感を具体的な数値で把握します。</a:t>
            </a:r>
            <a:endParaRPr lang="en-US" sz="1100" dirty="0"/>
          </a:p>
        </p:txBody>
      </p:sp>
      <p:sp>
        <p:nvSpPr>
          <p:cNvPr id="18" name="Shape 15"/>
          <p:cNvSpPr/>
          <p:nvPr/>
        </p:nvSpPr>
        <p:spPr>
          <a:xfrm>
            <a:off x="12287707" y="3948379"/>
            <a:ext cx="4858207" cy="9144"/>
          </a:xfrm>
          <a:prstGeom prst="rect">
            <a:avLst/>
          </a:prstGeom>
          <a:solidFill>
            <a:srgbClr val="B68C2E"/>
          </a:solidFill>
          <a:ln w="12700">
            <a:solidFill>
              <a:srgbClr val="B68C2E">
                <a:alpha val="0"/>
              </a:srgbClr>
            </a:solidFill>
            <a:prstDash val="solid"/>
          </a:ln>
        </p:spPr>
      </p:sp>
      <p:sp>
        <p:nvSpPr>
          <p:cNvPr id="19" name="Text 16"/>
          <p:cNvSpPr txBox="1"/>
          <p:nvPr/>
        </p:nvSpPr>
        <p:spPr>
          <a:xfrm>
            <a:off x="12287707" y="4033418"/>
            <a:ext cx="4858207" cy="181966"/>
          </a:xfrm>
          <a:prstGeom prst="rect">
            <a:avLst/>
          </a:prstGeom>
          <a:solidFill>
            <a:srgbClr val="FFFFFF">
              <a:alpha val="0"/>
            </a:srgbClr>
          </a:solidFill>
          <a:ln>
            <a:solidFill>
              <a:srgbClr val="FFFFFF">
                <a:alpha val="0"/>
              </a:srgbClr>
            </a:solidFill>
          </a:ln>
        </p:spPr>
        <p:txBody>
          <a:bodyPr wrap="none" lIns="76200" tIns="0" rIns="76200" bIns="76200" rtlCol="0" anchor="ctr"/>
          <a:lstStyle/>
          <a:p>
            <a:pPr algn="l" indent="0" marL="0">
              <a:buNone/>
            </a:pPr>
            <a:r>
              <a:rPr lang="en-US" sz="900" b="1" dirty="0">
                <a:solidFill>
                  <a:srgbClr val="1F2A44"/>
                </a:solidFill>
                <a:latin typeface="Noto Sans JP" pitchFamily="34" charset="0"/>
                <a:ea typeface="Noto Sans JP" pitchFamily="34" charset="-122"/>
                <a:cs typeface="Noto Sans JP" pitchFamily="34" charset="-120"/>
              </a:rPr>
              <a:t>💡 例：マルヤの場合 ➔ 「民間（スーパー）」＋「正社員50名、パート計200名」</a:t>
            </a:r>
            <a:endParaRPr lang="en-US" sz="900" dirty="0"/>
          </a:p>
        </p:txBody>
      </p:sp>
      <p:sp>
        <p:nvSpPr>
          <p:cNvPr id="20" name="Text 17"/>
          <p:cNvSpPr txBox="1"/>
          <p:nvPr/>
        </p:nvSpPr>
        <p:spPr>
          <a:xfrm>
            <a:off x="6858000" y="5810098"/>
            <a:ext cx="10191902" cy="162763"/>
          </a:xfrm>
          <a:prstGeom prst="rect">
            <a:avLst/>
          </a:prstGeom>
          <a:noFill/>
          <a:ln/>
        </p:spPr>
        <p:txBody>
          <a:bodyPr wrap="none" lIns="0" tIns="0" rIns="0" bIns="0" rtlCol="0" anchor="ctr"/>
          <a:lstStyle/>
          <a:p>
            <a:pPr algn="l" indent="0" marL="0">
              <a:buNone/>
            </a:pPr>
            <a:r>
              <a:rPr lang="en-US" sz="900" b="1" dirty="0">
                <a:solidFill>
                  <a:srgbClr val="B68C2E"/>
                </a:solidFill>
                <a:latin typeface="IBM Plex Mono" pitchFamily="34" charset="0"/>
                <a:ea typeface="IBM Plex Mono" pitchFamily="34" charset="-122"/>
                <a:cs typeface="IBM Plex Mono" pitchFamily="34" charset="-120"/>
              </a:rPr>
              <a:t>QUESTION 05 · HYBRID PHASE (PRE-POST)</a:t>
            </a:r>
            <a:endParaRPr lang="en-US" sz="900" dirty="0"/>
          </a:p>
        </p:txBody>
      </p:sp>
      <p:sp>
        <p:nvSpPr>
          <p:cNvPr id="21" name="Text 18"/>
          <p:cNvSpPr txBox="1"/>
          <p:nvPr/>
        </p:nvSpPr>
        <p:spPr>
          <a:xfrm>
            <a:off x="6858000" y="6048756"/>
            <a:ext cx="10191902" cy="333756"/>
          </a:xfrm>
          <a:prstGeom prst="rect">
            <a:avLst/>
          </a:prstGeom>
          <a:noFill/>
          <a:ln/>
        </p:spPr>
        <p:txBody>
          <a:bodyPr wrap="none" lIns="0" tIns="0" rIns="0" bIns="0" rtlCol="0" anchor="ctr"/>
          <a:lstStyle/>
          <a:p>
            <a:pPr algn="l" indent="0" marL="0">
              <a:buNone/>
            </a:pPr>
            <a:r>
              <a:rPr lang="en-US" sz="1800" b="1" dirty="0">
                <a:solidFill>
                  <a:srgbClr val="FFFFFF"/>
                </a:solidFill>
                <a:latin typeface="Noto Serif JP" pitchFamily="34" charset="0"/>
                <a:ea typeface="Noto Serif JP" pitchFamily="34" charset="-122"/>
                <a:cs typeface="Noto Serif JP" pitchFamily="34" charset="-120"/>
              </a:rPr>
              <a:t>歴史（設立）と理念（スローガン・想い）</a:t>
            </a:r>
            <a:endParaRPr lang="en-US" sz="1800" dirty="0"/>
          </a:p>
        </p:txBody>
      </p:sp>
      <p:sp>
        <p:nvSpPr>
          <p:cNvPr id="22" name="Text 19"/>
          <p:cNvSpPr txBox="1"/>
          <p:nvPr/>
        </p:nvSpPr>
        <p:spPr>
          <a:xfrm>
            <a:off x="6858000" y="6515100"/>
            <a:ext cx="10191902" cy="734263"/>
          </a:xfrm>
          <a:prstGeom prst="rect">
            <a:avLst/>
          </a:prstGeom>
          <a:noFill/>
          <a:ln/>
        </p:spPr>
        <p:txBody>
          <a:bodyPr wrap="square" lIns="0" tIns="0" rIns="0" bIns="0" rtlCol="0" anchor="ctr"/>
          <a:lstStyle/>
          <a:p>
            <a:pPr algn="l" indent="0" marL="0">
              <a:buNone/>
            </a:pPr>
            <a:r>
              <a:rPr lang="en-US" sz="1100" dirty="0">
                <a:solidFill>
                  <a:srgbClr val="E5E7EB"/>
                </a:solidFill>
                <a:latin typeface="Noto Sans JP" pitchFamily="34" charset="0"/>
                <a:ea typeface="Noto Sans JP" pitchFamily="34" charset="-122"/>
                <a:cs typeface="Noto Sans JP" pitchFamily="34" charset="-120"/>
              </a:rPr>
              <a:t>いつから存在するのか（歴史の長さや、直近できたスタートアップかなど）を分析。そして、組織が最も重視する「理念や大切にしている想い・キャッチコピー」を記述します。 理念はポスター、HPなどから事前抽出できますが、当日の現場で「本当にその理念が現場に浸透しているか、どう具体化されているか」を体験から裏付けする、事前・事後のハイブリッドアプローチです。</a:t>
            </a:r>
            <a:endParaRPr lang="en-US" sz="1100" dirty="0"/>
          </a:p>
        </p:txBody>
      </p:sp>
      <p:sp>
        <p:nvSpPr>
          <p:cNvPr id="23" name="Shape 20"/>
          <p:cNvSpPr/>
          <p:nvPr/>
        </p:nvSpPr>
        <p:spPr>
          <a:xfrm>
            <a:off x="6858000" y="7434072"/>
            <a:ext cx="10191902" cy="9144"/>
          </a:xfrm>
          <a:prstGeom prst="rect">
            <a:avLst/>
          </a:prstGeom>
          <a:solidFill>
            <a:srgbClr val="B68C2E"/>
          </a:solidFill>
          <a:ln w="12700">
            <a:solidFill>
              <a:srgbClr val="B68C2E">
                <a:alpha val="0"/>
              </a:srgbClr>
            </a:solidFill>
            <a:prstDash val="solid"/>
          </a:ln>
        </p:spPr>
      </p:sp>
      <p:sp>
        <p:nvSpPr>
          <p:cNvPr id="24" name="Text 21"/>
          <p:cNvSpPr txBox="1"/>
          <p:nvPr/>
        </p:nvSpPr>
        <p:spPr>
          <a:xfrm>
            <a:off x="6858000" y="7538314"/>
            <a:ext cx="10191902" cy="191110"/>
          </a:xfrm>
          <a:prstGeom prst="rect">
            <a:avLst/>
          </a:prstGeom>
          <a:solidFill>
            <a:srgbClr val="FFFFFF">
              <a:alpha val="0"/>
            </a:srgbClr>
          </a:solidFill>
          <a:ln>
            <a:solidFill>
              <a:srgbClr val="FFFFFF">
                <a:alpha val="0"/>
              </a:srgbClr>
            </a:solidFill>
          </a:ln>
        </p:spPr>
        <p:txBody>
          <a:bodyPr wrap="none" lIns="101600" tIns="0" rIns="101600" bIns="101600" rtlCol="0" anchor="ctr"/>
          <a:lstStyle/>
          <a:p>
            <a:pPr algn="l" indent="0" marL="0">
              <a:buNone/>
            </a:pPr>
            <a:r>
              <a:rPr lang="en-US" sz="1000" b="1" dirty="0">
                <a:solidFill>
                  <a:srgbClr val="B68C2E"/>
                </a:solidFill>
                <a:latin typeface="Noto Sans JP" pitchFamily="34" charset="0"/>
                <a:ea typeface="Noto Sans JP" pitchFamily="34" charset="-122"/>
                <a:cs typeface="Noto Sans JP" pitchFamily="34" charset="-120"/>
              </a:rPr>
              <a:t>💡 例：マルヤの場合 ➔ 1995年創業（31年目）／ 理念：「地域に豊かな食卓を、笑顔と新鮮さで届けるマルヤ」</a:t>
            </a:r>
            <a:endParaRPr lang="en-US" sz="1000" dirty="0"/>
          </a:p>
        </p:txBody>
      </p:sp>
      <p:sp>
        <p:nvSpPr>
          <p:cNvPr id="25" name="Text 22"/>
          <p:cNvSpPr txBox="1"/>
          <p:nvPr/>
        </p:nvSpPr>
        <p:spPr>
          <a:xfrm>
            <a:off x="857707" y="9620402"/>
            <a:ext cx="16573500" cy="133502"/>
          </a:xfrm>
          <a:prstGeom prst="rect">
            <a:avLst/>
          </a:prstGeom>
          <a:noFill/>
          <a:ln/>
        </p:spPr>
        <p:txBody>
          <a:bodyPr wrap="none" lIns="0" tIns="0" rIns="0" bIns="0" rtlCol="0" anchor="ctr"/>
          <a:lstStyle/>
          <a:p>
            <a:pPr algn="r" indent="0" marL="0">
              <a:buNone/>
            </a:pPr>
            <a:r>
              <a:rPr lang="en-US" sz="800" spc="99" kern="0" dirty="0">
                <a:solidFill>
                  <a:srgbClr val="A4ABB8"/>
                </a:solidFill>
                <a:latin typeface="IBM Plex Mono" pitchFamily="34" charset="0"/>
                <a:ea typeface="IBM Plex Mono" pitchFamily="34" charset="-122"/>
                <a:cs typeface="IBM Plex Mono" pitchFamily="34" charset="-120"/>
              </a:rPr>
              <a:t>CONFIDENTIAL · INTERNSHIP DISSECTION BRIEF · PAGE 03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A"/>
        </a:solidFill>
      </p:bgPr>
    </p:bg>
    <p:spTree>
      <p:nvGrpSpPr>
        <p:cNvPr id="1" name=""/>
        <p:cNvGrpSpPr/>
        <p:nvPr/>
      </p:nvGrpSpPr>
      <p:grpSpPr>
        <a:xfrm>
          <a:off x="0" y="0"/>
          <a:ext cx="0" cy="0"/>
          <a:chOff x="0" y="0"/>
          <a:chExt cx="0" cy="0"/>
        </a:xfrm>
      </p:grpSpPr>
      <p:pic>
        <p:nvPicPr>
          <p:cNvPr id="2" name="Image 0" descr="gen-dedup-97fba22e14047e916a72d45c364dea0f.png">    </p:cNvPr>
          <p:cNvPicPr>
            <a:picLocks noChangeAspect="1"/>
          </p:cNvPicPr>
          <p:nvPr/>
        </p:nvPicPr>
        <p:blipFill>
          <a:blip r:embed="rId1"/>
          <a:srcRect l="0" r="0" t="-400" b="-400"/>
          <a:stretch/>
        </p:blipFill>
        <p:spPr>
          <a:xfrm>
            <a:off x="857707" y="1571854"/>
            <a:ext cx="16573500" cy="19202"/>
          </a:xfrm>
          <a:prstGeom prst="rect">
            <a:avLst/>
          </a:prstGeom>
        </p:spPr>
      </p:pic>
      <p:sp>
        <p:nvSpPr>
          <p:cNvPr id="3" name="Shape 0"/>
          <p:cNvSpPr/>
          <p:nvPr/>
        </p:nvSpPr>
        <p:spPr>
          <a:xfrm>
            <a:off x="857707" y="3429000"/>
            <a:ext cx="5162702" cy="4972507"/>
          </a:xfrm>
          <a:prstGeom prst="roundRect">
            <a:avLst>
              <a:gd name="adj" fmla="val 1526"/>
            </a:avLst>
          </a:prstGeom>
          <a:solidFill>
            <a:srgbClr val="FFFFFF"/>
          </a:solidFill>
          <a:ln w="12700">
            <a:solidFill>
              <a:srgbClr val="E5E7EB"/>
            </a:solidFill>
            <a:prstDash val="solid"/>
          </a:ln>
        </p:spPr>
      </p:sp>
      <p:sp>
        <p:nvSpPr>
          <p:cNvPr id="4" name="Shape 1"/>
          <p:cNvSpPr/>
          <p:nvPr/>
        </p:nvSpPr>
        <p:spPr>
          <a:xfrm>
            <a:off x="6572707" y="3429000"/>
            <a:ext cx="5162702" cy="4972507"/>
          </a:xfrm>
          <a:prstGeom prst="roundRect">
            <a:avLst>
              <a:gd name="adj" fmla="val 1526"/>
            </a:avLst>
          </a:prstGeom>
          <a:solidFill>
            <a:srgbClr val="FFFFFF"/>
          </a:solidFill>
          <a:ln w="12700">
            <a:solidFill>
              <a:srgbClr val="E5E7EB"/>
            </a:solidFill>
            <a:prstDash val="solid"/>
          </a:ln>
        </p:spPr>
      </p:sp>
      <p:sp>
        <p:nvSpPr>
          <p:cNvPr id="5" name="Shape 2"/>
          <p:cNvSpPr/>
          <p:nvPr/>
        </p:nvSpPr>
        <p:spPr>
          <a:xfrm>
            <a:off x="12287707" y="3429000"/>
            <a:ext cx="5162702" cy="4972507"/>
          </a:xfrm>
          <a:prstGeom prst="roundRect">
            <a:avLst>
              <a:gd name="adj" fmla="val 1526"/>
            </a:avLst>
          </a:prstGeom>
          <a:solidFill>
            <a:srgbClr val="FFFFFF"/>
          </a:solidFill>
          <a:ln w="12700">
            <a:solidFill>
              <a:srgbClr val="E5E7EB"/>
            </a:solidFill>
            <a:prstDash val="solid"/>
          </a:ln>
        </p:spPr>
      </p:sp>
      <p:sp>
        <p:nvSpPr>
          <p:cNvPr id="6" name="Shape 3"/>
          <p:cNvSpPr/>
          <p:nvPr/>
        </p:nvSpPr>
        <p:spPr>
          <a:xfrm>
            <a:off x="857707" y="2381098"/>
            <a:ext cx="16573500" cy="761695"/>
          </a:xfrm>
          <a:prstGeom prst="roundRect">
            <a:avLst>
              <a:gd name="adj" fmla="val 5042"/>
            </a:avLst>
          </a:prstGeom>
          <a:solidFill>
            <a:srgbClr val="1F2A44"/>
          </a:solidFill>
          <a:ln w="12700">
            <a:solidFill>
              <a:srgbClr val="FFFFFF">
                <a:alpha val="0"/>
              </a:srgbClr>
            </a:solidFill>
            <a:prstDash val="solid"/>
          </a:ln>
        </p:spPr>
      </p:sp>
      <p:sp>
        <p:nvSpPr>
          <p:cNvPr id="7" name="Text 4"/>
          <p:cNvSpPr txBox="1"/>
          <p:nvPr/>
        </p:nvSpPr>
        <p:spPr>
          <a:xfrm>
            <a:off x="857707" y="571500"/>
            <a:ext cx="16573500" cy="171907"/>
          </a:xfrm>
          <a:prstGeom prst="rect">
            <a:avLst/>
          </a:prstGeom>
          <a:noFill/>
          <a:ln/>
        </p:spPr>
        <p:txBody>
          <a:bodyPr wrap="none" lIns="0" tIns="0" rIns="0" bIns="0" rtlCol="0" anchor="ctr"/>
          <a:lstStyle/>
          <a:p>
            <a:pPr algn="l" indent="0" marL="0">
              <a:buNone/>
            </a:pPr>
            <a:r>
              <a:rPr lang="en-US" sz="1000" spc="210" kern="0" dirty="0">
                <a:solidFill>
                  <a:srgbClr val="B68C2E"/>
                </a:solidFill>
                <a:latin typeface="IBM Plex Mono" pitchFamily="34" charset="0"/>
                <a:ea typeface="IBM Plex Mono" pitchFamily="34" charset="-122"/>
                <a:cs typeface="IBM Plex Mono" pitchFamily="34" charset="-120"/>
              </a:rPr>
              <a:t>CATEGORY 02 (PART 1) // BUSINESS OPERATIONS</a:t>
            </a:r>
            <a:endParaRPr lang="en-US" sz="1000" dirty="0"/>
          </a:p>
        </p:txBody>
      </p:sp>
      <p:sp>
        <p:nvSpPr>
          <p:cNvPr id="8" name="Text 5"/>
          <p:cNvSpPr txBox="1"/>
          <p:nvPr/>
        </p:nvSpPr>
        <p:spPr>
          <a:xfrm>
            <a:off x="857707" y="905256"/>
            <a:ext cx="16573500" cy="571500"/>
          </a:xfrm>
          <a:prstGeom prst="rect">
            <a:avLst/>
          </a:prstGeom>
          <a:noFill/>
          <a:ln/>
        </p:spPr>
        <p:txBody>
          <a:bodyPr wrap="none" lIns="0" tIns="0" rIns="0" bIns="0" rtlCol="0" anchor="ctr"/>
          <a:lstStyle/>
          <a:p>
            <a:pPr algn="l" indent="0" marL="0">
              <a:buNone/>
            </a:pPr>
            <a:r>
              <a:rPr lang="en-US" sz="3100" b="1" dirty="0">
                <a:solidFill>
                  <a:srgbClr val="1F2A44"/>
                </a:solidFill>
                <a:latin typeface="Noto Serif JP" pitchFamily="34" charset="0"/>
                <a:ea typeface="Noto Serif JP" pitchFamily="34" charset="-122"/>
                <a:cs typeface="Noto Serif JP" pitchFamily="34" charset="-120"/>
              </a:rPr>
              <a:t>【事業運営・前編】ビジネスモデルをシステムとして解剖する</a:t>
            </a:r>
            <a:endParaRPr lang="en-US" sz="3100" dirty="0"/>
          </a:p>
        </p:txBody>
      </p:sp>
      <p:sp>
        <p:nvSpPr>
          <p:cNvPr id="9" name="Text 6"/>
          <p:cNvSpPr txBox="1"/>
          <p:nvPr/>
        </p:nvSpPr>
        <p:spPr>
          <a:xfrm>
            <a:off x="857707" y="1809598"/>
            <a:ext cx="16573500" cy="277063"/>
          </a:xfrm>
          <a:prstGeom prst="rect">
            <a:avLst/>
          </a:prstGeom>
          <a:noFill/>
          <a:ln/>
        </p:spPr>
        <p:txBody>
          <a:bodyPr wrap="none" lIns="0" tIns="0" rIns="0" bIns="0" rtlCol="0" anchor="ctr"/>
          <a:lstStyle/>
          <a:p>
            <a:pPr algn="l" indent="0" marL="0">
              <a:buNone/>
            </a:pPr>
            <a:r>
              <a:rPr lang="en-US" sz="1300" b="1" dirty="0">
                <a:solidFill>
                  <a:srgbClr val="1F2A44"/>
                </a:solidFill>
                <a:latin typeface="Noto Sans JP" pitchFamily="34" charset="0"/>
                <a:ea typeface="Noto Sans JP" pitchFamily="34" charset="-122"/>
                <a:cs typeface="Noto Sans JP" pitchFamily="34" charset="-120"/>
              </a:rPr>
              <a:t>💡 生徒はビジネスモデルの基本概念「INPUT ➔ PROCESS ➔ OUTPUT（価値の生産から提供までの一連の流れ）」を体感し、存在意義を解剖します。</a:t>
            </a:r>
            <a:endParaRPr lang="en-US" sz="1300" dirty="0"/>
          </a:p>
        </p:txBody>
      </p:sp>
      <p:sp>
        <p:nvSpPr>
          <p:cNvPr id="10" name="Text 7"/>
          <p:cNvSpPr txBox="1"/>
          <p:nvPr/>
        </p:nvSpPr>
        <p:spPr>
          <a:xfrm>
            <a:off x="1238098" y="3810305"/>
            <a:ext cx="4381805" cy="181051"/>
          </a:xfrm>
          <a:prstGeom prst="rect">
            <a:avLst/>
          </a:prstGeom>
          <a:noFill/>
          <a:ln/>
        </p:spPr>
        <p:txBody>
          <a:bodyPr wrap="none" lIns="0" tIns="0" rIns="0" bIns="0" rtlCol="0" anchor="ctr"/>
          <a:lstStyle/>
          <a:p>
            <a:pPr algn="l" indent="0" marL="0">
              <a:buNone/>
            </a:pPr>
            <a:r>
              <a:rPr lang="en-US" sz="900" b="1" dirty="0">
                <a:solidFill>
                  <a:srgbClr val="B68C2E"/>
                </a:solidFill>
                <a:latin typeface="IBM Plex Mono" pitchFamily="34" charset="0"/>
                <a:ea typeface="IBM Plex Mono" pitchFamily="34" charset="-122"/>
                <a:cs typeface="IBM Plex Mono" pitchFamily="34" charset="-120"/>
              </a:rPr>
              <a:t>QUESTION 07 / 仕入れ</a:t>
            </a:r>
            <a:endParaRPr lang="en-US" sz="900" dirty="0"/>
          </a:p>
        </p:txBody>
      </p:sp>
      <p:sp>
        <p:nvSpPr>
          <p:cNvPr id="11" name="Text 8"/>
          <p:cNvSpPr txBox="1"/>
          <p:nvPr/>
        </p:nvSpPr>
        <p:spPr>
          <a:xfrm>
            <a:off x="1238098" y="4067251"/>
            <a:ext cx="4381805" cy="381305"/>
          </a:xfrm>
          <a:prstGeom prst="rect">
            <a:avLst/>
          </a:prstGeom>
          <a:noFill/>
          <a:ln/>
        </p:spPr>
        <p:txBody>
          <a:bodyPr wrap="none" lIns="0" tIns="0" rIns="0" bIns="0" rtlCol="0" anchor="ctr"/>
          <a:lstStyle/>
          <a:p>
            <a:pPr algn="l" indent="0" marL="0">
              <a:buNone/>
            </a:pPr>
            <a:r>
              <a:rPr lang="en-US" sz="2100" b="1" dirty="0">
                <a:solidFill>
                  <a:srgbClr val="1F2A44"/>
                </a:solidFill>
                <a:latin typeface="Noto Serif JP" pitchFamily="34" charset="0"/>
                <a:ea typeface="Noto Serif JP" pitchFamily="34" charset="-122"/>
                <a:cs typeface="Noto Serif JP" pitchFamily="34" charset="-120"/>
              </a:rPr>
              <a:t>INPUT（入ってくる資源）</a:t>
            </a:r>
            <a:endParaRPr lang="en-US" sz="2100" dirty="0"/>
          </a:p>
        </p:txBody>
      </p:sp>
      <p:sp>
        <p:nvSpPr>
          <p:cNvPr id="12" name="Text 9"/>
          <p:cNvSpPr txBox="1"/>
          <p:nvPr/>
        </p:nvSpPr>
        <p:spPr>
          <a:xfrm>
            <a:off x="1238098" y="4638751"/>
            <a:ext cx="4381805" cy="829361"/>
          </a:xfrm>
          <a:prstGeom prst="rect">
            <a:avLst/>
          </a:prstGeom>
          <a:noFill/>
          <a:ln/>
        </p:spPr>
        <p:txBody>
          <a:bodyPr wrap="square" lIns="0" tIns="0" rIns="0" bIns="0" rtlCol="0" anchor="ctr"/>
          <a:lstStyle/>
          <a:p>
            <a:pPr algn="l" indent="0" marL="0">
              <a:buNone/>
            </a:pPr>
            <a:r>
              <a:rPr lang="en-US" sz="1200" dirty="0">
                <a:solidFill>
                  <a:srgbClr val="5A6271"/>
                </a:solidFill>
                <a:latin typeface="Noto Sans JP" pitchFamily="34" charset="0"/>
                <a:ea typeface="Noto Sans JP" pitchFamily="34" charset="-122"/>
                <a:cs typeface="Noto Sans JP" pitchFamily="34" charset="-120"/>
              </a:rPr>
              <a:t>活動やサービスに必要な原材料、情報、エネルギー、物品は何でしょうか？ 外部から組織に届く「インプット」に着目します。</a:t>
            </a:r>
            <a:endParaRPr lang="en-US" sz="1200" dirty="0"/>
          </a:p>
        </p:txBody>
      </p:sp>
      <p:sp>
        <p:nvSpPr>
          <p:cNvPr id="13" name="Shape 10"/>
          <p:cNvSpPr/>
          <p:nvPr/>
        </p:nvSpPr>
        <p:spPr>
          <a:xfrm>
            <a:off x="1238098" y="5747004"/>
            <a:ext cx="4381805" cy="9144"/>
          </a:xfrm>
          <a:prstGeom prst="rect">
            <a:avLst/>
          </a:prstGeom>
          <a:solidFill>
            <a:srgbClr val="B68C2E"/>
          </a:solidFill>
          <a:ln w="12700">
            <a:solidFill>
              <a:srgbClr val="B68C2E">
                <a:alpha val="0"/>
              </a:srgbClr>
            </a:solidFill>
            <a:prstDash val="solid"/>
          </a:ln>
        </p:spPr>
      </p:sp>
      <p:sp>
        <p:nvSpPr>
          <p:cNvPr id="14" name="Text 11"/>
          <p:cNvSpPr txBox="1"/>
          <p:nvPr/>
        </p:nvSpPr>
        <p:spPr>
          <a:xfrm>
            <a:off x="1238098" y="5889650"/>
            <a:ext cx="4381805" cy="191110"/>
          </a:xfrm>
          <a:prstGeom prst="rect">
            <a:avLst/>
          </a:prstGeom>
          <a:solidFill>
            <a:srgbClr val="FFFFFF">
              <a:alpha val="0"/>
            </a:srgbClr>
          </a:solidFill>
          <a:ln>
            <a:solidFill>
              <a:srgbClr val="FFFFFF">
                <a:alpha val="0"/>
              </a:srgbClr>
            </a:solidFill>
          </a:ln>
        </p:spPr>
        <p:txBody>
          <a:bodyPr wrap="none" lIns="139700" tIns="0" rIns="139700" bIns="139700" rtlCol="0" anchor="ctr"/>
          <a:lstStyle/>
          <a:p>
            <a:pPr algn="l" indent="0" marL="0">
              <a:buNone/>
            </a:pPr>
            <a:r>
              <a:rPr lang="en-US" sz="1000" b="1" dirty="0">
                <a:solidFill>
                  <a:srgbClr val="1F2A44"/>
                </a:solidFill>
                <a:latin typeface="Noto Sans JP" pitchFamily="34" charset="0"/>
                <a:ea typeface="Noto Sans JP" pitchFamily="34" charset="-122"/>
                <a:cs typeface="Noto Sans JP" pitchFamily="34" charset="-120"/>
              </a:rPr>
              <a:t>💡 事前予想 ➔ 事後発見のギャップの例</a:t>
            </a:r>
            <a:endParaRPr lang="en-US" sz="1000" dirty="0"/>
          </a:p>
        </p:txBody>
      </p:sp>
      <p:sp>
        <p:nvSpPr>
          <p:cNvPr id="15" name="Text 12"/>
          <p:cNvSpPr txBox="1"/>
          <p:nvPr/>
        </p:nvSpPr>
        <p:spPr>
          <a:xfrm>
            <a:off x="1238098" y="6130138"/>
            <a:ext cx="4381805" cy="674827"/>
          </a:xfrm>
          <a:prstGeom prst="rect">
            <a:avLst/>
          </a:prstGeom>
          <a:noFill/>
          <a:ln/>
        </p:spPr>
        <p:txBody>
          <a:bodyPr wrap="square" lIns="0" tIns="0" rIns="0" bIns="0" rtlCol="0" anchor="t"/>
          <a:lstStyle/>
          <a:p>
            <a:pPr algn="l" indent="0" marL="0">
              <a:lnSpc>
                <a:spcPts val="1680"/>
              </a:lnSpc>
              <a:buNone/>
            </a:pPr>
            <a:r>
              <a:rPr lang="en-US" sz="1000" b="1" dirty="0">
                <a:solidFill>
                  <a:srgbClr val="B68C2E"/>
                </a:solidFill>
                <a:latin typeface="Noto Sans JP" pitchFamily="34" charset="0"/>
                <a:ea typeface="Noto Sans JP" pitchFamily="34" charset="-122"/>
                <a:cs typeface="Noto Sans JP" pitchFamily="34" charset="-120"/>
              </a:rPr>
              <a:t>【予想】</a:t>
            </a:r>
            <a:pPr algn="l" indent="0" marL="0">
              <a:lnSpc>
                <a:spcPts val="1680"/>
              </a:lnSpc>
              <a:buNone/>
            </a:pPr>
            <a:r>
              <a:rPr lang="en-US" sz="1000" dirty="0">
                <a:solidFill>
                  <a:srgbClr val="5A6271"/>
                </a:solidFill>
                <a:latin typeface="Noto Sans JP" pitchFamily="34" charset="0"/>
                <a:ea typeface="Noto Sans JP" pitchFamily="34" charset="-122"/>
                <a:cs typeface="Noto Sans JP" pitchFamily="34" charset="-120"/>
              </a:rPr>
              <a:t>トラックで届くダンボール食品</a:t>
            </a:r>
            <a:pPr algn="l" indent="0" marL="0">
              <a:lnSpc>
                <a:spcPts val="1680"/>
              </a:lnSpc>
              <a:buNone/>
            </a:pPr>
            <a:endParaRPr lang="en-US" sz="1000" dirty="0"/>
          </a:p>
          <a:p>
            <a:pPr algn="l" indent="0" marL="0">
              <a:lnSpc>
                <a:spcPts val="1680"/>
              </a:lnSpc>
              <a:buNone/>
            </a:pPr>
            <a:r>
              <a:rPr lang="en-US" sz="1000" b="1" dirty="0">
                <a:solidFill>
                  <a:srgbClr val="1F2A44"/>
                </a:solidFill>
                <a:latin typeface="Noto Sans JP" pitchFamily="34" charset="0"/>
                <a:ea typeface="Noto Sans JP" pitchFamily="34" charset="-122"/>
                <a:cs typeface="Noto Sans JP" pitchFamily="34" charset="-120"/>
              </a:rPr>
              <a:t>【発見】</a:t>
            </a:r>
            <a:pPr algn="l" indent="0" marL="0">
              <a:lnSpc>
                <a:spcPts val="1680"/>
              </a:lnSpc>
              <a:buNone/>
            </a:pPr>
            <a:r>
              <a:rPr lang="en-US" sz="1000" dirty="0">
                <a:solidFill>
                  <a:srgbClr val="5A6271"/>
                </a:solidFill>
                <a:latin typeface="Noto Sans JP" pitchFamily="34" charset="0"/>
                <a:ea typeface="Noto Sans JP" pitchFamily="34" charset="-122"/>
                <a:cs typeface="Noto Sans JP" pitchFamily="34" charset="-120"/>
              </a:rPr>
              <a:t>毎朝市場から届く朝獲れ鮮魚、契約農家10名から直接届く土の付いたこだわり野菜</a:t>
            </a:r>
            <a:endParaRPr lang="en-US" sz="1000" dirty="0"/>
          </a:p>
        </p:txBody>
      </p:sp>
      <p:sp>
        <p:nvSpPr>
          <p:cNvPr id="16" name="Text 13"/>
          <p:cNvSpPr txBox="1"/>
          <p:nvPr/>
        </p:nvSpPr>
        <p:spPr>
          <a:xfrm>
            <a:off x="6953098" y="3810305"/>
            <a:ext cx="4381805" cy="181051"/>
          </a:xfrm>
          <a:prstGeom prst="rect">
            <a:avLst/>
          </a:prstGeom>
          <a:noFill/>
          <a:ln/>
        </p:spPr>
        <p:txBody>
          <a:bodyPr wrap="none" lIns="0" tIns="0" rIns="0" bIns="0" rtlCol="0" anchor="ctr"/>
          <a:lstStyle/>
          <a:p>
            <a:pPr algn="l" indent="0" marL="0">
              <a:buNone/>
            </a:pPr>
            <a:r>
              <a:rPr lang="en-US" sz="900" b="1" dirty="0">
                <a:solidFill>
                  <a:srgbClr val="B68C2E"/>
                </a:solidFill>
                <a:latin typeface="IBM Plex Mono" pitchFamily="34" charset="0"/>
                <a:ea typeface="IBM Plex Mono" pitchFamily="34" charset="-122"/>
                <a:cs typeface="IBM Plex Mono" pitchFamily="34" charset="-120"/>
              </a:rPr>
              <a:t>QUESTION 08 / 加工・工夫</a:t>
            </a:r>
            <a:endParaRPr lang="en-US" sz="900" dirty="0"/>
          </a:p>
        </p:txBody>
      </p:sp>
      <p:sp>
        <p:nvSpPr>
          <p:cNvPr id="17" name="Text 14"/>
          <p:cNvSpPr txBox="1"/>
          <p:nvPr/>
        </p:nvSpPr>
        <p:spPr>
          <a:xfrm>
            <a:off x="6953098" y="4067251"/>
            <a:ext cx="4381805" cy="381305"/>
          </a:xfrm>
          <a:prstGeom prst="rect">
            <a:avLst/>
          </a:prstGeom>
          <a:noFill/>
          <a:ln/>
        </p:spPr>
        <p:txBody>
          <a:bodyPr wrap="none" lIns="0" tIns="0" rIns="0" bIns="0" rtlCol="0" anchor="ctr"/>
          <a:lstStyle/>
          <a:p>
            <a:pPr algn="l" indent="0" marL="0">
              <a:buNone/>
            </a:pPr>
            <a:r>
              <a:rPr lang="en-US" sz="2100" b="1" dirty="0">
                <a:solidFill>
                  <a:srgbClr val="1F2A44"/>
                </a:solidFill>
                <a:latin typeface="Noto Serif JP" pitchFamily="34" charset="0"/>
                <a:ea typeface="Noto Serif JP" pitchFamily="34" charset="-122"/>
                <a:cs typeface="Noto Serif JP" pitchFamily="34" charset="-120"/>
              </a:rPr>
              <a:t>PROCESS（付加価値の魔法）</a:t>
            </a:r>
            <a:endParaRPr lang="en-US" sz="2100" dirty="0"/>
          </a:p>
        </p:txBody>
      </p:sp>
      <p:sp>
        <p:nvSpPr>
          <p:cNvPr id="18" name="Text 15"/>
          <p:cNvSpPr txBox="1"/>
          <p:nvPr/>
        </p:nvSpPr>
        <p:spPr>
          <a:xfrm>
            <a:off x="6953098" y="4638751"/>
            <a:ext cx="4381805" cy="553212"/>
          </a:xfrm>
          <a:prstGeom prst="rect">
            <a:avLst/>
          </a:prstGeom>
          <a:noFill/>
          <a:ln/>
        </p:spPr>
        <p:txBody>
          <a:bodyPr wrap="square" lIns="0" tIns="0" rIns="0" bIns="0" rtlCol="0" anchor="ctr"/>
          <a:lstStyle/>
          <a:p>
            <a:pPr algn="l" indent="0" marL="0">
              <a:buNone/>
            </a:pPr>
            <a:r>
              <a:rPr lang="en-US" sz="1200" dirty="0">
                <a:solidFill>
                  <a:srgbClr val="5A6271"/>
                </a:solidFill>
                <a:latin typeface="Noto Sans JP" pitchFamily="34" charset="0"/>
                <a:ea typeface="Noto Sans JP" pitchFamily="34" charset="-122"/>
                <a:cs typeface="Noto Sans JP" pitchFamily="34" charset="-120"/>
              </a:rPr>
              <a:t>入ってきたインプットを、組織の「プロの技術や仕組み」でどう変化（加工）させて価値を高めていますか？</a:t>
            </a:r>
            <a:endParaRPr lang="en-US" sz="1200" dirty="0"/>
          </a:p>
        </p:txBody>
      </p:sp>
      <p:sp>
        <p:nvSpPr>
          <p:cNvPr id="19" name="Shape 16"/>
          <p:cNvSpPr/>
          <p:nvPr/>
        </p:nvSpPr>
        <p:spPr>
          <a:xfrm>
            <a:off x="6953098" y="5472684"/>
            <a:ext cx="4381805" cy="9144"/>
          </a:xfrm>
          <a:prstGeom prst="rect">
            <a:avLst/>
          </a:prstGeom>
          <a:solidFill>
            <a:srgbClr val="B68C2E"/>
          </a:solidFill>
          <a:ln w="12700">
            <a:solidFill>
              <a:srgbClr val="B68C2E">
                <a:alpha val="0"/>
              </a:srgbClr>
            </a:solidFill>
            <a:prstDash val="solid"/>
          </a:ln>
        </p:spPr>
      </p:sp>
      <p:sp>
        <p:nvSpPr>
          <p:cNvPr id="20" name="Text 17"/>
          <p:cNvSpPr txBox="1"/>
          <p:nvPr/>
        </p:nvSpPr>
        <p:spPr>
          <a:xfrm>
            <a:off x="6953098" y="5615330"/>
            <a:ext cx="4381805" cy="191110"/>
          </a:xfrm>
          <a:prstGeom prst="rect">
            <a:avLst/>
          </a:prstGeom>
          <a:solidFill>
            <a:srgbClr val="FFFFFF">
              <a:alpha val="0"/>
            </a:srgbClr>
          </a:solidFill>
          <a:ln>
            <a:solidFill>
              <a:srgbClr val="FFFFFF">
                <a:alpha val="0"/>
              </a:srgbClr>
            </a:solidFill>
          </a:ln>
        </p:spPr>
        <p:txBody>
          <a:bodyPr wrap="none" lIns="139700" tIns="0" rIns="139700" bIns="139700" rtlCol="0" anchor="ctr"/>
          <a:lstStyle/>
          <a:p>
            <a:pPr algn="l" indent="0" marL="0">
              <a:buNone/>
            </a:pPr>
            <a:r>
              <a:rPr lang="en-US" sz="1000" b="1" dirty="0">
                <a:solidFill>
                  <a:srgbClr val="1F2A44"/>
                </a:solidFill>
                <a:latin typeface="Noto Sans JP" pitchFamily="34" charset="0"/>
                <a:ea typeface="Noto Sans JP" pitchFamily="34" charset="-122"/>
                <a:cs typeface="Noto Sans JP" pitchFamily="34" charset="-120"/>
              </a:rPr>
              <a:t>💡 事前予想 ➔ 事後発見のギャップの例</a:t>
            </a:r>
            <a:endParaRPr lang="en-US" sz="1000" dirty="0"/>
          </a:p>
        </p:txBody>
      </p:sp>
      <p:sp>
        <p:nvSpPr>
          <p:cNvPr id="21" name="Text 18"/>
          <p:cNvSpPr txBox="1"/>
          <p:nvPr/>
        </p:nvSpPr>
        <p:spPr>
          <a:xfrm>
            <a:off x="6953098" y="5855818"/>
            <a:ext cx="4381805" cy="674827"/>
          </a:xfrm>
          <a:prstGeom prst="rect">
            <a:avLst/>
          </a:prstGeom>
          <a:noFill/>
          <a:ln/>
        </p:spPr>
        <p:txBody>
          <a:bodyPr wrap="square" lIns="0" tIns="0" rIns="0" bIns="0" rtlCol="0" anchor="t"/>
          <a:lstStyle/>
          <a:p>
            <a:pPr algn="l" indent="0" marL="0">
              <a:lnSpc>
                <a:spcPts val="1680"/>
              </a:lnSpc>
              <a:buNone/>
            </a:pPr>
            <a:r>
              <a:rPr lang="en-US" sz="1000" b="1" dirty="0">
                <a:solidFill>
                  <a:srgbClr val="B68C2E"/>
                </a:solidFill>
                <a:latin typeface="Noto Sans JP" pitchFamily="34" charset="0"/>
                <a:ea typeface="Noto Sans JP" pitchFamily="34" charset="-122"/>
                <a:cs typeface="Noto Sans JP" pitchFamily="34" charset="-120"/>
              </a:rPr>
              <a:t>【予想】</a:t>
            </a:r>
            <a:pPr algn="l" indent="0" marL="0">
              <a:lnSpc>
                <a:spcPts val="1680"/>
              </a:lnSpc>
              <a:buNone/>
            </a:pPr>
            <a:r>
              <a:rPr lang="en-US" sz="1000" dirty="0">
                <a:solidFill>
                  <a:srgbClr val="5A6271"/>
                </a:solidFill>
                <a:latin typeface="Noto Sans JP" pitchFamily="34" charset="0"/>
                <a:ea typeface="Noto Sans JP" pitchFamily="34" charset="-122"/>
                <a:cs typeface="Noto Sans JP" pitchFamily="34" charset="-120"/>
              </a:rPr>
              <a:t>きれいに商品を棚に並べる</a:t>
            </a:r>
            <a:pPr algn="l" indent="0" marL="0">
              <a:lnSpc>
                <a:spcPts val="1680"/>
              </a:lnSpc>
              <a:buNone/>
            </a:pPr>
            <a:endParaRPr lang="en-US" sz="1000" dirty="0"/>
          </a:p>
          <a:p>
            <a:pPr algn="l" indent="0" marL="0">
              <a:lnSpc>
                <a:spcPts val="1680"/>
              </a:lnSpc>
              <a:buNone/>
            </a:pPr>
            <a:r>
              <a:rPr lang="en-US" sz="1000" b="1" dirty="0">
                <a:solidFill>
                  <a:srgbClr val="1F2A44"/>
                </a:solidFill>
                <a:latin typeface="Noto Sans JP" pitchFamily="34" charset="0"/>
                <a:ea typeface="Noto Sans JP" pitchFamily="34" charset="-122"/>
                <a:cs typeface="Noto Sans JP" pitchFamily="34" charset="-120"/>
              </a:rPr>
              <a:t>【発見】</a:t>
            </a:r>
            <a:pPr algn="l" indent="0" marL="0">
              <a:lnSpc>
                <a:spcPts val="1680"/>
              </a:lnSpc>
              <a:buNone/>
            </a:pPr>
            <a:r>
              <a:rPr lang="en-US" sz="1000" dirty="0">
                <a:solidFill>
                  <a:srgbClr val="5A6271"/>
                </a:solidFill>
                <a:latin typeface="Noto Sans JP" pitchFamily="34" charset="0"/>
                <a:ea typeface="Noto Sans JP" pitchFamily="34" charset="-122"/>
                <a:cs typeface="Noto Sans JP" pitchFamily="34" charset="-120"/>
              </a:rPr>
              <a:t>大きな丸魚をその場でおろし、店内の厨房で惣菜を夕方のピークに合わせ出来立てで調理する工夫</a:t>
            </a:r>
            <a:endParaRPr lang="en-US" sz="1000" dirty="0"/>
          </a:p>
        </p:txBody>
      </p:sp>
      <p:sp>
        <p:nvSpPr>
          <p:cNvPr id="22" name="Text 19"/>
          <p:cNvSpPr txBox="1"/>
          <p:nvPr/>
        </p:nvSpPr>
        <p:spPr>
          <a:xfrm>
            <a:off x="12668098" y="3810305"/>
            <a:ext cx="4381805" cy="181051"/>
          </a:xfrm>
          <a:prstGeom prst="rect">
            <a:avLst/>
          </a:prstGeom>
          <a:noFill/>
          <a:ln/>
        </p:spPr>
        <p:txBody>
          <a:bodyPr wrap="none" lIns="0" tIns="0" rIns="0" bIns="0" rtlCol="0" anchor="ctr"/>
          <a:lstStyle/>
          <a:p>
            <a:pPr algn="l" indent="0" marL="0">
              <a:buNone/>
            </a:pPr>
            <a:r>
              <a:rPr lang="en-US" sz="900" b="1" dirty="0">
                <a:solidFill>
                  <a:srgbClr val="B68C2E"/>
                </a:solidFill>
                <a:latin typeface="IBM Plex Mono" pitchFamily="34" charset="0"/>
                <a:ea typeface="IBM Plex Mono" pitchFamily="34" charset="-122"/>
                <a:cs typeface="IBM Plex Mono" pitchFamily="34" charset="-120"/>
              </a:rPr>
              <a:t>QUESTION 09 / 価値提供</a:t>
            </a:r>
            <a:endParaRPr lang="en-US" sz="900" dirty="0"/>
          </a:p>
        </p:txBody>
      </p:sp>
      <p:sp>
        <p:nvSpPr>
          <p:cNvPr id="23" name="Text 20"/>
          <p:cNvSpPr txBox="1"/>
          <p:nvPr/>
        </p:nvSpPr>
        <p:spPr>
          <a:xfrm>
            <a:off x="12668098" y="4067251"/>
            <a:ext cx="4381805" cy="381305"/>
          </a:xfrm>
          <a:prstGeom prst="rect">
            <a:avLst/>
          </a:prstGeom>
          <a:noFill/>
          <a:ln/>
        </p:spPr>
        <p:txBody>
          <a:bodyPr wrap="none" lIns="0" tIns="0" rIns="0" bIns="0" rtlCol="0" anchor="ctr"/>
          <a:lstStyle/>
          <a:p>
            <a:pPr algn="l" indent="0" marL="0">
              <a:buNone/>
            </a:pPr>
            <a:r>
              <a:rPr lang="en-US" sz="2100" b="1" dirty="0">
                <a:solidFill>
                  <a:srgbClr val="1F2A44"/>
                </a:solidFill>
                <a:latin typeface="Noto Serif JP" pitchFamily="34" charset="0"/>
                <a:ea typeface="Noto Serif JP" pitchFamily="34" charset="-122"/>
                <a:cs typeface="Noto Serif JP" pitchFamily="34" charset="-120"/>
              </a:rPr>
              <a:t>OUTPUT（誰を幸せにするか）</a:t>
            </a:r>
            <a:endParaRPr lang="en-US" sz="2100" dirty="0"/>
          </a:p>
        </p:txBody>
      </p:sp>
      <p:sp>
        <p:nvSpPr>
          <p:cNvPr id="24" name="Text 21"/>
          <p:cNvSpPr txBox="1"/>
          <p:nvPr/>
        </p:nvSpPr>
        <p:spPr>
          <a:xfrm>
            <a:off x="12668098" y="4638751"/>
            <a:ext cx="4381805" cy="553212"/>
          </a:xfrm>
          <a:prstGeom prst="rect">
            <a:avLst/>
          </a:prstGeom>
          <a:noFill/>
          <a:ln/>
        </p:spPr>
        <p:txBody>
          <a:bodyPr wrap="square" lIns="0" tIns="0" rIns="0" bIns="0" rtlCol="0" anchor="ctr"/>
          <a:lstStyle/>
          <a:p>
            <a:pPr algn="l" indent="0" marL="0">
              <a:buNone/>
            </a:pPr>
            <a:r>
              <a:rPr lang="en-US" sz="1200" dirty="0">
                <a:solidFill>
                  <a:srgbClr val="5A6271"/>
                </a:solidFill>
                <a:latin typeface="Noto Sans JP" pitchFamily="34" charset="0"/>
                <a:ea typeface="Noto Sans JP" pitchFamily="34" charset="-122"/>
                <a:cs typeface="Noto Sans JP" pitchFamily="34" charset="-120"/>
              </a:rPr>
              <a:t>加工された価値が、最終的に誰のどんな困りごとを解決するために届いているのか？顧客とベネフィットの関係性を定義。</a:t>
            </a:r>
            <a:endParaRPr lang="en-US" sz="1200" dirty="0"/>
          </a:p>
        </p:txBody>
      </p:sp>
      <p:sp>
        <p:nvSpPr>
          <p:cNvPr id="25" name="Shape 22"/>
          <p:cNvSpPr/>
          <p:nvPr/>
        </p:nvSpPr>
        <p:spPr>
          <a:xfrm>
            <a:off x="12668098" y="5472684"/>
            <a:ext cx="4381805" cy="9144"/>
          </a:xfrm>
          <a:prstGeom prst="rect">
            <a:avLst/>
          </a:prstGeom>
          <a:solidFill>
            <a:srgbClr val="B68C2E"/>
          </a:solidFill>
          <a:ln w="12700">
            <a:solidFill>
              <a:srgbClr val="B68C2E">
                <a:alpha val="0"/>
              </a:srgbClr>
            </a:solidFill>
            <a:prstDash val="solid"/>
          </a:ln>
        </p:spPr>
      </p:sp>
      <p:sp>
        <p:nvSpPr>
          <p:cNvPr id="26" name="Text 23"/>
          <p:cNvSpPr txBox="1"/>
          <p:nvPr/>
        </p:nvSpPr>
        <p:spPr>
          <a:xfrm>
            <a:off x="12668098" y="5615330"/>
            <a:ext cx="4381805" cy="191110"/>
          </a:xfrm>
          <a:prstGeom prst="rect">
            <a:avLst/>
          </a:prstGeom>
          <a:solidFill>
            <a:srgbClr val="FFFFFF">
              <a:alpha val="0"/>
            </a:srgbClr>
          </a:solidFill>
          <a:ln>
            <a:solidFill>
              <a:srgbClr val="FFFFFF">
                <a:alpha val="0"/>
              </a:srgbClr>
            </a:solidFill>
          </a:ln>
        </p:spPr>
        <p:txBody>
          <a:bodyPr wrap="none" lIns="139700" tIns="0" rIns="139700" bIns="139700" rtlCol="0" anchor="ctr"/>
          <a:lstStyle/>
          <a:p>
            <a:pPr algn="l" indent="0" marL="0">
              <a:buNone/>
            </a:pPr>
            <a:r>
              <a:rPr lang="en-US" sz="1000" b="1" dirty="0">
                <a:solidFill>
                  <a:srgbClr val="1F2A44"/>
                </a:solidFill>
                <a:latin typeface="Noto Sans JP" pitchFamily="34" charset="0"/>
                <a:ea typeface="Noto Sans JP" pitchFamily="34" charset="-122"/>
                <a:cs typeface="Noto Sans JP" pitchFamily="34" charset="-120"/>
              </a:rPr>
              <a:t>💡 事前予想 ➔ 事後発見のギャップの例</a:t>
            </a:r>
            <a:endParaRPr lang="en-US" sz="1000" dirty="0"/>
          </a:p>
        </p:txBody>
      </p:sp>
      <p:sp>
        <p:nvSpPr>
          <p:cNvPr id="27" name="Text 24"/>
          <p:cNvSpPr txBox="1"/>
          <p:nvPr/>
        </p:nvSpPr>
        <p:spPr>
          <a:xfrm>
            <a:off x="12668098" y="5855818"/>
            <a:ext cx="4381805" cy="674827"/>
          </a:xfrm>
          <a:prstGeom prst="rect">
            <a:avLst/>
          </a:prstGeom>
          <a:noFill/>
          <a:ln/>
        </p:spPr>
        <p:txBody>
          <a:bodyPr wrap="square" lIns="0" tIns="0" rIns="0" bIns="0" rtlCol="0" anchor="t"/>
          <a:lstStyle/>
          <a:p>
            <a:pPr algn="l" indent="0" marL="0">
              <a:lnSpc>
                <a:spcPts val="1680"/>
              </a:lnSpc>
              <a:buNone/>
            </a:pPr>
            <a:r>
              <a:rPr lang="en-US" sz="1000" b="1" dirty="0">
                <a:solidFill>
                  <a:srgbClr val="B68C2E"/>
                </a:solidFill>
                <a:latin typeface="Noto Sans JP" pitchFamily="34" charset="0"/>
                <a:ea typeface="Noto Sans JP" pitchFamily="34" charset="-122"/>
                <a:cs typeface="Noto Sans JP" pitchFamily="34" charset="-120"/>
              </a:rPr>
              <a:t>【予想】</a:t>
            </a:r>
            <a:pPr algn="l" indent="0" marL="0">
              <a:lnSpc>
                <a:spcPts val="1680"/>
              </a:lnSpc>
              <a:buNone/>
            </a:pPr>
            <a:r>
              <a:rPr lang="en-US" sz="1000" dirty="0">
                <a:solidFill>
                  <a:srgbClr val="5A6271"/>
                </a:solidFill>
                <a:latin typeface="Noto Sans JP" pitchFamily="34" charset="0"/>
                <a:ea typeface="Noto Sans JP" pitchFamily="34" charset="-122"/>
                <a:cs typeface="Noto Sans JP" pitchFamily="34" charset="-120"/>
              </a:rPr>
              <a:t>買い物に来る近所の人たち</a:t>
            </a:r>
            <a:pPr algn="l" indent="0" marL="0">
              <a:lnSpc>
                <a:spcPts val="1680"/>
              </a:lnSpc>
              <a:buNone/>
            </a:pPr>
            <a:endParaRPr lang="en-US" sz="1000" dirty="0"/>
          </a:p>
          <a:p>
            <a:pPr algn="l" indent="0" marL="0">
              <a:lnSpc>
                <a:spcPts val="1680"/>
              </a:lnSpc>
              <a:buNone/>
            </a:pPr>
            <a:r>
              <a:rPr lang="en-US" sz="1000" b="1" dirty="0">
                <a:solidFill>
                  <a:srgbClr val="1F2A44"/>
                </a:solidFill>
                <a:latin typeface="Noto Sans JP" pitchFamily="34" charset="0"/>
                <a:ea typeface="Noto Sans JP" pitchFamily="34" charset="-122"/>
                <a:cs typeface="Noto Sans JP" pitchFamily="34" charset="-120"/>
              </a:rPr>
              <a:t>【発見】</a:t>
            </a:r>
            <a:pPr algn="l" indent="0" marL="0">
              <a:lnSpc>
                <a:spcPts val="1680"/>
              </a:lnSpc>
              <a:buNone/>
            </a:pPr>
            <a:r>
              <a:rPr lang="en-US" sz="1000" dirty="0">
                <a:solidFill>
                  <a:srgbClr val="5A6271"/>
                </a:solidFill>
                <a:latin typeface="Noto Sans JP" pitchFamily="34" charset="0"/>
                <a:ea typeface="Noto Sans JP" pitchFamily="34" charset="-122"/>
                <a:cs typeface="Noto Sans JP" pitchFamily="34" charset="-120"/>
              </a:rPr>
              <a:t>共働き世帯の「時短で美味しい食卓」や、移動手段が少ない高齢者の「地域での買い物の楽しみ」を保障する</a:t>
            </a:r>
            <a:endParaRPr lang="en-US" sz="1000" dirty="0"/>
          </a:p>
        </p:txBody>
      </p:sp>
      <p:sp>
        <p:nvSpPr>
          <p:cNvPr id="28" name="Text 25"/>
          <p:cNvSpPr txBox="1"/>
          <p:nvPr/>
        </p:nvSpPr>
        <p:spPr>
          <a:xfrm>
            <a:off x="1143000" y="2619756"/>
            <a:ext cx="16002000" cy="228600"/>
          </a:xfrm>
          <a:prstGeom prst="rect">
            <a:avLst/>
          </a:prstGeom>
          <a:noFill/>
          <a:ln/>
        </p:spPr>
        <p:txBody>
          <a:bodyPr wrap="none" lIns="0" tIns="0" rIns="0" bIns="0" rtlCol="0" anchor="ctr"/>
          <a:lstStyle/>
          <a:p>
            <a:pPr algn="l" indent="0" marL="0">
              <a:buNone/>
            </a:pPr>
            <a:r>
              <a:rPr lang="en-US" sz="1200" b="1" dirty="0">
                <a:solidFill>
                  <a:srgbClr val="B68C2E"/>
                </a:solidFill>
                <a:latin typeface="IBM Plex Mono" pitchFamily="34" charset="0"/>
                <a:ea typeface="IBM Plex Mono" pitchFamily="34" charset="-122"/>
                <a:cs typeface="IBM Plex Mono" pitchFamily="34" charset="-120"/>
              </a:rPr>
              <a:t>QUESTION 06 · 存在意義</a:t>
            </a:r>
            <a:pPr algn="l" indent="0" marL="0">
              <a:buNone/>
            </a:pPr>
            <a:r>
              <a:rPr lang="en-US" sz="1200" dirty="0">
                <a:solidFill>
                  <a:srgbClr val="FFFFFF"/>
                </a:solidFill>
                <a:latin typeface="Noto Sans JP" pitchFamily="34" charset="0"/>
                <a:ea typeface="Noto Sans JP" pitchFamily="34" charset="-122"/>
                <a:cs typeface="Noto Sans JP" pitchFamily="34" charset="-120"/>
              </a:rPr>
              <a:t> 「だれのため、何のためにこの組織は存在するのか？」という企業の究極のミッションを、このINPUT ➔ PROCESS ➔ OUTPUTの繋がりから導き出します。</a:t>
            </a:r>
            <a:endParaRPr lang="en-US" sz="1200" dirty="0"/>
          </a:p>
        </p:txBody>
      </p:sp>
      <p:sp>
        <p:nvSpPr>
          <p:cNvPr id="29" name="Text 26"/>
          <p:cNvSpPr txBox="1"/>
          <p:nvPr/>
        </p:nvSpPr>
        <p:spPr>
          <a:xfrm>
            <a:off x="857707" y="9620402"/>
            <a:ext cx="16573500" cy="133502"/>
          </a:xfrm>
          <a:prstGeom prst="rect">
            <a:avLst/>
          </a:prstGeom>
          <a:noFill/>
          <a:ln/>
        </p:spPr>
        <p:txBody>
          <a:bodyPr wrap="none" lIns="0" tIns="0" rIns="0" bIns="0" rtlCol="0" anchor="ctr"/>
          <a:lstStyle/>
          <a:p>
            <a:pPr algn="r" indent="0" marL="0">
              <a:buNone/>
            </a:pPr>
            <a:r>
              <a:rPr lang="en-US" sz="800" spc="99" kern="0" dirty="0">
                <a:solidFill>
                  <a:srgbClr val="A4ABB8"/>
                </a:solidFill>
                <a:latin typeface="IBM Plex Mono" pitchFamily="34" charset="0"/>
                <a:ea typeface="IBM Plex Mono" pitchFamily="34" charset="-122"/>
                <a:cs typeface="IBM Plex Mono" pitchFamily="34" charset="-120"/>
              </a:rPr>
              <a:t>CONFIDENTIAL · INTERNSHIP DISSECTION BRIEF · PAGE 04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gen-dedup-97fba22e14047e916a72d45c364dea0f.png">    </p:cNvPr>
          <p:cNvPicPr>
            <a:picLocks noChangeAspect="1"/>
          </p:cNvPicPr>
          <p:nvPr/>
        </p:nvPicPr>
        <p:blipFill>
          <a:blip r:embed="rId1"/>
          <a:srcRect l="0" r="0" t="-400" b="-400"/>
          <a:stretch/>
        </p:blipFill>
        <p:spPr>
          <a:xfrm>
            <a:off x="857707" y="1571854"/>
            <a:ext cx="16573500" cy="19202"/>
          </a:xfrm>
          <a:prstGeom prst="rect">
            <a:avLst/>
          </a:prstGeom>
        </p:spPr>
      </p:pic>
      <p:sp>
        <p:nvSpPr>
          <p:cNvPr id="3" name="Shape 0"/>
          <p:cNvSpPr/>
          <p:nvPr/>
        </p:nvSpPr>
        <p:spPr>
          <a:xfrm>
            <a:off x="857707" y="2000707"/>
            <a:ext cx="7810805" cy="3238805"/>
          </a:xfrm>
          <a:prstGeom prst="roundRect">
            <a:avLst>
              <a:gd name="adj" fmla="val 1779"/>
            </a:avLst>
          </a:prstGeom>
          <a:solidFill>
            <a:srgbClr val="F4F6FA"/>
          </a:solidFill>
          <a:ln w="12700">
            <a:solidFill>
              <a:srgbClr val="FFFFFF">
                <a:alpha val="0"/>
              </a:srgbClr>
            </a:solidFill>
            <a:prstDash val="solid"/>
          </a:ln>
        </p:spPr>
      </p:sp>
      <p:sp>
        <p:nvSpPr>
          <p:cNvPr id="4" name="Shape 1"/>
          <p:cNvSpPr/>
          <p:nvPr/>
        </p:nvSpPr>
        <p:spPr>
          <a:xfrm>
            <a:off x="9620402" y="2000707"/>
            <a:ext cx="7810805" cy="3238805"/>
          </a:xfrm>
          <a:prstGeom prst="roundRect">
            <a:avLst>
              <a:gd name="adj" fmla="val 1779"/>
            </a:avLst>
          </a:prstGeom>
          <a:solidFill>
            <a:srgbClr val="F4F6FA"/>
          </a:solidFill>
          <a:ln w="12700">
            <a:solidFill>
              <a:srgbClr val="FFFFFF">
                <a:alpha val="0"/>
              </a:srgbClr>
            </a:solidFill>
            <a:prstDash val="solid"/>
          </a:ln>
        </p:spPr>
      </p:sp>
      <p:sp>
        <p:nvSpPr>
          <p:cNvPr id="5" name="Shape 2"/>
          <p:cNvSpPr/>
          <p:nvPr/>
        </p:nvSpPr>
        <p:spPr>
          <a:xfrm>
            <a:off x="857707" y="5619902"/>
            <a:ext cx="7810805" cy="3238805"/>
          </a:xfrm>
          <a:prstGeom prst="roundRect">
            <a:avLst>
              <a:gd name="adj" fmla="val 1779"/>
            </a:avLst>
          </a:prstGeom>
          <a:solidFill>
            <a:srgbClr val="F4F6FA"/>
          </a:solidFill>
          <a:ln w="12700">
            <a:solidFill>
              <a:srgbClr val="FFFFFF">
                <a:alpha val="0"/>
              </a:srgbClr>
            </a:solidFill>
            <a:prstDash val="solid"/>
          </a:ln>
        </p:spPr>
      </p:sp>
      <p:sp>
        <p:nvSpPr>
          <p:cNvPr id="6" name="Shape 3"/>
          <p:cNvSpPr/>
          <p:nvPr/>
        </p:nvSpPr>
        <p:spPr>
          <a:xfrm>
            <a:off x="9620402" y="5619902"/>
            <a:ext cx="7810805" cy="3238805"/>
          </a:xfrm>
          <a:prstGeom prst="roundRect">
            <a:avLst>
              <a:gd name="adj" fmla="val 1779"/>
            </a:avLst>
          </a:prstGeom>
          <a:solidFill>
            <a:srgbClr val="1F2A44"/>
          </a:solidFill>
          <a:ln w="12700">
            <a:solidFill>
              <a:srgbClr val="FFFFFF">
                <a:alpha val="0"/>
              </a:srgbClr>
            </a:solidFill>
            <a:prstDash val="solid"/>
          </a:ln>
        </p:spPr>
      </p:sp>
      <p:sp>
        <p:nvSpPr>
          <p:cNvPr id="7" name="Text 4"/>
          <p:cNvSpPr txBox="1"/>
          <p:nvPr/>
        </p:nvSpPr>
        <p:spPr>
          <a:xfrm>
            <a:off x="857707" y="571500"/>
            <a:ext cx="16573500" cy="171907"/>
          </a:xfrm>
          <a:prstGeom prst="rect">
            <a:avLst/>
          </a:prstGeom>
          <a:noFill/>
          <a:ln/>
        </p:spPr>
        <p:txBody>
          <a:bodyPr wrap="none" lIns="0" tIns="0" rIns="0" bIns="0" rtlCol="0" anchor="ctr"/>
          <a:lstStyle/>
          <a:p>
            <a:pPr algn="l" indent="0" marL="0">
              <a:buNone/>
            </a:pPr>
            <a:r>
              <a:rPr lang="en-US" sz="1000" spc="210" kern="0" dirty="0">
                <a:solidFill>
                  <a:srgbClr val="B68C2E"/>
                </a:solidFill>
                <a:latin typeface="IBM Plex Mono" pitchFamily="34" charset="0"/>
                <a:ea typeface="IBM Plex Mono" pitchFamily="34" charset="-122"/>
                <a:cs typeface="IBM Plex Mono" pitchFamily="34" charset="-120"/>
              </a:rPr>
              <a:t>CATEGORY 02 (PART 2) // BUSINESS OPERATIONS &amp; FINANCE</a:t>
            </a:r>
            <a:endParaRPr lang="en-US" sz="1000" dirty="0"/>
          </a:p>
        </p:txBody>
      </p:sp>
      <p:sp>
        <p:nvSpPr>
          <p:cNvPr id="8" name="Text 5"/>
          <p:cNvSpPr txBox="1"/>
          <p:nvPr/>
        </p:nvSpPr>
        <p:spPr>
          <a:xfrm>
            <a:off x="857707" y="905256"/>
            <a:ext cx="16573500" cy="571500"/>
          </a:xfrm>
          <a:prstGeom prst="rect">
            <a:avLst/>
          </a:prstGeom>
          <a:noFill/>
          <a:ln/>
        </p:spPr>
        <p:txBody>
          <a:bodyPr wrap="none" lIns="0" tIns="0" rIns="0" bIns="0" rtlCol="0" anchor="ctr"/>
          <a:lstStyle/>
          <a:p>
            <a:pPr algn="l" indent="0" marL="0">
              <a:buNone/>
            </a:pPr>
            <a:r>
              <a:rPr lang="en-US" sz="3100" b="1" dirty="0">
                <a:solidFill>
                  <a:srgbClr val="1F2A44"/>
                </a:solidFill>
                <a:latin typeface="Noto Serif JP" pitchFamily="34" charset="0"/>
                <a:ea typeface="Noto Serif JP" pitchFamily="34" charset="-122"/>
                <a:cs typeface="Noto Serif JP" pitchFamily="34" charset="-120"/>
              </a:rPr>
              <a:t>【事業運営・後編】組織の持続可能性と強みを解き明かす</a:t>
            </a:r>
            <a:endParaRPr lang="en-US" sz="3100" dirty="0"/>
          </a:p>
        </p:txBody>
      </p:sp>
      <p:sp>
        <p:nvSpPr>
          <p:cNvPr id="9" name="Text 6"/>
          <p:cNvSpPr txBox="1"/>
          <p:nvPr/>
        </p:nvSpPr>
        <p:spPr>
          <a:xfrm>
            <a:off x="1238098" y="2286000"/>
            <a:ext cx="7049110" cy="162763"/>
          </a:xfrm>
          <a:prstGeom prst="rect">
            <a:avLst/>
          </a:prstGeom>
          <a:noFill/>
          <a:ln/>
        </p:spPr>
        <p:txBody>
          <a:bodyPr wrap="none" lIns="0" tIns="0" rIns="0" bIns="0" rtlCol="0" anchor="ctr"/>
          <a:lstStyle/>
          <a:p>
            <a:pPr algn="l" indent="0" marL="0">
              <a:buNone/>
            </a:pPr>
            <a:r>
              <a:rPr lang="en-US" sz="900" b="1" dirty="0">
                <a:solidFill>
                  <a:srgbClr val="B68C2E"/>
                </a:solidFill>
                <a:latin typeface="IBM Plex Mono" pitchFamily="34" charset="0"/>
                <a:ea typeface="IBM Plex Mono" pitchFamily="34" charset="-122"/>
                <a:cs typeface="IBM Plex Mono" pitchFamily="34" charset="-120"/>
              </a:rPr>
              <a:t>QUESTION 10 · POST-PHASE</a:t>
            </a:r>
            <a:endParaRPr lang="en-US" sz="900" dirty="0"/>
          </a:p>
        </p:txBody>
      </p:sp>
      <p:sp>
        <p:nvSpPr>
          <p:cNvPr id="10" name="Text 7"/>
          <p:cNvSpPr txBox="1"/>
          <p:nvPr/>
        </p:nvSpPr>
        <p:spPr>
          <a:xfrm>
            <a:off x="1238098" y="2523744"/>
            <a:ext cx="7049110" cy="333756"/>
          </a:xfrm>
          <a:prstGeom prst="rect">
            <a:avLst/>
          </a:prstGeom>
          <a:noFill/>
          <a:ln/>
        </p:spPr>
        <p:txBody>
          <a:bodyPr wrap="none" lIns="0" tIns="0" rIns="0" bIns="0" rtlCol="0" anchor="ctr"/>
          <a:lstStyle/>
          <a:p>
            <a:pPr algn="l" indent="0" marL="0">
              <a:buNone/>
            </a:pPr>
            <a:r>
              <a:rPr lang="en-US" sz="1800" b="1" dirty="0">
                <a:solidFill>
                  <a:srgbClr val="1F2A44"/>
                </a:solidFill>
                <a:latin typeface="Noto Serif JP" pitchFamily="34" charset="0"/>
                <a:ea typeface="Noto Serif JP" pitchFamily="34" charset="-122"/>
                <a:cs typeface="Noto Serif JP" pitchFamily="34" charset="-120"/>
              </a:rPr>
              <a:t>ライバル（競合）と「独自の強み」</a:t>
            </a:r>
            <a:endParaRPr lang="en-US" sz="1800" dirty="0"/>
          </a:p>
        </p:txBody>
      </p:sp>
      <p:sp>
        <p:nvSpPr>
          <p:cNvPr id="11" name="Text 8"/>
          <p:cNvSpPr txBox="1"/>
          <p:nvPr/>
        </p:nvSpPr>
        <p:spPr>
          <a:xfrm>
            <a:off x="1238098" y="2991002"/>
            <a:ext cx="7049110" cy="486461"/>
          </a:xfrm>
          <a:prstGeom prst="rect">
            <a:avLst/>
          </a:prstGeom>
          <a:noFill/>
          <a:ln/>
        </p:spPr>
        <p:txBody>
          <a:bodyPr wrap="square" lIns="0" tIns="0" rIns="0" bIns="0" rtlCol="0" anchor="ctr"/>
          <a:lstStyle/>
          <a:p>
            <a:pPr algn="l" indent="0" marL="0">
              <a:buNone/>
            </a:pPr>
            <a:r>
              <a:rPr lang="en-US" sz="1100" dirty="0">
                <a:solidFill>
                  <a:srgbClr val="5A6271"/>
                </a:solidFill>
                <a:latin typeface="Noto Sans JP" pitchFamily="34" charset="0"/>
                <a:ea typeface="Noto Sans JP" pitchFamily="34" charset="-122"/>
                <a:cs typeface="Noto Sans JP" pitchFamily="34" charset="-120"/>
              </a:rPr>
              <a:t>社員さんに直接インタビューすることで発見する「自社ならではの武器」。競合（大型チェーン店、ネット通販など）との比較から、なぜお客様に選ばれているかを浮き彫りにします。</a:t>
            </a:r>
            <a:endParaRPr lang="en-US" sz="1100" dirty="0"/>
          </a:p>
        </p:txBody>
      </p:sp>
      <p:sp>
        <p:nvSpPr>
          <p:cNvPr id="12" name="Shape 9"/>
          <p:cNvSpPr/>
          <p:nvPr/>
        </p:nvSpPr>
        <p:spPr>
          <a:xfrm>
            <a:off x="1238098" y="3610051"/>
            <a:ext cx="7048195" cy="9144"/>
          </a:xfrm>
          <a:prstGeom prst="rect">
            <a:avLst/>
          </a:prstGeom>
          <a:solidFill>
            <a:srgbClr val="B68C2E"/>
          </a:solidFill>
          <a:ln w="12700">
            <a:solidFill>
              <a:srgbClr val="B68C2E">
                <a:alpha val="0"/>
              </a:srgbClr>
            </a:solidFill>
            <a:prstDash val="solid"/>
          </a:ln>
        </p:spPr>
      </p:sp>
      <p:sp>
        <p:nvSpPr>
          <p:cNvPr id="13" name="Text 10"/>
          <p:cNvSpPr txBox="1"/>
          <p:nvPr/>
        </p:nvSpPr>
        <p:spPr>
          <a:xfrm>
            <a:off x="1238098" y="3695090"/>
            <a:ext cx="7049110" cy="181966"/>
          </a:xfrm>
          <a:prstGeom prst="rect">
            <a:avLst/>
          </a:prstGeom>
          <a:solidFill>
            <a:srgbClr val="FFFFFF">
              <a:alpha val="0"/>
            </a:srgbClr>
          </a:solidFill>
          <a:ln>
            <a:solidFill>
              <a:srgbClr val="FFFFFF">
                <a:alpha val="0"/>
              </a:srgbClr>
            </a:solidFill>
          </a:ln>
        </p:spPr>
        <p:txBody>
          <a:bodyPr wrap="none" lIns="76200" tIns="0" rIns="76200" bIns="76200" rtlCol="0" anchor="ctr"/>
          <a:lstStyle/>
          <a:p>
            <a:pPr algn="l" indent="0" marL="0">
              <a:buNone/>
            </a:pPr>
            <a:r>
              <a:rPr lang="en-US" sz="900" b="1" dirty="0">
                <a:solidFill>
                  <a:srgbClr val="1F2A44"/>
                </a:solidFill>
                <a:latin typeface="Noto Sans JP" pitchFamily="34" charset="0"/>
                <a:ea typeface="Noto Sans JP" pitchFamily="34" charset="-122"/>
                <a:cs typeface="Noto Sans JP" pitchFamily="34" charset="-120"/>
              </a:rPr>
              <a:t>💡 マルヤの例 ➔ 「地元農家との顔が見える関係と、小回りが利く個別の仕入れ対応力」</a:t>
            </a:r>
            <a:endParaRPr lang="en-US" sz="900" dirty="0"/>
          </a:p>
        </p:txBody>
      </p:sp>
      <p:sp>
        <p:nvSpPr>
          <p:cNvPr id="14" name="Text 11"/>
          <p:cNvSpPr txBox="1"/>
          <p:nvPr/>
        </p:nvSpPr>
        <p:spPr>
          <a:xfrm>
            <a:off x="10001707" y="2286000"/>
            <a:ext cx="7049110" cy="162763"/>
          </a:xfrm>
          <a:prstGeom prst="rect">
            <a:avLst/>
          </a:prstGeom>
          <a:noFill/>
          <a:ln/>
        </p:spPr>
        <p:txBody>
          <a:bodyPr wrap="none" lIns="0" tIns="0" rIns="0" bIns="0" rtlCol="0" anchor="ctr"/>
          <a:lstStyle/>
          <a:p>
            <a:pPr algn="l" indent="0" marL="0">
              <a:buNone/>
            </a:pPr>
            <a:r>
              <a:rPr lang="en-US" sz="900" b="1" dirty="0">
                <a:solidFill>
                  <a:srgbClr val="B68C2E"/>
                </a:solidFill>
                <a:latin typeface="IBM Plex Mono" pitchFamily="34" charset="0"/>
                <a:ea typeface="IBM Plex Mono" pitchFamily="34" charset="-122"/>
                <a:cs typeface="IBM Plex Mono" pitchFamily="34" charset="-120"/>
              </a:rPr>
              <a:t>QUESTION 11 · POST-PHASE</a:t>
            </a:r>
            <a:endParaRPr lang="en-US" sz="900" dirty="0"/>
          </a:p>
        </p:txBody>
      </p:sp>
      <p:sp>
        <p:nvSpPr>
          <p:cNvPr id="15" name="Text 12"/>
          <p:cNvSpPr txBox="1"/>
          <p:nvPr/>
        </p:nvSpPr>
        <p:spPr>
          <a:xfrm>
            <a:off x="10001707" y="2523744"/>
            <a:ext cx="7049110" cy="333756"/>
          </a:xfrm>
          <a:prstGeom prst="rect">
            <a:avLst/>
          </a:prstGeom>
          <a:noFill/>
          <a:ln/>
        </p:spPr>
        <p:txBody>
          <a:bodyPr wrap="none" lIns="0" tIns="0" rIns="0" bIns="0" rtlCol="0" anchor="ctr"/>
          <a:lstStyle/>
          <a:p>
            <a:pPr algn="l" indent="0" marL="0">
              <a:buNone/>
            </a:pPr>
            <a:r>
              <a:rPr lang="en-US" sz="1800" b="1" dirty="0">
                <a:solidFill>
                  <a:srgbClr val="1F2A44"/>
                </a:solidFill>
                <a:latin typeface="Noto Serif JP" pitchFamily="34" charset="0"/>
                <a:ea typeface="Noto Serif JP" pitchFamily="34" charset="-122"/>
                <a:cs typeface="Noto Serif JP" pitchFamily="34" charset="-120"/>
              </a:rPr>
              <a:t>資金調達と活動コストの構造</a:t>
            </a:r>
            <a:endParaRPr lang="en-US" sz="1800" dirty="0"/>
          </a:p>
        </p:txBody>
      </p:sp>
      <p:sp>
        <p:nvSpPr>
          <p:cNvPr id="16" name="Text 13"/>
          <p:cNvSpPr txBox="1"/>
          <p:nvPr/>
        </p:nvSpPr>
        <p:spPr>
          <a:xfrm>
            <a:off x="10001707" y="2991002"/>
            <a:ext cx="7049110" cy="486461"/>
          </a:xfrm>
          <a:prstGeom prst="rect">
            <a:avLst/>
          </a:prstGeom>
          <a:noFill/>
          <a:ln/>
        </p:spPr>
        <p:txBody>
          <a:bodyPr wrap="square" lIns="0" tIns="0" rIns="0" bIns="0" rtlCol="0" anchor="ctr"/>
          <a:lstStyle/>
          <a:p>
            <a:pPr algn="l" indent="0" marL="0">
              <a:buNone/>
            </a:pPr>
            <a:r>
              <a:rPr lang="en-US" sz="1100" dirty="0">
                <a:solidFill>
                  <a:srgbClr val="5A6271"/>
                </a:solidFill>
                <a:latin typeface="Noto Sans JP" pitchFamily="34" charset="0"/>
                <a:ea typeface="Noto Sans JP" pitchFamily="34" charset="-122"/>
                <a:cs typeface="Noto Sans JP" pitchFamily="34" charset="-120"/>
              </a:rPr>
              <a:t>活動を継続するためにお金（売上・予算）をどこから集め、何（仕入れ費、人件費、光熱費、家賃など）に支払っているか。ビジネスの「経済的持続可能性」への理解を促します。</a:t>
            </a:r>
            <a:endParaRPr lang="en-US" sz="1100" dirty="0"/>
          </a:p>
        </p:txBody>
      </p:sp>
      <p:sp>
        <p:nvSpPr>
          <p:cNvPr id="17" name="Shape 14"/>
          <p:cNvSpPr/>
          <p:nvPr/>
        </p:nvSpPr>
        <p:spPr>
          <a:xfrm>
            <a:off x="10001707" y="3610051"/>
            <a:ext cx="7048195" cy="9144"/>
          </a:xfrm>
          <a:prstGeom prst="rect">
            <a:avLst/>
          </a:prstGeom>
          <a:solidFill>
            <a:srgbClr val="B68C2E"/>
          </a:solidFill>
          <a:ln w="12700">
            <a:solidFill>
              <a:srgbClr val="B68C2E">
                <a:alpha val="0"/>
              </a:srgbClr>
            </a:solidFill>
            <a:prstDash val="solid"/>
          </a:ln>
        </p:spPr>
      </p:sp>
      <p:sp>
        <p:nvSpPr>
          <p:cNvPr id="18" name="Text 15"/>
          <p:cNvSpPr txBox="1"/>
          <p:nvPr/>
        </p:nvSpPr>
        <p:spPr>
          <a:xfrm>
            <a:off x="10001707" y="3695090"/>
            <a:ext cx="7049110" cy="181966"/>
          </a:xfrm>
          <a:prstGeom prst="rect">
            <a:avLst/>
          </a:prstGeom>
          <a:solidFill>
            <a:srgbClr val="FFFFFF">
              <a:alpha val="0"/>
            </a:srgbClr>
          </a:solidFill>
          <a:ln>
            <a:solidFill>
              <a:srgbClr val="FFFFFF">
                <a:alpha val="0"/>
              </a:srgbClr>
            </a:solidFill>
          </a:ln>
        </p:spPr>
        <p:txBody>
          <a:bodyPr wrap="none" lIns="76200" tIns="0" rIns="76200" bIns="76200" rtlCol="0" anchor="ctr"/>
          <a:lstStyle/>
          <a:p>
            <a:pPr algn="l" indent="0" marL="0">
              <a:buNone/>
            </a:pPr>
            <a:r>
              <a:rPr lang="en-US" sz="900" b="1" dirty="0">
                <a:solidFill>
                  <a:srgbClr val="1F2A44"/>
                </a:solidFill>
                <a:latin typeface="Noto Sans JP" pitchFamily="34" charset="0"/>
                <a:ea typeface="Noto Sans JP" pitchFamily="34" charset="-122"/>
                <a:cs typeface="Noto Sans JP" pitchFamily="34" charset="-120"/>
              </a:rPr>
              <a:t>💡 マルヤの例 ➔ 主な売上：「毎日の一般食品販売」／ 主なコスト：「商品の仕入れ費」と「電気代・人件費」</a:t>
            </a:r>
            <a:endParaRPr lang="en-US" sz="900" dirty="0"/>
          </a:p>
        </p:txBody>
      </p:sp>
      <p:sp>
        <p:nvSpPr>
          <p:cNvPr id="19" name="Text 16"/>
          <p:cNvSpPr txBox="1"/>
          <p:nvPr/>
        </p:nvSpPr>
        <p:spPr>
          <a:xfrm>
            <a:off x="1238098" y="5905195"/>
            <a:ext cx="7049110" cy="162763"/>
          </a:xfrm>
          <a:prstGeom prst="rect">
            <a:avLst/>
          </a:prstGeom>
          <a:noFill/>
          <a:ln/>
        </p:spPr>
        <p:txBody>
          <a:bodyPr wrap="none" lIns="0" tIns="0" rIns="0" bIns="0" rtlCol="0" anchor="ctr"/>
          <a:lstStyle/>
          <a:p>
            <a:pPr algn="l" indent="0" marL="0">
              <a:buNone/>
            </a:pPr>
            <a:r>
              <a:rPr lang="en-US" sz="900" b="1" dirty="0">
                <a:solidFill>
                  <a:srgbClr val="B68C2E"/>
                </a:solidFill>
                <a:latin typeface="IBM Plex Mono" pitchFamily="34" charset="0"/>
                <a:ea typeface="IBM Plex Mono" pitchFamily="34" charset="-122"/>
                <a:cs typeface="IBM Plex Mono" pitchFamily="34" charset="-120"/>
              </a:rPr>
              <a:t>QUESTION 12 · HYBRID PHASE</a:t>
            </a:r>
            <a:endParaRPr lang="en-US" sz="900" dirty="0"/>
          </a:p>
        </p:txBody>
      </p:sp>
      <p:sp>
        <p:nvSpPr>
          <p:cNvPr id="20" name="Text 17"/>
          <p:cNvSpPr txBox="1"/>
          <p:nvPr/>
        </p:nvSpPr>
        <p:spPr>
          <a:xfrm>
            <a:off x="1238098" y="6143854"/>
            <a:ext cx="7049110" cy="333756"/>
          </a:xfrm>
          <a:prstGeom prst="rect">
            <a:avLst/>
          </a:prstGeom>
          <a:noFill/>
          <a:ln/>
        </p:spPr>
        <p:txBody>
          <a:bodyPr wrap="none" lIns="0" tIns="0" rIns="0" bIns="0" rtlCol="0" anchor="ctr"/>
          <a:lstStyle/>
          <a:p>
            <a:pPr algn="l" indent="0" marL="0">
              <a:buNone/>
            </a:pPr>
            <a:r>
              <a:rPr lang="en-US" sz="1800" b="1" dirty="0">
                <a:solidFill>
                  <a:srgbClr val="1F2A44"/>
                </a:solidFill>
                <a:latin typeface="Noto Serif JP" pitchFamily="34" charset="0"/>
                <a:ea typeface="Noto Serif JP" pitchFamily="34" charset="-122"/>
                <a:cs typeface="Noto Serif JP" pitchFamily="34" charset="-120"/>
              </a:rPr>
              <a:t>ゆずれない絶対ルール（規制・制約）</a:t>
            </a:r>
            <a:endParaRPr lang="en-US" sz="1800" dirty="0"/>
          </a:p>
        </p:txBody>
      </p:sp>
      <p:sp>
        <p:nvSpPr>
          <p:cNvPr id="21" name="Text 18"/>
          <p:cNvSpPr txBox="1"/>
          <p:nvPr/>
        </p:nvSpPr>
        <p:spPr>
          <a:xfrm>
            <a:off x="1238098" y="6610198"/>
            <a:ext cx="7049110" cy="486461"/>
          </a:xfrm>
          <a:prstGeom prst="rect">
            <a:avLst/>
          </a:prstGeom>
          <a:noFill/>
          <a:ln/>
        </p:spPr>
        <p:txBody>
          <a:bodyPr wrap="square" lIns="0" tIns="0" rIns="0" bIns="0" rtlCol="0" anchor="ctr"/>
          <a:lstStyle/>
          <a:p>
            <a:pPr algn="l" indent="0" marL="0">
              <a:buNone/>
            </a:pPr>
            <a:r>
              <a:rPr lang="en-US" sz="1100" dirty="0">
                <a:solidFill>
                  <a:srgbClr val="5A6271"/>
                </a:solidFill>
                <a:latin typeface="Noto Sans JP" pitchFamily="34" charset="0"/>
                <a:ea typeface="Noto Sans JP" pitchFamily="34" charset="-122"/>
                <a:cs typeface="Noto Sans JP" pitchFamily="34" charset="-120"/>
              </a:rPr>
              <a:t>組織が信頼性を保ち、絶対に破ってはいけない法律やガイドラインを学びます。「自由に何でもやっていいわけではない」という、社会的な責任を生徒が実感するための極めて重要な項目です。</a:t>
            </a:r>
            <a:endParaRPr lang="en-US" sz="1100" dirty="0"/>
          </a:p>
        </p:txBody>
      </p:sp>
      <p:sp>
        <p:nvSpPr>
          <p:cNvPr id="22" name="Shape 19"/>
          <p:cNvSpPr/>
          <p:nvPr/>
        </p:nvSpPr>
        <p:spPr>
          <a:xfrm>
            <a:off x="1238098" y="7229246"/>
            <a:ext cx="7048195" cy="9144"/>
          </a:xfrm>
          <a:prstGeom prst="rect">
            <a:avLst/>
          </a:prstGeom>
          <a:solidFill>
            <a:srgbClr val="B68C2E"/>
          </a:solidFill>
          <a:ln w="12700">
            <a:solidFill>
              <a:srgbClr val="B68C2E">
                <a:alpha val="0"/>
              </a:srgbClr>
            </a:solidFill>
            <a:prstDash val="solid"/>
          </a:ln>
        </p:spPr>
      </p:sp>
      <p:sp>
        <p:nvSpPr>
          <p:cNvPr id="23" name="Text 20"/>
          <p:cNvSpPr txBox="1"/>
          <p:nvPr/>
        </p:nvSpPr>
        <p:spPr>
          <a:xfrm>
            <a:off x="1238098" y="7314286"/>
            <a:ext cx="7049110" cy="181966"/>
          </a:xfrm>
          <a:prstGeom prst="rect">
            <a:avLst/>
          </a:prstGeom>
          <a:solidFill>
            <a:srgbClr val="FFFFFF">
              <a:alpha val="0"/>
            </a:srgbClr>
          </a:solidFill>
          <a:ln>
            <a:solidFill>
              <a:srgbClr val="FFFFFF">
                <a:alpha val="0"/>
              </a:srgbClr>
            </a:solidFill>
          </a:ln>
        </p:spPr>
        <p:txBody>
          <a:bodyPr wrap="none" lIns="76200" tIns="0" rIns="76200" bIns="76200" rtlCol="0" anchor="ctr"/>
          <a:lstStyle/>
          <a:p>
            <a:pPr algn="l" indent="0" marL="0">
              <a:buNone/>
            </a:pPr>
            <a:r>
              <a:rPr lang="en-US" sz="900" b="1" dirty="0">
                <a:solidFill>
                  <a:srgbClr val="1F2A44"/>
                </a:solidFill>
                <a:latin typeface="Noto Sans JP" pitchFamily="34" charset="0"/>
                <a:ea typeface="Noto Sans JP" pitchFamily="34" charset="-122"/>
                <a:cs typeface="Noto Sans JP" pitchFamily="34" charset="-120"/>
              </a:rPr>
              <a:t>💡 マルヤの例 ➔ 「食品衛生法、HACCP基準（徹底した衛生・温度管理と、手洗いの絶対ルール）」</a:t>
            </a:r>
            <a:endParaRPr lang="en-US" sz="900" dirty="0"/>
          </a:p>
        </p:txBody>
      </p:sp>
      <p:sp>
        <p:nvSpPr>
          <p:cNvPr id="24" name="Text 21"/>
          <p:cNvSpPr txBox="1"/>
          <p:nvPr/>
        </p:nvSpPr>
        <p:spPr>
          <a:xfrm>
            <a:off x="10001707" y="5905195"/>
            <a:ext cx="7049110" cy="162763"/>
          </a:xfrm>
          <a:prstGeom prst="rect">
            <a:avLst/>
          </a:prstGeom>
          <a:noFill/>
          <a:ln/>
        </p:spPr>
        <p:txBody>
          <a:bodyPr wrap="none" lIns="0" tIns="0" rIns="0" bIns="0" rtlCol="0" anchor="ctr"/>
          <a:lstStyle/>
          <a:p>
            <a:pPr algn="l" indent="0" marL="0">
              <a:buNone/>
            </a:pPr>
            <a:r>
              <a:rPr lang="en-US" sz="900" b="1" dirty="0">
                <a:solidFill>
                  <a:srgbClr val="B68C2E"/>
                </a:solidFill>
                <a:latin typeface="IBM Plex Mono" pitchFamily="34" charset="0"/>
                <a:ea typeface="IBM Plex Mono" pitchFamily="34" charset="-122"/>
                <a:cs typeface="IBM Plex Mono" pitchFamily="34" charset="-120"/>
              </a:rPr>
              <a:t>QUESTION 13 · HYBRID PHASE</a:t>
            </a:r>
            <a:endParaRPr lang="en-US" sz="900" dirty="0"/>
          </a:p>
        </p:txBody>
      </p:sp>
      <p:sp>
        <p:nvSpPr>
          <p:cNvPr id="25" name="Text 22"/>
          <p:cNvSpPr txBox="1"/>
          <p:nvPr/>
        </p:nvSpPr>
        <p:spPr>
          <a:xfrm>
            <a:off x="10001707" y="6143854"/>
            <a:ext cx="7049110" cy="333756"/>
          </a:xfrm>
          <a:prstGeom prst="rect">
            <a:avLst/>
          </a:prstGeom>
          <a:noFill/>
          <a:ln/>
        </p:spPr>
        <p:txBody>
          <a:bodyPr wrap="none" lIns="0" tIns="0" rIns="0" bIns="0" rtlCol="0" anchor="ctr"/>
          <a:lstStyle/>
          <a:p>
            <a:pPr algn="l" indent="0" marL="0">
              <a:buNone/>
            </a:pPr>
            <a:r>
              <a:rPr lang="en-US" sz="1800" b="1" dirty="0">
                <a:solidFill>
                  <a:srgbClr val="FFFFFF"/>
                </a:solidFill>
                <a:latin typeface="Noto Serif JP" pitchFamily="34" charset="0"/>
                <a:ea typeface="Noto Serif JP" pitchFamily="34" charset="-122"/>
                <a:cs typeface="Noto Serif JP" pitchFamily="34" charset="-120"/>
              </a:rPr>
              <a:t>キーシーズン（繁閑期）とその乗り越え方</a:t>
            </a:r>
            <a:endParaRPr lang="en-US" sz="1800" dirty="0"/>
          </a:p>
        </p:txBody>
      </p:sp>
      <p:sp>
        <p:nvSpPr>
          <p:cNvPr id="26" name="Text 23"/>
          <p:cNvSpPr txBox="1"/>
          <p:nvPr/>
        </p:nvSpPr>
        <p:spPr>
          <a:xfrm>
            <a:off x="10001707" y="6610198"/>
            <a:ext cx="7049110" cy="486461"/>
          </a:xfrm>
          <a:prstGeom prst="rect">
            <a:avLst/>
          </a:prstGeom>
          <a:noFill/>
          <a:ln/>
        </p:spPr>
        <p:txBody>
          <a:bodyPr wrap="square" lIns="0" tIns="0" rIns="0" bIns="0" rtlCol="0" anchor="ctr"/>
          <a:lstStyle/>
          <a:p>
            <a:pPr algn="l" indent="0" marL="0">
              <a:buNone/>
            </a:pPr>
            <a:r>
              <a:rPr lang="en-US" sz="1100" dirty="0">
                <a:solidFill>
                  <a:srgbClr val="E5E7EB"/>
                </a:solidFill>
                <a:latin typeface="Noto Sans JP" pitchFamily="34" charset="0"/>
                <a:ea typeface="Noto Sans JP" pitchFamily="34" charset="-122"/>
                <a:cs typeface="Noto Sans JP" pitchFamily="34" charset="-120"/>
              </a:rPr>
              <a:t>1年間で最もビジネスの需要がスパイクする時期、または最も落ち込む時期とその理由。そして忙しい時期を乗り越えるためにどのような人員配置や施策、営業努力をしているかを捉えます。</a:t>
            </a:r>
            <a:endParaRPr lang="en-US" sz="1100" dirty="0"/>
          </a:p>
        </p:txBody>
      </p:sp>
      <p:sp>
        <p:nvSpPr>
          <p:cNvPr id="27" name="Shape 24"/>
          <p:cNvSpPr/>
          <p:nvPr/>
        </p:nvSpPr>
        <p:spPr>
          <a:xfrm>
            <a:off x="10001707" y="7229246"/>
            <a:ext cx="7048195" cy="9144"/>
          </a:xfrm>
          <a:prstGeom prst="rect">
            <a:avLst/>
          </a:prstGeom>
          <a:solidFill>
            <a:srgbClr val="B68C2E"/>
          </a:solidFill>
          <a:ln w="12700">
            <a:solidFill>
              <a:srgbClr val="B68C2E">
                <a:alpha val="0"/>
              </a:srgbClr>
            </a:solidFill>
            <a:prstDash val="solid"/>
          </a:ln>
        </p:spPr>
      </p:sp>
      <p:sp>
        <p:nvSpPr>
          <p:cNvPr id="28" name="Text 25"/>
          <p:cNvSpPr txBox="1"/>
          <p:nvPr/>
        </p:nvSpPr>
        <p:spPr>
          <a:xfrm>
            <a:off x="10001707" y="7314286"/>
            <a:ext cx="7049110" cy="181966"/>
          </a:xfrm>
          <a:prstGeom prst="rect">
            <a:avLst/>
          </a:prstGeom>
          <a:solidFill>
            <a:srgbClr val="FFFFFF">
              <a:alpha val="0"/>
            </a:srgbClr>
          </a:solidFill>
          <a:ln>
            <a:solidFill>
              <a:srgbClr val="FFFFFF">
                <a:alpha val="0"/>
              </a:srgbClr>
            </a:solidFill>
          </a:ln>
        </p:spPr>
        <p:txBody>
          <a:bodyPr wrap="none" lIns="76200" tIns="0" rIns="76200" bIns="76200" rtlCol="0" anchor="ctr"/>
          <a:lstStyle/>
          <a:p>
            <a:pPr algn="l" indent="0" marL="0">
              <a:buNone/>
            </a:pPr>
            <a:r>
              <a:rPr lang="en-US" sz="900" b="1" dirty="0">
                <a:solidFill>
                  <a:srgbClr val="B68C2E"/>
                </a:solidFill>
                <a:latin typeface="Noto Sans JP" pitchFamily="34" charset="0"/>
                <a:ea typeface="Noto Sans JP" pitchFamily="34" charset="-122"/>
                <a:cs typeface="Noto Sans JP" pitchFamily="34" charset="-120"/>
              </a:rPr>
              <a:t>💡 マルヤの例 ➔ 最繁忙期：「年末年始、お盆、秋祭り」／ 対策：「全員体制、オードブルやお寿司の早期予約受付」</a:t>
            </a:r>
            <a:endParaRPr lang="en-US" sz="900" dirty="0"/>
          </a:p>
        </p:txBody>
      </p:sp>
      <p:sp>
        <p:nvSpPr>
          <p:cNvPr id="29" name="Text 26"/>
          <p:cNvSpPr txBox="1"/>
          <p:nvPr/>
        </p:nvSpPr>
        <p:spPr>
          <a:xfrm>
            <a:off x="857707" y="9620402"/>
            <a:ext cx="16573500" cy="133502"/>
          </a:xfrm>
          <a:prstGeom prst="rect">
            <a:avLst/>
          </a:prstGeom>
          <a:noFill/>
          <a:ln/>
        </p:spPr>
        <p:txBody>
          <a:bodyPr wrap="none" lIns="0" tIns="0" rIns="0" bIns="0" rtlCol="0" anchor="ctr"/>
          <a:lstStyle/>
          <a:p>
            <a:pPr algn="r" indent="0" marL="0">
              <a:buNone/>
            </a:pPr>
            <a:r>
              <a:rPr lang="en-US" sz="800" spc="99" kern="0" dirty="0">
                <a:solidFill>
                  <a:srgbClr val="A4ABB8"/>
                </a:solidFill>
                <a:latin typeface="IBM Plex Mono" pitchFamily="34" charset="0"/>
                <a:ea typeface="IBM Plex Mono" pitchFamily="34" charset="-122"/>
                <a:cs typeface="IBM Plex Mono" pitchFamily="34" charset="-120"/>
              </a:rPr>
              <a:t>CONFIDENTIAL · INTERNSHIP DISSECTION BRIEF · PAGE 05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A"/>
        </a:solidFill>
      </p:bgPr>
    </p:bg>
    <p:spTree>
      <p:nvGrpSpPr>
        <p:cNvPr id="1" name=""/>
        <p:cNvGrpSpPr/>
        <p:nvPr/>
      </p:nvGrpSpPr>
      <p:grpSpPr>
        <a:xfrm>
          <a:off x="0" y="0"/>
          <a:ext cx="0" cy="0"/>
          <a:chOff x="0" y="0"/>
          <a:chExt cx="0" cy="0"/>
        </a:xfrm>
      </p:grpSpPr>
      <p:pic>
        <p:nvPicPr>
          <p:cNvPr id="2" name="Image 0" descr="gen-dedup-97fba22e14047e916a72d45c364dea0f.png">    </p:cNvPr>
          <p:cNvPicPr>
            <a:picLocks noChangeAspect="1"/>
          </p:cNvPicPr>
          <p:nvPr/>
        </p:nvPicPr>
        <p:blipFill>
          <a:blip r:embed="rId1"/>
          <a:srcRect l="0" r="0" t="-400" b="-400"/>
          <a:stretch/>
        </p:blipFill>
        <p:spPr>
          <a:xfrm>
            <a:off x="857707" y="1571854"/>
            <a:ext cx="16573500" cy="19202"/>
          </a:xfrm>
          <a:prstGeom prst="rect">
            <a:avLst/>
          </a:prstGeom>
        </p:spPr>
      </p:pic>
      <p:sp>
        <p:nvSpPr>
          <p:cNvPr id="3" name="Shape 0"/>
          <p:cNvSpPr/>
          <p:nvPr/>
        </p:nvSpPr>
        <p:spPr>
          <a:xfrm>
            <a:off x="857707" y="2000707"/>
            <a:ext cx="6877202" cy="6495898"/>
          </a:xfrm>
          <a:prstGeom prst="roundRect">
            <a:avLst>
              <a:gd name="adj" fmla="val 1168"/>
            </a:avLst>
          </a:prstGeom>
          <a:solidFill>
            <a:srgbClr val="FFFFFF"/>
          </a:solidFill>
          <a:ln w="12700">
            <a:solidFill>
              <a:srgbClr val="E5E7EB"/>
            </a:solidFill>
            <a:prstDash val="solid"/>
          </a:ln>
        </p:spPr>
      </p:sp>
      <p:sp>
        <p:nvSpPr>
          <p:cNvPr id="4" name="Shape 1"/>
          <p:cNvSpPr/>
          <p:nvPr/>
        </p:nvSpPr>
        <p:spPr>
          <a:xfrm>
            <a:off x="8001000" y="2000707"/>
            <a:ext cx="9448495" cy="3066898"/>
          </a:xfrm>
          <a:prstGeom prst="roundRect">
            <a:avLst>
              <a:gd name="adj" fmla="val 2475"/>
            </a:avLst>
          </a:prstGeom>
          <a:solidFill>
            <a:srgbClr val="FFFFFF"/>
          </a:solidFill>
          <a:ln w="12700">
            <a:solidFill>
              <a:srgbClr val="E5E7EB"/>
            </a:solidFill>
            <a:prstDash val="solid"/>
          </a:ln>
        </p:spPr>
      </p:sp>
      <p:sp>
        <p:nvSpPr>
          <p:cNvPr id="5" name="Shape 2"/>
          <p:cNvSpPr/>
          <p:nvPr/>
        </p:nvSpPr>
        <p:spPr>
          <a:xfrm>
            <a:off x="8001000" y="5333695"/>
            <a:ext cx="9430207" cy="3143707"/>
          </a:xfrm>
          <a:prstGeom prst="roundRect">
            <a:avLst>
              <a:gd name="adj" fmla="val 2414"/>
            </a:avLst>
          </a:prstGeom>
          <a:solidFill>
            <a:srgbClr val="1F2A44"/>
          </a:solidFill>
          <a:ln w="12700">
            <a:solidFill>
              <a:srgbClr val="FFFFFF">
                <a:alpha val="0"/>
              </a:srgbClr>
            </a:solidFill>
            <a:prstDash val="solid"/>
          </a:ln>
        </p:spPr>
      </p:sp>
      <p:sp>
        <p:nvSpPr>
          <p:cNvPr id="6" name="Text 3"/>
          <p:cNvSpPr txBox="1"/>
          <p:nvPr/>
        </p:nvSpPr>
        <p:spPr>
          <a:xfrm>
            <a:off x="857707" y="571500"/>
            <a:ext cx="16573500" cy="171907"/>
          </a:xfrm>
          <a:prstGeom prst="rect">
            <a:avLst/>
          </a:prstGeom>
          <a:noFill/>
          <a:ln/>
        </p:spPr>
        <p:txBody>
          <a:bodyPr wrap="none" lIns="0" tIns="0" rIns="0" bIns="0" rtlCol="0" anchor="ctr"/>
          <a:lstStyle/>
          <a:p>
            <a:pPr algn="l" indent="0" marL="0">
              <a:buNone/>
            </a:pPr>
            <a:r>
              <a:rPr lang="en-US" sz="1000" spc="210" kern="0" dirty="0">
                <a:solidFill>
                  <a:srgbClr val="B68C2E"/>
                </a:solidFill>
                <a:latin typeface="IBM Plex Mono" pitchFamily="34" charset="0"/>
                <a:ea typeface="IBM Plex Mono" pitchFamily="34" charset="-122"/>
                <a:cs typeface="IBM Plex Mono" pitchFamily="34" charset="-120"/>
              </a:rPr>
              <a:t>CATEGORY 03 // ROLES &amp; SPECIALISTS</a:t>
            </a:r>
            <a:endParaRPr lang="en-US" sz="1000" dirty="0"/>
          </a:p>
        </p:txBody>
      </p:sp>
      <p:sp>
        <p:nvSpPr>
          <p:cNvPr id="7" name="Text 4"/>
          <p:cNvSpPr txBox="1"/>
          <p:nvPr/>
        </p:nvSpPr>
        <p:spPr>
          <a:xfrm>
            <a:off x="857707" y="905256"/>
            <a:ext cx="16573500" cy="571500"/>
          </a:xfrm>
          <a:prstGeom prst="rect">
            <a:avLst/>
          </a:prstGeom>
          <a:noFill/>
          <a:ln/>
        </p:spPr>
        <p:txBody>
          <a:bodyPr wrap="none" lIns="0" tIns="0" rIns="0" bIns="0" rtlCol="0" anchor="ctr"/>
          <a:lstStyle/>
          <a:p>
            <a:pPr algn="l" indent="0" marL="0">
              <a:buNone/>
            </a:pPr>
            <a:r>
              <a:rPr lang="en-US" sz="3100" b="1" dirty="0">
                <a:solidFill>
                  <a:srgbClr val="1F2A44"/>
                </a:solidFill>
                <a:latin typeface="Noto Serif JP" pitchFamily="34" charset="0"/>
                <a:ea typeface="Noto Serif JP" pitchFamily="34" charset="-122"/>
                <a:cs typeface="Noto Serif JP" pitchFamily="34" charset="-120"/>
              </a:rPr>
              <a:t>【職種・連携】プロフェッショナルのバトンリレーを解剖する</a:t>
            </a:r>
            <a:endParaRPr lang="en-US" sz="3100" dirty="0"/>
          </a:p>
        </p:txBody>
      </p:sp>
      <p:sp>
        <p:nvSpPr>
          <p:cNvPr id="8" name="Text 5"/>
          <p:cNvSpPr txBox="1"/>
          <p:nvPr/>
        </p:nvSpPr>
        <p:spPr>
          <a:xfrm>
            <a:off x="1238098" y="2381098"/>
            <a:ext cx="6096305" cy="162763"/>
          </a:xfrm>
          <a:prstGeom prst="rect">
            <a:avLst/>
          </a:prstGeom>
          <a:noFill/>
          <a:ln/>
        </p:spPr>
        <p:txBody>
          <a:bodyPr wrap="none" lIns="0" tIns="0" rIns="0" bIns="0" rtlCol="0" anchor="ctr"/>
          <a:lstStyle/>
          <a:p>
            <a:pPr algn="l" indent="0" marL="0">
              <a:buNone/>
            </a:pPr>
            <a:r>
              <a:rPr lang="en-US" sz="900" b="1" dirty="0">
                <a:solidFill>
                  <a:srgbClr val="B68C2E"/>
                </a:solidFill>
                <a:latin typeface="IBM Plex Mono" pitchFamily="34" charset="0"/>
                <a:ea typeface="IBM Plex Mono" pitchFamily="34" charset="-122"/>
                <a:cs typeface="IBM Plex Mono" pitchFamily="34" charset="-120"/>
              </a:rPr>
              <a:t>QUESTION 14 · THE THREE ROLES</a:t>
            </a:r>
            <a:endParaRPr lang="en-US" sz="900" dirty="0"/>
          </a:p>
        </p:txBody>
      </p:sp>
      <p:sp>
        <p:nvSpPr>
          <p:cNvPr id="9" name="Text 6"/>
          <p:cNvSpPr txBox="1"/>
          <p:nvPr/>
        </p:nvSpPr>
        <p:spPr>
          <a:xfrm>
            <a:off x="1238098" y="2619756"/>
            <a:ext cx="6096305" cy="381305"/>
          </a:xfrm>
          <a:prstGeom prst="rect">
            <a:avLst/>
          </a:prstGeom>
          <a:noFill/>
          <a:ln/>
        </p:spPr>
        <p:txBody>
          <a:bodyPr wrap="none" lIns="0" tIns="0" rIns="0" bIns="0" rtlCol="0" anchor="ctr"/>
          <a:lstStyle/>
          <a:p>
            <a:pPr algn="l" indent="0" marL="0">
              <a:buNone/>
            </a:pPr>
            <a:r>
              <a:rPr lang="en-US" sz="2100" b="1" dirty="0">
                <a:solidFill>
                  <a:srgbClr val="1F2A44"/>
                </a:solidFill>
                <a:latin typeface="Noto Serif JP" pitchFamily="34" charset="0"/>
                <a:ea typeface="Noto Serif JP" pitchFamily="34" charset="-122"/>
                <a:cs typeface="Noto Serif JP" pitchFamily="34" charset="-120"/>
              </a:rPr>
              <a:t>３つの職種の発見フレームワーク</a:t>
            </a:r>
            <a:endParaRPr lang="en-US" sz="2100" dirty="0"/>
          </a:p>
        </p:txBody>
      </p:sp>
      <p:sp>
        <p:nvSpPr>
          <p:cNvPr id="10" name="Text 7"/>
          <p:cNvSpPr txBox="1"/>
          <p:nvPr/>
        </p:nvSpPr>
        <p:spPr>
          <a:xfrm>
            <a:off x="1238098" y="3152851"/>
            <a:ext cx="6096305" cy="505663"/>
          </a:xfrm>
          <a:prstGeom prst="rect">
            <a:avLst/>
          </a:prstGeom>
          <a:noFill/>
          <a:ln/>
        </p:spPr>
        <p:txBody>
          <a:bodyPr wrap="square" lIns="0" tIns="0" rIns="0" bIns="0" rtlCol="0" anchor="ctr"/>
          <a:lstStyle/>
          <a:p>
            <a:pPr algn="l" indent="0" marL="0">
              <a:buNone/>
            </a:pPr>
            <a:r>
              <a:rPr lang="en-US" sz="1100" dirty="0">
                <a:solidFill>
                  <a:srgbClr val="5A6271"/>
                </a:solidFill>
                <a:latin typeface="Noto Sans JP" pitchFamily="34" charset="0"/>
                <a:ea typeface="Noto Sans JP" pitchFamily="34" charset="-122"/>
                <a:cs typeface="Noto Sans JP" pitchFamily="34" charset="-120"/>
              </a:rPr>
              <a:t>組織で働く人々を「表舞台（見える仕事）」「裏方（支える仕事）」「専門職（特別な資格・技能）」の3軸に整理することで、見過ごしがちな仕事の存在価値に気づかせます。</a:t>
            </a:r>
            <a:endParaRPr lang="en-US" sz="1100" dirty="0"/>
          </a:p>
        </p:txBody>
      </p:sp>
      <p:sp>
        <p:nvSpPr>
          <p:cNvPr id="11" name="Shape 8"/>
          <p:cNvSpPr/>
          <p:nvPr/>
        </p:nvSpPr>
        <p:spPr>
          <a:xfrm>
            <a:off x="1238098" y="3881628"/>
            <a:ext cx="38405" cy="428854"/>
          </a:xfrm>
          <a:prstGeom prst="rect">
            <a:avLst/>
          </a:prstGeom>
          <a:solidFill>
            <a:srgbClr val="1F2A44"/>
          </a:solidFill>
          <a:ln w="12700">
            <a:solidFill>
              <a:srgbClr val="1F2A44">
                <a:alpha val="0"/>
              </a:srgbClr>
            </a:solidFill>
            <a:prstDash val="solid"/>
          </a:ln>
        </p:spPr>
      </p:sp>
      <p:sp>
        <p:nvSpPr>
          <p:cNvPr id="12" name="Text 9"/>
          <p:cNvSpPr txBox="1"/>
          <p:nvPr/>
        </p:nvSpPr>
        <p:spPr>
          <a:xfrm>
            <a:off x="1410005" y="3881628"/>
            <a:ext cx="4219956" cy="228600"/>
          </a:xfrm>
          <a:prstGeom prst="rect">
            <a:avLst/>
          </a:prstGeom>
          <a:noFill/>
          <a:ln/>
        </p:spPr>
        <p:txBody>
          <a:bodyPr wrap="none" lIns="0" tIns="0" rIns="0" bIns="0" rtlCol="0" anchor="ctr"/>
          <a:lstStyle/>
          <a:p>
            <a:pPr algn="l" indent="0" marL="0">
              <a:buNone/>
            </a:pPr>
            <a:r>
              <a:rPr lang="en-US" sz="1200" b="1" dirty="0">
                <a:solidFill>
                  <a:srgbClr val="1F2A44"/>
                </a:solidFill>
                <a:latin typeface="Noto Sans JP" pitchFamily="34" charset="0"/>
                <a:ea typeface="Noto Sans JP" pitchFamily="34" charset="-122"/>
                <a:cs typeface="Noto Sans JP" pitchFamily="34" charset="-120"/>
              </a:rPr>
              <a:t>A. 表舞台の仕事（見える仕事）</a:t>
            </a:r>
            <a:endParaRPr lang="en-US" sz="1200" dirty="0"/>
          </a:p>
        </p:txBody>
      </p:sp>
      <p:sp>
        <p:nvSpPr>
          <p:cNvPr id="13" name="Text 10"/>
          <p:cNvSpPr txBox="1"/>
          <p:nvPr/>
        </p:nvSpPr>
        <p:spPr>
          <a:xfrm>
            <a:off x="1410005" y="4129430"/>
            <a:ext cx="4219956" cy="181051"/>
          </a:xfrm>
          <a:prstGeom prst="rect">
            <a:avLst/>
          </a:prstGeom>
          <a:noFill/>
          <a:ln/>
        </p:spPr>
        <p:txBody>
          <a:bodyPr wrap="none" lIns="0" tIns="0" rIns="0" bIns="0" rtlCol="0" anchor="ctr"/>
          <a:lstStyle/>
          <a:p>
            <a:pPr algn="l" indent="0" marL="0">
              <a:buNone/>
            </a:pPr>
            <a:r>
              <a:rPr lang="en-US" sz="900" dirty="0">
                <a:solidFill>
                  <a:srgbClr val="5A6271"/>
                </a:solidFill>
                <a:latin typeface="Noto Sans JP" pitchFamily="34" charset="0"/>
                <a:ea typeface="Noto Sans JP" pitchFamily="34" charset="-122"/>
                <a:cs typeface="Noto Sans JP" pitchFamily="34" charset="-120"/>
              </a:rPr>
              <a:t>例：レジでの接客や商品の袋詰め、問い合わせ対応。直接お客様と接する。</a:t>
            </a:r>
            <a:endParaRPr lang="en-US" sz="900" dirty="0"/>
          </a:p>
        </p:txBody>
      </p:sp>
      <p:sp>
        <p:nvSpPr>
          <p:cNvPr id="14" name="Shape 11"/>
          <p:cNvSpPr/>
          <p:nvPr/>
        </p:nvSpPr>
        <p:spPr>
          <a:xfrm>
            <a:off x="1238098" y="4424782"/>
            <a:ext cx="38405" cy="428854"/>
          </a:xfrm>
          <a:prstGeom prst="rect">
            <a:avLst/>
          </a:prstGeom>
          <a:solidFill>
            <a:srgbClr val="B68C2E"/>
          </a:solidFill>
          <a:ln w="12700">
            <a:solidFill>
              <a:srgbClr val="B68C2E">
                <a:alpha val="0"/>
              </a:srgbClr>
            </a:solidFill>
            <a:prstDash val="solid"/>
          </a:ln>
        </p:spPr>
      </p:sp>
      <p:sp>
        <p:nvSpPr>
          <p:cNvPr id="15" name="Text 12"/>
          <p:cNvSpPr txBox="1"/>
          <p:nvPr/>
        </p:nvSpPr>
        <p:spPr>
          <a:xfrm>
            <a:off x="1410005" y="4424782"/>
            <a:ext cx="3963010" cy="228600"/>
          </a:xfrm>
          <a:prstGeom prst="rect">
            <a:avLst/>
          </a:prstGeom>
          <a:noFill/>
          <a:ln/>
        </p:spPr>
        <p:txBody>
          <a:bodyPr wrap="none" lIns="0" tIns="0" rIns="0" bIns="0" rtlCol="0" anchor="ctr"/>
          <a:lstStyle/>
          <a:p>
            <a:pPr algn="l" indent="0" marL="0">
              <a:buNone/>
            </a:pPr>
            <a:r>
              <a:rPr lang="en-US" sz="1200" b="1" dirty="0">
                <a:solidFill>
                  <a:srgbClr val="1F2A44"/>
                </a:solidFill>
                <a:latin typeface="Noto Sans JP" pitchFamily="34" charset="0"/>
                <a:ea typeface="Noto Sans JP" pitchFamily="34" charset="-122"/>
                <a:cs typeface="Noto Sans JP" pitchFamily="34" charset="-120"/>
              </a:rPr>
              <a:t>B. 裏方の仕事（支える仕事）</a:t>
            </a:r>
            <a:endParaRPr lang="en-US" sz="1200" dirty="0"/>
          </a:p>
        </p:txBody>
      </p:sp>
      <p:sp>
        <p:nvSpPr>
          <p:cNvPr id="16" name="Text 13"/>
          <p:cNvSpPr txBox="1"/>
          <p:nvPr/>
        </p:nvSpPr>
        <p:spPr>
          <a:xfrm>
            <a:off x="1410005" y="4671670"/>
            <a:ext cx="3963010" cy="181051"/>
          </a:xfrm>
          <a:prstGeom prst="rect">
            <a:avLst/>
          </a:prstGeom>
          <a:noFill/>
          <a:ln/>
        </p:spPr>
        <p:txBody>
          <a:bodyPr wrap="none" lIns="0" tIns="0" rIns="0" bIns="0" rtlCol="0" anchor="ctr"/>
          <a:lstStyle/>
          <a:p>
            <a:pPr algn="l" indent="0" marL="0">
              <a:buNone/>
            </a:pPr>
            <a:r>
              <a:rPr lang="en-US" sz="900" dirty="0">
                <a:solidFill>
                  <a:srgbClr val="5A6271"/>
                </a:solidFill>
                <a:latin typeface="Noto Sans JP" pitchFamily="34" charset="0"/>
                <a:ea typeface="Noto Sans JP" pitchFamily="34" charset="-122"/>
                <a:cs typeface="Noto Sans JP" pitchFamily="34" charset="-120"/>
              </a:rPr>
              <a:t>例：商品の発注、データの入力、清掃、品出し。円滑な運営を支える。</a:t>
            </a:r>
            <a:endParaRPr lang="en-US" sz="900" dirty="0"/>
          </a:p>
        </p:txBody>
      </p:sp>
      <p:sp>
        <p:nvSpPr>
          <p:cNvPr id="17" name="Shape 14"/>
          <p:cNvSpPr/>
          <p:nvPr/>
        </p:nvSpPr>
        <p:spPr>
          <a:xfrm>
            <a:off x="1238098" y="4967021"/>
            <a:ext cx="38405" cy="428854"/>
          </a:xfrm>
          <a:prstGeom prst="rect">
            <a:avLst/>
          </a:prstGeom>
          <a:solidFill>
            <a:srgbClr val="A4ABB8"/>
          </a:solidFill>
          <a:ln w="12700">
            <a:solidFill>
              <a:srgbClr val="A4ABB8">
                <a:alpha val="0"/>
              </a:srgbClr>
            </a:solidFill>
            <a:prstDash val="solid"/>
          </a:ln>
        </p:spPr>
      </p:sp>
      <p:sp>
        <p:nvSpPr>
          <p:cNvPr id="18" name="Text 15"/>
          <p:cNvSpPr txBox="1"/>
          <p:nvPr/>
        </p:nvSpPr>
        <p:spPr>
          <a:xfrm>
            <a:off x="1410005" y="4967021"/>
            <a:ext cx="3952951" cy="228600"/>
          </a:xfrm>
          <a:prstGeom prst="rect">
            <a:avLst/>
          </a:prstGeom>
          <a:noFill/>
          <a:ln/>
        </p:spPr>
        <p:txBody>
          <a:bodyPr wrap="none" lIns="0" tIns="0" rIns="0" bIns="0" rtlCol="0" anchor="ctr"/>
          <a:lstStyle/>
          <a:p>
            <a:pPr algn="l" indent="0" marL="0">
              <a:buNone/>
            </a:pPr>
            <a:r>
              <a:rPr lang="en-US" sz="1200" b="1" dirty="0">
                <a:solidFill>
                  <a:srgbClr val="1F2A44"/>
                </a:solidFill>
                <a:latin typeface="Noto Sans JP" pitchFamily="34" charset="0"/>
                <a:ea typeface="Noto Sans JP" pitchFamily="34" charset="-122"/>
                <a:cs typeface="Noto Sans JP" pitchFamily="34" charset="-120"/>
              </a:rPr>
              <a:t>C. 専門職の仕事（特別な資格・技術）</a:t>
            </a:r>
            <a:endParaRPr lang="en-US" sz="1200" dirty="0"/>
          </a:p>
        </p:txBody>
      </p:sp>
      <p:sp>
        <p:nvSpPr>
          <p:cNvPr id="19" name="Text 16"/>
          <p:cNvSpPr txBox="1"/>
          <p:nvPr/>
        </p:nvSpPr>
        <p:spPr>
          <a:xfrm>
            <a:off x="1410005" y="5214823"/>
            <a:ext cx="3952951" cy="181051"/>
          </a:xfrm>
          <a:prstGeom prst="rect">
            <a:avLst/>
          </a:prstGeom>
          <a:noFill/>
          <a:ln/>
        </p:spPr>
        <p:txBody>
          <a:bodyPr wrap="none" lIns="0" tIns="0" rIns="0" bIns="0" rtlCol="0" anchor="ctr"/>
          <a:lstStyle/>
          <a:p>
            <a:pPr algn="l" indent="0" marL="0">
              <a:buNone/>
            </a:pPr>
            <a:r>
              <a:rPr lang="en-US" sz="900" dirty="0">
                <a:solidFill>
                  <a:srgbClr val="5A6271"/>
                </a:solidFill>
                <a:latin typeface="Noto Sans JP" pitchFamily="34" charset="0"/>
                <a:ea typeface="Noto Sans JP" pitchFamily="34" charset="-122"/>
                <a:cs typeface="Noto Sans JP" pitchFamily="34" charset="-120"/>
              </a:rPr>
              <a:t>例：お肉やお魚の加工カット技術者、精肉バイヤー、衛生管理士など。</a:t>
            </a:r>
            <a:endParaRPr lang="en-US" sz="900" dirty="0"/>
          </a:p>
        </p:txBody>
      </p:sp>
      <p:sp>
        <p:nvSpPr>
          <p:cNvPr id="20" name="Text 17"/>
          <p:cNvSpPr txBox="1"/>
          <p:nvPr/>
        </p:nvSpPr>
        <p:spPr>
          <a:xfrm>
            <a:off x="8382305" y="2286000"/>
            <a:ext cx="8668512" cy="162763"/>
          </a:xfrm>
          <a:prstGeom prst="rect">
            <a:avLst/>
          </a:prstGeom>
          <a:noFill/>
          <a:ln/>
        </p:spPr>
        <p:txBody>
          <a:bodyPr wrap="none" lIns="0" tIns="0" rIns="0" bIns="0" rtlCol="0" anchor="ctr"/>
          <a:lstStyle/>
          <a:p>
            <a:pPr algn="l" indent="0" marL="0">
              <a:buNone/>
            </a:pPr>
            <a:r>
              <a:rPr lang="en-US" sz="900" b="1" dirty="0">
                <a:solidFill>
                  <a:srgbClr val="B68C2E"/>
                </a:solidFill>
                <a:latin typeface="IBM Plex Mono" pitchFamily="34" charset="0"/>
                <a:ea typeface="IBM Plex Mono" pitchFamily="34" charset="-122"/>
                <a:cs typeface="IBM Plex Mono" pitchFamily="34" charset="-120"/>
              </a:rPr>
              <a:t>QUESTION 15 · TEAMWORK</a:t>
            </a:r>
            <a:endParaRPr lang="en-US" sz="900" dirty="0"/>
          </a:p>
        </p:txBody>
      </p:sp>
      <p:sp>
        <p:nvSpPr>
          <p:cNvPr id="21" name="Text 18"/>
          <p:cNvSpPr txBox="1"/>
          <p:nvPr/>
        </p:nvSpPr>
        <p:spPr>
          <a:xfrm>
            <a:off x="8382305" y="2505456"/>
            <a:ext cx="8668512" cy="333756"/>
          </a:xfrm>
          <a:prstGeom prst="rect">
            <a:avLst/>
          </a:prstGeom>
          <a:noFill/>
          <a:ln/>
        </p:spPr>
        <p:txBody>
          <a:bodyPr wrap="none" lIns="0" tIns="0" rIns="0" bIns="0" rtlCol="0" anchor="ctr"/>
          <a:lstStyle/>
          <a:p>
            <a:pPr algn="l" indent="0" marL="0">
              <a:buNone/>
            </a:pPr>
            <a:r>
              <a:rPr lang="en-US" sz="1800" b="1" dirty="0">
                <a:solidFill>
                  <a:srgbClr val="1F2A44"/>
                </a:solidFill>
                <a:latin typeface="Noto Serif JP" pitchFamily="34" charset="0"/>
                <a:ea typeface="Noto Serif JP" pitchFamily="34" charset="-122"/>
                <a:cs typeface="Noto Serif JP" pitchFamily="34" charset="-120"/>
              </a:rPr>
              <a:t>チームのバトンリレー（連携の秘密）</a:t>
            </a:r>
            <a:endParaRPr lang="en-US" sz="1800" dirty="0"/>
          </a:p>
        </p:txBody>
      </p:sp>
      <p:sp>
        <p:nvSpPr>
          <p:cNvPr id="22" name="Text 19"/>
          <p:cNvSpPr txBox="1"/>
          <p:nvPr/>
        </p:nvSpPr>
        <p:spPr>
          <a:xfrm>
            <a:off x="8382305" y="2971800"/>
            <a:ext cx="8668512" cy="486461"/>
          </a:xfrm>
          <a:prstGeom prst="rect">
            <a:avLst/>
          </a:prstGeom>
          <a:noFill/>
          <a:ln/>
        </p:spPr>
        <p:txBody>
          <a:bodyPr wrap="square" lIns="0" tIns="0" rIns="0" bIns="0" rtlCol="0" anchor="ctr"/>
          <a:lstStyle/>
          <a:p>
            <a:pPr algn="l" indent="0" marL="0">
              <a:buNone/>
            </a:pPr>
            <a:r>
              <a:rPr lang="en-US" sz="1100" dirty="0">
                <a:solidFill>
                  <a:srgbClr val="5A6271"/>
                </a:solidFill>
                <a:latin typeface="Noto Sans JP" pitchFamily="34" charset="0"/>
                <a:ea typeface="Noto Sans JP" pitchFamily="34" charset="-122"/>
                <a:cs typeface="Noto Sans JP" pitchFamily="34" charset="-120"/>
              </a:rPr>
              <a:t>これら3つの異なる職種が、どのように情報・モノをリレーし合って動いているかを分析します。インカム、朝礼、共有掲示板など、プロ特有の「バトンタッチ」の工夫を捉えます。</a:t>
            </a:r>
            <a:endParaRPr lang="en-US" sz="1100" dirty="0"/>
          </a:p>
        </p:txBody>
      </p:sp>
      <p:sp>
        <p:nvSpPr>
          <p:cNvPr id="23" name="Shape 20"/>
          <p:cNvSpPr/>
          <p:nvPr/>
        </p:nvSpPr>
        <p:spPr>
          <a:xfrm>
            <a:off x="8382305" y="3610051"/>
            <a:ext cx="8667598" cy="9144"/>
          </a:xfrm>
          <a:prstGeom prst="rect">
            <a:avLst/>
          </a:prstGeom>
          <a:solidFill>
            <a:srgbClr val="B68C2E"/>
          </a:solidFill>
          <a:ln w="12700">
            <a:solidFill>
              <a:srgbClr val="B68C2E">
                <a:alpha val="0"/>
              </a:srgbClr>
            </a:solidFill>
            <a:prstDash val="solid"/>
          </a:ln>
        </p:spPr>
      </p:sp>
      <p:sp>
        <p:nvSpPr>
          <p:cNvPr id="24" name="Text 21"/>
          <p:cNvSpPr txBox="1"/>
          <p:nvPr/>
        </p:nvSpPr>
        <p:spPr>
          <a:xfrm>
            <a:off x="8382305" y="3695090"/>
            <a:ext cx="8668512" cy="181966"/>
          </a:xfrm>
          <a:prstGeom prst="rect">
            <a:avLst/>
          </a:prstGeom>
          <a:solidFill>
            <a:srgbClr val="FFFFFF">
              <a:alpha val="0"/>
            </a:srgbClr>
          </a:solidFill>
          <a:ln>
            <a:solidFill>
              <a:srgbClr val="FFFFFF">
                <a:alpha val="0"/>
              </a:srgbClr>
            </a:solidFill>
          </a:ln>
        </p:spPr>
        <p:txBody>
          <a:bodyPr wrap="none" lIns="76200" tIns="0" rIns="76200" bIns="76200" rtlCol="0" anchor="ctr"/>
          <a:lstStyle/>
          <a:p>
            <a:pPr algn="l" indent="0" marL="0">
              <a:buNone/>
            </a:pPr>
            <a:r>
              <a:rPr lang="en-US" sz="900" b="1" dirty="0">
                <a:solidFill>
                  <a:srgbClr val="1F2A44"/>
                </a:solidFill>
                <a:latin typeface="Noto Sans JP" pitchFamily="34" charset="0"/>
                <a:ea typeface="Noto Sans JP" pitchFamily="34" charset="-122"/>
                <a:cs typeface="Noto Sans JP" pitchFamily="34" charset="-120"/>
              </a:rPr>
              <a:t>💡 マルヤの例 ➔ 「裏方の品出し担当が売れ行き情報をインカムでレジ（表舞台）と共有し、すぐに補充を連動」</a:t>
            </a:r>
            <a:endParaRPr lang="en-US" sz="900" dirty="0"/>
          </a:p>
        </p:txBody>
      </p:sp>
      <p:sp>
        <p:nvSpPr>
          <p:cNvPr id="25" name="Text 22"/>
          <p:cNvSpPr txBox="1"/>
          <p:nvPr/>
        </p:nvSpPr>
        <p:spPr>
          <a:xfrm>
            <a:off x="8382305" y="5619902"/>
            <a:ext cx="8668512" cy="162763"/>
          </a:xfrm>
          <a:prstGeom prst="rect">
            <a:avLst/>
          </a:prstGeom>
          <a:noFill/>
          <a:ln/>
        </p:spPr>
        <p:txBody>
          <a:bodyPr wrap="none" lIns="0" tIns="0" rIns="0" bIns="0" rtlCol="0" anchor="ctr"/>
          <a:lstStyle/>
          <a:p>
            <a:pPr algn="l" indent="0" marL="0">
              <a:buNone/>
            </a:pPr>
            <a:r>
              <a:rPr lang="en-US" sz="900" b="1" dirty="0">
                <a:solidFill>
                  <a:srgbClr val="B68C2E"/>
                </a:solidFill>
                <a:latin typeface="IBM Plex Mono" pitchFamily="34" charset="0"/>
                <a:ea typeface="IBM Plex Mono" pitchFamily="34" charset="-122"/>
                <a:cs typeface="IBM Plex Mono" pitchFamily="34" charset="-120"/>
              </a:rPr>
              <a:t>QUESTIONS 16 &amp; 17 · SPECIALIST SECRETS</a:t>
            </a:r>
            <a:endParaRPr lang="en-US" sz="900" dirty="0"/>
          </a:p>
        </p:txBody>
      </p:sp>
      <p:sp>
        <p:nvSpPr>
          <p:cNvPr id="26" name="Text 23"/>
          <p:cNvSpPr txBox="1"/>
          <p:nvPr/>
        </p:nvSpPr>
        <p:spPr>
          <a:xfrm>
            <a:off x="8382305" y="5838444"/>
            <a:ext cx="8668512" cy="333756"/>
          </a:xfrm>
          <a:prstGeom prst="rect">
            <a:avLst/>
          </a:prstGeom>
          <a:noFill/>
          <a:ln/>
        </p:spPr>
        <p:txBody>
          <a:bodyPr wrap="none" lIns="0" tIns="0" rIns="0" bIns="0" rtlCol="0" anchor="ctr"/>
          <a:lstStyle/>
          <a:p>
            <a:pPr algn="l" indent="0" marL="0">
              <a:buNone/>
            </a:pPr>
            <a:r>
              <a:rPr lang="en-US" sz="1800" b="1" dirty="0">
                <a:solidFill>
                  <a:srgbClr val="FFFFFF"/>
                </a:solidFill>
                <a:latin typeface="Noto Serif JP" pitchFamily="34" charset="0"/>
                <a:ea typeface="Noto Serif JP" pitchFamily="34" charset="-122"/>
                <a:cs typeface="Noto Serif JP" pitchFamily="34" charset="-120"/>
              </a:rPr>
              <a:t>プロの道具 ＆ 独自の業界用語</a:t>
            </a:r>
            <a:endParaRPr lang="en-US" sz="1800" dirty="0"/>
          </a:p>
        </p:txBody>
      </p:sp>
      <p:sp>
        <p:nvSpPr>
          <p:cNvPr id="27" name="Text 24"/>
          <p:cNvSpPr txBox="1"/>
          <p:nvPr/>
        </p:nvSpPr>
        <p:spPr>
          <a:xfrm>
            <a:off x="8382305" y="6305702"/>
            <a:ext cx="8668512" cy="486461"/>
          </a:xfrm>
          <a:prstGeom prst="rect">
            <a:avLst/>
          </a:prstGeom>
          <a:noFill/>
          <a:ln/>
        </p:spPr>
        <p:txBody>
          <a:bodyPr wrap="square" lIns="0" tIns="0" rIns="0" bIns="0" rtlCol="0" anchor="ctr"/>
          <a:lstStyle/>
          <a:p>
            <a:pPr algn="l" indent="0" marL="0">
              <a:buNone/>
            </a:pPr>
            <a:r>
              <a:rPr lang="en-US" sz="1100" dirty="0">
                <a:solidFill>
                  <a:srgbClr val="E5E7EB"/>
                </a:solidFill>
                <a:latin typeface="Noto Sans JP" pitchFamily="34" charset="0"/>
                <a:ea typeface="Noto Sans JP" pitchFamily="34" charset="-122"/>
                <a:cs typeface="Noto Sans JP" pitchFamily="34" charset="-120"/>
              </a:rPr>
              <a:t>一般の客としては絶対に目にしない、あるいは意味を知らない「専用のシステム（道具）」や「独特のお約束（用語や規律）」を記録。プロとして働くことの「リアルな現場」の肌感覚を自分の言葉で体系化します。</a:t>
            </a:r>
            <a:endParaRPr lang="en-US" sz="1100" dirty="0"/>
          </a:p>
        </p:txBody>
      </p:sp>
      <p:sp>
        <p:nvSpPr>
          <p:cNvPr id="28" name="Shape 25"/>
          <p:cNvSpPr/>
          <p:nvPr/>
        </p:nvSpPr>
        <p:spPr>
          <a:xfrm>
            <a:off x="8382305" y="6943954"/>
            <a:ext cx="8667598" cy="9144"/>
          </a:xfrm>
          <a:prstGeom prst="rect">
            <a:avLst/>
          </a:prstGeom>
          <a:solidFill>
            <a:srgbClr val="B68C2E"/>
          </a:solidFill>
          <a:ln w="12700">
            <a:solidFill>
              <a:srgbClr val="B68C2E">
                <a:alpha val="0"/>
              </a:srgbClr>
            </a:solidFill>
            <a:prstDash val="solid"/>
          </a:ln>
        </p:spPr>
      </p:sp>
      <p:sp>
        <p:nvSpPr>
          <p:cNvPr id="29" name="Text 26"/>
          <p:cNvSpPr txBox="1"/>
          <p:nvPr/>
        </p:nvSpPr>
        <p:spPr>
          <a:xfrm>
            <a:off x="8382305" y="7028993"/>
            <a:ext cx="8668512" cy="181966"/>
          </a:xfrm>
          <a:prstGeom prst="rect">
            <a:avLst/>
          </a:prstGeom>
          <a:solidFill>
            <a:srgbClr val="FFFFFF">
              <a:alpha val="0"/>
            </a:srgbClr>
          </a:solidFill>
          <a:ln>
            <a:solidFill>
              <a:srgbClr val="FFFFFF">
                <a:alpha val="0"/>
              </a:srgbClr>
            </a:solidFill>
          </a:ln>
        </p:spPr>
        <p:txBody>
          <a:bodyPr wrap="none" lIns="76200" tIns="0" rIns="76200" bIns="76200" rtlCol="0" anchor="ctr"/>
          <a:lstStyle/>
          <a:p>
            <a:pPr algn="l" indent="0" marL="0">
              <a:buNone/>
            </a:pPr>
            <a:r>
              <a:rPr lang="en-US" sz="900" b="1" dirty="0">
                <a:solidFill>
                  <a:srgbClr val="B68C2E"/>
                </a:solidFill>
                <a:latin typeface="Noto Sans JP" pitchFamily="34" charset="0"/>
                <a:ea typeface="Noto Sans JP" pitchFamily="34" charset="-122"/>
                <a:cs typeface="Noto Sans JP" pitchFamily="34" charset="-120"/>
              </a:rPr>
              <a:t>💡 マルヤの例 ➔ 道具：「自動釣銭機」「仕入れ専用ハンディ」／ 業界用語：「前出し（商品を前に揃えて並べる）」「ロス（廃棄）」</a:t>
            </a:r>
            <a:endParaRPr lang="en-US" sz="900" dirty="0"/>
          </a:p>
        </p:txBody>
      </p:sp>
      <p:sp>
        <p:nvSpPr>
          <p:cNvPr id="30" name="Text 27"/>
          <p:cNvSpPr txBox="1"/>
          <p:nvPr/>
        </p:nvSpPr>
        <p:spPr>
          <a:xfrm>
            <a:off x="857707" y="9620402"/>
            <a:ext cx="16573500" cy="133502"/>
          </a:xfrm>
          <a:prstGeom prst="rect">
            <a:avLst/>
          </a:prstGeom>
          <a:noFill/>
          <a:ln/>
        </p:spPr>
        <p:txBody>
          <a:bodyPr wrap="none" lIns="0" tIns="0" rIns="0" bIns="0" rtlCol="0" anchor="ctr"/>
          <a:lstStyle/>
          <a:p>
            <a:pPr algn="r" indent="0" marL="0">
              <a:buNone/>
            </a:pPr>
            <a:r>
              <a:rPr lang="en-US" sz="800" spc="99" kern="0" dirty="0">
                <a:solidFill>
                  <a:srgbClr val="A4ABB8"/>
                </a:solidFill>
                <a:latin typeface="IBM Plex Mono" pitchFamily="34" charset="0"/>
                <a:ea typeface="IBM Plex Mono" pitchFamily="34" charset="-122"/>
                <a:cs typeface="IBM Plex Mono" pitchFamily="34" charset="-120"/>
              </a:rPr>
              <a:t>CONFIDENTIAL · INTERNSHIP DISSECTION BRIEF · PAGE 06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gen-dedup-97fba22e14047e916a72d45c364dea0f.png">    </p:cNvPr>
          <p:cNvPicPr>
            <a:picLocks noChangeAspect="1"/>
          </p:cNvPicPr>
          <p:nvPr/>
        </p:nvPicPr>
        <p:blipFill>
          <a:blip r:embed="rId1"/>
          <a:srcRect l="0" r="0" t="-400" b="-400"/>
          <a:stretch/>
        </p:blipFill>
        <p:spPr>
          <a:xfrm>
            <a:off x="857707" y="1571854"/>
            <a:ext cx="16573500" cy="19202"/>
          </a:xfrm>
          <a:prstGeom prst="rect">
            <a:avLst/>
          </a:prstGeom>
        </p:spPr>
      </p:pic>
      <p:sp>
        <p:nvSpPr>
          <p:cNvPr id="3" name="Shape 0"/>
          <p:cNvSpPr/>
          <p:nvPr/>
        </p:nvSpPr>
        <p:spPr>
          <a:xfrm>
            <a:off x="857707" y="2000707"/>
            <a:ext cx="7810805" cy="6476695"/>
          </a:xfrm>
          <a:prstGeom prst="roundRect">
            <a:avLst>
              <a:gd name="adj" fmla="val 1172"/>
            </a:avLst>
          </a:prstGeom>
          <a:solidFill>
            <a:srgbClr val="F4F6FA"/>
          </a:solidFill>
          <a:ln w="12700">
            <a:solidFill>
              <a:srgbClr val="FFFFFF">
                <a:alpha val="0"/>
              </a:srgbClr>
            </a:solidFill>
            <a:prstDash val="solid"/>
          </a:ln>
        </p:spPr>
      </p:sp>
      <p:sp>
        <p:nvSpPr>
          <p:cNvPr id="4" name="Shape 1"/>
          <p:cNvSpPr/>
          <p:nvPr/>
        </p:nvSpPr>
        <p:spPr>
          <a:xfrm>
            <a:off x="9144000" y="2000707"/>
            <a:ext cx="8287207" cy="6476695"/>
          </a:xfrm>
          <a:prstGeom prst="roundRect">
            <a:avLst>
              <a:gd name="adj" fmla="val 1172"/>
            </a:avLst>
          </a:prstGeom>
          <a:solidFill>
            <a:srgbClr val="1F2A44"/>
          </a:solidFill>
          <a:ln w="12700">
            <a:solidFill>
              <a:srgbClr val="FFFFFF">
                <a:alpha val="0"/>
              </a:srgbClr>
            </a:solidFill>
            <a:prstDash val="solid"/>
          </a:ln>
        </p:spPr>
      </p:sp>
      <p:sp>
        <p:nvSpPr>
          <p:cNvPr id="5" name="Text 2"/>
          <p:cNvSpPr txBox="1"/>
          <p:nvPr/>
        </p:nvSpPr>
        <p:spPr>
          <a:xfrm>
            <a:off x="857707" y="571500"/>
            <a:ext cx="16573500" cy="171907"/>
          </a:xfrm>
          <a:prstGeom prst="rect">
            <a:avLst/>
          </a:prstGeom>
          <a:noFill/>
          <a:ln/>
        </p:spPr>
        <p:txBody>
          <a:bodyPr wrap="none" lIns="0" tIns="0" rIns="0" bIns="0" rtlCol="0" anchor="ctr"/>
          <a:lstStyle/>
          <a:p>
            <a:pPr algn="l" indent="0" marL="0">
              <a:buNone/>
            </a:pPr>
            <a:r>
              <a:rPr lang="en-US" sz="1000" spc="210" kern="0" dirty="0">
                <a:solidFill>
                  <a:srgbClr val="B68C2E"/>
                </a:solidFill>
                <a:latin typeface="IBM Plex Mono" pitchFamily="34" charset="0"/>
                <a:ea typeface="IBM Plex Mono" pitchFamily="34" charset="-122"/>
                <a:cs typeface="IBM Plex Mono" pitchFamily="34" charset="-120"/>
              </a:rPr>
              <a:t>CATEGORY 04 // CAREER PERSPECTIVE</a:t>
            </a:r>
            <a:endParaRPr lang="en-US" sz="1000" dirty="0"/>
          </a:p>
        </p:txBody>
      </p:sp>
      <p:sp>
        <p:nvSpPr>
          <p:cNvPr id="6" name="Text 3"/>
          <p:cNvSpPr txBox="1"/>
          <p:nvPr/>
        </p:nvSpPr>
        <p:spPr>
          <a:xfrm>
            <a:off x="857707" y="905256"/>
            <a:ext cx="16573500" cy="571500"/>
          </a:xfrm>
          <a:prstGeom prst="rect">
            <a:avLst/>
          </a:prstGeom>
          <a:noFill/>
          <a:ln/>
        </p:spPr>
        <p:txBody>
          <a:bodyPr wrap="none" lIns="0" tIns="0" rIns="0" bIns="0" rtlCol="0" anchor="ctr"/>
          <a:lstStyle/>
          <a:p>
            <a:pPr algn="l" indent="0" marL="0">
              <a:buNone/>
            </a:pPr>
            <a:r>
              <a:rPr lang="en-US" sz="3100" b="1" dirty="0">
                <a:solidFill>
                  <a:srgbClr val="1F2A44"/>
                </a:solidFill>
                <a:latin typeface="Noto Serif JP" pitchFamily="34" charset="0"/>
                <a:ea typeface="Noto Serif JP" pitchFamily="34" charset="-122"/>
                <a:cs typeface="Noto Serif JP" pitchFamily="34" charset="-120"/>
              </a:rPr>
              <a:t>【キャリア視点】働く人のマインドと生徒自身の「変化」を照らし出す</a:t>
            </a:r>
            <a:endParaRPr lang="en-US" sz="3100" dirty="0"/>
          </a:p>
        </p:txBody>
      </p:sp>
      <p:sp>
        <p:nvSpPr>
          <p:cNvPr id="7" name="Text 4"/>
          <p:cNvSpPr txBox="1"/>
          <p:nvPr/>
        </p:nvSpPr>
        <p:spPr>
          <a:xfrm>
            <a:off x="1238098" y="2381098"/>
            <a:ext cx="7049110" cy="162763"/>
          </a:xfrm>
          <a:prstGeom prst="rect">
            <a:avLst/>
          </a:prstGeom>
          <a:noFill/>
          <a:ln/>
        </p:spPr>
        <p:txBody>
          <a:bodyPr wrap="none" lIns="0" tIns="0" rIns="0" bIns="0" rtlCol="0" anchor="ctr"/>
          <a:lstStyle/>
          <a:p>
            <a:pPr algn="l" indent="0" marL="0">
              <a:buNone/>
            </a:pPr>
            <a:r>
              <a:rPr lang="en-US" sz="900" b="1" dirty="0">
                <a:solidFill>
                  <a:srgbClr val="B68C2E"/>
                </a:solidFill>
                <a:latin typeface="IBM Plex Mono" pitchFamily="34" charset="0"/>
                <a:ea typeface="IBM Plex Mono" pitchFamily="34" charset="-122"/>
                <a:cs typeface="IBM Plex Mono" pitchFamily="34" charset="-120"/>
              </a:rPr>
              <a:t>QUESTIONS 18 &amp; 19 · PROFESSIONAL MINDSET</a:t>
            </a:r>
            <a:endParaRPr lang="en-US" sz="900" dirty="0"/>
          </a:p>
        </p:txBody>
      </p:sp>
      <p:sp>
        <p:nvSpPr>
          <p:cNvPr id="8" name="Text 5"/>
          <p:cNvSpPr txBox="1"/>
          <p:nvPr/>
        </p:nvSpPr>
        <p:spPr>
          <a:xfrm>
            <a:off x="1238098" y="2619756"/>
            <a:ext cx="7049110" cy="381305"/>
          </a:xfrm>
          <a:prstGeom prst="rect">
            <a:avLst/>
          </a:prstGeom>
          <a:noFill/>
          <a:ln/>
        </p:spPr>
        <p:txBody>
          <a:bodyPr wrap="none" lIns="0" tIns="0" rIns="0" bIns="0" rtlCol="0" anchor="ctr"/>
          <a:lstStyle/>
          <a:p>
            <a:pPr algn="l" indent="0" marL="0">
              <a:buNone/>
            </a:pPr>
            <a:r>
              <a:rPr lang="en-US" sz="2100" b="1" dirty="0">
                <a:solidFill>
                  <a:srgbClr val="1F2A44"/>
                </a:solidFill>
                <a:latin typeface="Noto Serif JP" pitchFamily="34" charset="0"/>
                <a:ea typeface="Noto Serif JP" pitchFamily="34" charset="-122"/>
                <a:cs typeface="Noto Serif JP" pitchFamily="34" charset="-120"/>
              </a:rPr>
              <a:t>プロとしての誇りと「働くリアル」</a:t>
            </a:r>
            <a:endParaRPr lang="en-US" sz="2100" dirty="0"/>
          </a:p>
        </p:txBody>
      </p:sp>
      <p:sp>
        <p:nvSpPr>
          <p:cNvPr id="9" name="Text 6"/>
          <p:cNvSpPr txBox="1"/>
          <p:nvPr/>
        </p:nvSpPr>
        <p:spPr>
          <a:xfrm>
            <a:off x="1238098" y="3145536"/>
            <a:ext cx="7049110" cy="1151230"/>
          </a:xfrm>
          <a:prstGeom prst="rect">
            <a:avLst/>
          </a:prstGeom>
          <a:noFill/>
          <a:ln/>
        </p:spPr>
        <p:txBody>
          <a:bodyPr wrap="square" lIns="0" tIns="0" rIns="0" bIns="0" rtlCol="0" anchor="t"/>
          <a:lstStyle/>
          <a:p>
            <a:pPr algn="l" indent="0" marL="0">
              <a:lnSpc>
                <a:spcPts val="2160"/>
              </a:lnSpc>
              <a:buNone/>
            </a:pPr>
            <a:r>
              <a:rPr lang="en-US" sz="1200" dirty="0">
                <a:solidFill>
                  <a:srgbClr val="5A6271"/>
                </a:solidFill>
                <a:latin typeface="Noto Sans JP" pitchFamily="34" charset="0"/>
                <a:ea typeface="Noto Sans JP" pitchFamily="34" charset="-122"/>
                <a:cs typeface="Noto Sans JP" pitchFamily="34" charset="-120"/>
              </a:rPr>
              <a:t>社員インタビューを通じて「働く喜び」「やりがい」に加え、あえて「仕事における辛いピンチやその乗り越え方（プロのレジリエンス）」を深く聞き出します。</a:t>
            </a:r>
            <a:pPr algn="l" indent="0" marL="0">
              <a:lnSpc>
                <a:spcPts val="2160"/>
              </a:lnSpc>
              <a:buNone/>
            </a:pPr>
            <a:endParaRPr lang="en-US" sz="1200" dirty="0"/>
          </a:p>
          <a:p>
            <a:pPr algn="l" indent="0" marL="0">
              <a:lnSpc>
                <a:spcPts val="2160"/>
              </a:lnSpc>
              <a:buNone/>
            </a:pPr>
            <a:r>
              <a:rPr lang="en-US" sz="1200" dirty="0">
                <a:solidFill>
                  <a:srgbClr val="5A6271"/>
                </a:solidFill>
                <a:latin typeface="Noto Sans JP" pitchFamily="34" charset="0"/>
                <a:ea typeface="Noto Sans JP" pitchFamily="34" charset="-122"/>
                <a:cs typeface="Noto Sans JP" pitchFamily="34" charset="-120"/>
              </a:rPr>
              <a:t>これにより、仕事の良い面だけでなく困難を乗り越える姿勢を理解し、働く全員に共通する「最も必要なスキル・マインド（チカラ）」を体系化。社会で生きていくリアリティを養います。</a:t>
            </a:r>
            <a:endParaRPr lang="en-US" sz="1200" dirty="0"/>
          </a:p>
        </p:txBody>
      </p:sp>
      <p:sp>
        <p:nvSpPr>
          <p:cNvPr id="10" name="Shape 7"/>
          <p:cNvSpPr/>
          <p:nvPr/>
        </p:nvSpPr>
        <p:spPr>
          <a:xfrm>
            <a:off x="1238098" y="4573829"/>
            <a:ext cx="7048195" cy="9144"/>
          </a:xfrm>
          <a:prstGeom prst="rect">
            <a:avLst/>
          </a:prstGeom>
          <a:solidFill>
            <a:srgbClr val="B68C2E"/>
          </a:solidFill>
          <a:ln w="12700">
            <a:solidFill>
              <a:srgbClr val="B68C2E">
                <a:alpha val="0"/>
              </a:srgbClr>
            </a:solidFill>
            <a:prstDash val="solid"/>
          </a:ln>
        </p:spPr>
      </p:sp>
      <p:sp>
        <p:nvSpPr>
          <p:cNvPr id="11" name="Text 8"/>
          <p:cNvSpPr txBox="1"/>
          <p:nvPr/>
        </p:nvSpPr>
        <p:spPr>
          <a:xfrm>
            <a:off x="1238098" y="4716475"/>
            <a:ext cx="7049110" cy="191110"/>
          </a:xfrm>
          <a:prstGeom prst="rect">
            <a:avLst/>
          </a:prstGeom>
          <a:solidFill>
            <a:srgbClr val="FFFFFF">
              <a:alpha val="0"/>
            </a:srgbClr>
          </a:solidFill>
          <a:ln>
            <a:solidFill>
              <a:srgbClr val="FFFFFF">
                <a:alpha val="0"/>
              </a:srgbClr>
            </a:solidFill>
          </a:ln>
        </p:spPr>
        <p:txBody>
          <a:bodyPr wrap="none" lIns="139700" tIns="0" rIns="139700" bIns="139700" rtlCol="0" anchor="ctr"/>
          <a:lstStyle/>
          <a:p>
            <a:pPr algn="l" indent="0" marL="0">
              <a:buNone/>
            </a:pPr>
            <a:r>
              <a:rPr lang="en-US" sz="1000" b="1" dirty="0">
                <a:solidFill>
                  <a:srgbClr val="1F2A44"/>
                </a:solidFill>
                <a:latin typeface="Noto Sans JP" pitchFamily="34" charset="0"/>
                <a:ea typeface="Noto Sans JP" pitchFamily="34" charset="-122"/>
                <a:cs typeface="Noto Sans JP" pitchFamily="34" charset="-120"/>
              </a:rPr>
              <a:t>💡 マルヤの社員インタビュー例（アプリに登録されているヒント）</a:t>
            </a:r>
            <a:endParaRPr lang="en-US" sz="1000" dirty="0"/>
          </a:p>
        </p:txBody>
      </p:sp>
      <p:sp>
        <p:nvSpPr>
          <p:cNvPr id="12" name="Text 9"/>
          <p:cNvSpPr txBox="1"/>
          <p:nvPr/>
        </p:nvSpPr>
        <p:spPr>
          <a:xfrm>
            <a:off x="1238098" y="4956962"/>
            <a:ext cx="7049110" cy="674827"/>
          </a:xfrm>
          <a:prstGeom prst="rect">
            <a:avLst/>
          </a:prstGeom>
          <a:noFill/>
          <a:ln/>
        </p:spPr>
        <p:txBody>
          <a:bodyPr wrap="square" lIns="0" tIns="0" rIns="0" bIns="0" rtlCol="0" anchor="t"/>
          <a:lstStyle/>
          <a:p>
            <a:pPr algn="l" indent="0" marL="0">
              <a:lnSpc>
                <a:spcPts val="1680"/>
              </a:lnSpc>
              <a:buNone/>
            </a:pPr>
            <a:r>
              <a:rPr lang="en-US" sz="1000" b="1" dirty="0">
                <a:solidFill>
                  <a:srgbClr val="B68C2E"/>
                </a:solidFill>
                <a:latin typeface="Noto Sans JP" pitchFamily="34" charset="0"/>
                <a:ea typeface="Noto Sans JP" pitchFamily="34" charset="-122"/>
                <a:cs typeface="Noto Sans JP" pitchFamily="34" charset="-120"/>
              </a:rPr>
              <a:t>【やりがい】</a:t>
            </a:r>
            <a:pPr algn="l" indent="0" marL="0">
              <a:lnSpc>
                <a:spcPts val="1680"/>
              </a:lnSpc>
              <a:buNone/>
            </a:pPr>
            <a:r>
              <a:rPr lang="en-US" sz="1000" dirty="0">
                <a:solidFill>
                  <a:srgbClr val="5A6271"/>
                </a:solidFill>
                <a:latin typeface="Noto Sans JP" pitchFamily="34" charset="0"/>
                <a:ea typeface="Noto Sans JP" pitchFamily="34" charset="-122"/>
                <a:cs typeface="Noto Sans JP" pitchFamily="34" charset="-120"/>
              </a:rPr>
              <a:t>「あなたの顔を見ると元気になる、ありがとう」とお客さんに名前を覚えられた瞬間</a:t>
            </a:r>
            <a:pPr algn="l" indent="0" marL="0">
              <a:lnSpc>
                <a:spcPts val="1680"/>
              </a:lnSpc>
              <a:buNone/>
            </a:pPr>
            <a:endParaRPr lang="en-US" sz="1000" dirty="0"/>
          </a:p>
          <a:p>
            <a:pPr algn="l" indent="0" marL="0">
              <a:lnSpc>
                <a:spcPts val="1680"/>
              </a:lnSpc>
              <a:buNone/>
            </a:pPr>
            <a:r>
              <a:rPr lang="en-US" sz="1000" b="1" dirty="0">
                <a:solidFill>
                  <a:srgbClr val="1F2A44"/>
                </a:solidFill>
                <a:latin typeface="Noto Sans JP" pitchFamily="34" charset="0"/>
                <a:ea typeface="Noto Sans JP" pitchFamily="34" charset="-122"/>
                <a:cs typeface="Noto Sans JP" pitchFamily="34" charset="-120"/>
              </a:rPr>
              <a:t>【誇り・チカラ】</a:t>
            </a:r>
            <a:pPr algn="l" indent="0" marL="0">
              <a:lnSpc>
                <a:spcPts val="1680"/>
              </a:lnSpc>
              <a:buNone/>
            </a:pPr>
            <a:r>
              <a:rPr lang="en-US" sz="1000" dirty="0">
                <a:solidFill>
                  <a:srgbClr val="5A6271"/>
                </a:solidFill>
                <a:latin typeface="Noto Sans JP" pitchFamily="34" charset="0"/>
                <a:ea typeface="Noto Sans JP" pitchFamily="34" charset="-122"/>
                <a:cs typeface="Noto Sans JP" pitchFamily="34" charset="-120"/>
              </a:rPr>
              <a:t>「絶対に売れ残りのロスを最小にし、かつ夕食時に十分な品揃えを保つこと」に必要な「観察力・配慮力」</a:t>
            </a:r>
            <a:endParaRPr lang="en-US" sz="1000" dirty="0"/>
          </a:p>
        </p:txBody>
      </p:sp>
      <p:sp>
        <p:nvSpPr>
          <p:cNvPr id="13" name="Text 10"/>
          <p:cNvSpPr txBox="1"/>
          <p:nvPr/>
        </p:nvSpPr>
        <p:spPr>
          <a:xfrm>
            <a:off x="9525305" y="2381098"/>
            <a:ext cx="7525512" cy="162763"/>
          </a:xfrm>
          <a:prstGeom prst="rect">
            <a:avLst/>
          </a:prstGeom>
          <a:noFill/>
          <a:ln/>
        </p:spPr>
        <p:txBody>
          <a:bodyPr wrap="none" lIns="0" tIns="0" rIns="0" bIns="0" rtlCol="0" anchor="ctr"/>
          <a:lstStyle/>
          <a:p>
            <a:pPr algn="l" indent="0" marL="0">
              <a:buNone/>
            </a:pPr>
            <a:r>
              <a:rPr lang="en-US" sz="900" b="1" dirty="0">
                <a:solidFill>
                  <a:srgbClr val="B68C2E"/>
                </a:solidFill>
                <a:latin typeface="IBM Plex Mono" pitchFamily="34" charset="0"/>
                <a:ea typeface="IBM Plex Mono" pitchFamily="34" charset="-122"/>
                <a:cs typeface="IBM Plex Mono" pitchFamily="34" charset="-120"/>
              </a:rPr>
              <a:t>QUESTION 20 · IDENTITY &amp; BEHAVIOR CHANGE</a:t>
            </a:r>
            <a:endParaRPr lang="en-US" sz="900" dirty="0"/>
          </a:p>
        </p:txBody>
      </p:sp>
      <p:sp>
        <p:nvSpPr>
          <p:cNvPr id="14" name="Text 11"/>
          <p:cNvSpPr txBox="1"/>
          <p:nvPr/>
        </p:nvSpPr>
        <p:spPr>
          <a:xfrm>
            <a:off x="9525305" y="2619756"/>
            <a:ext cx="7525512" cy="381305"/>
          </a:xfrm>
          <a:prstGeom prst="rect">
            <a:avLst/>
          </a:prstGeom>
          <a:noFill/>
          <a:ln/>
        </p:spPr>
        <p:txBody>
          <a:bodyPr wrap="none" lIns="0" tIns="0" rIns="0" bIns="0" rtlCol="0" anchor="ctr"/>
          <a:lstStyle/>
          <a:p>
            <a:pPr algn="l" indent="0" marL="0">
              <a:buNone/>
            </a:pPr>
            <a:r>
              <a:rPr lang="en-US" sz="2100" b="1" dirty="0">
                <a:solidFill>
                  <a:srgbClr val="FFFFFF"/>
                </a:solidFill>
                <a:latin typeface="Noto Serif JP" pitchFamily="34" charset="0"/>
                <a:ea typeface="Noto Serif JP" pitchFamily="34" charset="-122"/>
                <a:cs typeface="Noto Serif JP" pitchFamily="34" charset="-120"/>
              </a:rPr>
              <a:t>プロと私を照らし、明日を変える</a:t>
            </a:r>
            <a:endParaRPr lang="en-US" sz="2100" dirty="0"/>
          </a:p>
        </p:txBody>
      </p:sp>
      <p:sp>
        <p:nvSpPr>
          <p:cNvPr id="15" name="Text 12"/>
          <p:cNvSpPr txBox="1"/>
          <p:nvPr/>
        </p:nvSpPr>
        <p:spPr>
          <a:xfrm>
            <a:off x="9525305" y="3145536"/>
            <a:ext cx="7525512" cy="1151230"/>
          </a:xfrm>
          <a:prstGeom prst="rect">
            <a:avLst/>
          </a:prstGeom>
          <a:noFill/>
          <a:ln/>
        </p:spPr>
        <p:txBody>
          <a:bodyPr wrap="square" lIns="0" tIns="0" rIns="0" bIns="0" rtlCol="0" anchor="t"/>
          <a:lstStyle/>
          <a:p>
            <a:pPr algn="l" indent="0" marL="0">
              <a:lnSpc>
                <a:spcPts val="2160"/>
              </a:lnSpc>
              <a:buNone/>
            </a:pPr>
            <a:r>
              <a:rPr lang="en-US" sz="1200" dirty="0">
                <a:solidFill>
                  <a:srgbClr val="E5E7EB"/>
                </a:solidFill>
                <a:latin typeface="Noto Sans JP" pitchFamily="34" charset="0"/>
                <a:ea typeface="Noto Sans JP" pitchFamily="34" charset="-122"/>
                <a:cs typeface="Noto Sans JP" pitchFamily="34" charset="-120"/>
              </a:rPr>
              <a:t>単なる感想文の終着点とは異なり、「自分のワクワクした点」や「明日から真似できるプロの小さな習慣」について、具体的な行動宣言として文字に落とし込みます。</a:t>
            </a:r>
            <a:pPr algn="l" indent="0" marL="0">
              <a:lnSpc>
                <a:spcPts val="2160"/>
              </a:lnSpc>
              <a:buNone/>
            </a:pPr>
            <a:endParaRPr lang="en-US" sz="1200" dirty="0"/>
          </a:p>
          <a:p>
            <a:pPr algn="l" indent="0" marL="0">
              <a:lnSpc>
                <a:spcPts val="2160"/>
              </a:lnSpc>
              <a:buNone/>
            </a:pPr>
            <a:r>
              <a:rPr lang="en-US" sz="1200" dirty="0">
                <a:solidFill>
                  <a:srgbClr val="E5E7EB"/>
                </a:solidFill>
                <a:latin typeface="Noto Sans JP" pitchFamily="34" charset="0"/>
                <a:ea typeface="Noto Sans JP" pitchFamily="34" charset="-122"/>
                <a:cs typeface="Noto Sans JP" pitchFamily="34" charset="-120"/>
              </a:rPr>
              <a:t>これにより、インターンシップ体験が単なるイベントとして終わらず、生徒自身の明日の学校生活、勉強の習慣、あるいは周囲への態度を能動的に変容させるキッカケを作ります。</a:t>
            </a:r>
            <a:endParaRPr lang="en-US" sz="1200" dirty="0"/>
          </a:p>
        </p:txBody>
      </p:sp>
      <p:sp>
        <p:nvSpPr>
          <p:cNvPr id="16" name="Shape 13"/>
          <p:cNvSpPr/>
          <p:nvPr/>
        </p:nvSpPr>
        <p:spPr>
          <a:xfrm>
            <a:off x="9525305" y="4573829"/>
            <a:ext cx="7524598" cy="9144"/>
          </a:xfrm>
          <a:prstGeom prst="rect">
            <a:avLst/>
          </a:prstGeom>
          <a:solidFill>
            <a:srgbClr val="B68C2E"/>
          </a:solidFill>
          <a:ln w="12700">
            <a:solidFill>
              <a:srgbClr val="B68C2E">
                <a:alpha val="0"/>
              </a:srgbClr>
            </a:solidFill>
            <a:prstDash val="solid"/>
          </a:ln>
        </p:spPr>
      </p:sp>
      <p:sp>
        <p:nvSpPr>
          <p:cNvPr id="17" name="Text 14"/>
          <p:cNvSpPr txBox="1"/>
          <p:nvPr/>
        </p:nvSpPr>
        <p:spPr>
          <a:xfrm>
            <a:off x="9525305" y="4716475"/>
            <a:ext cx="7525512" cy="191110"/>
          </a:xfrm>
          <a:prstGeom prst="rect">
            <a:avLst/>
          </a:prstGeom>
          <a:solidFill>
            <a:srgbClr val="FFFFFF">
              <a:alpha val="0"/>
            </a:srgbClr>
          </a:solidFill>
          <a:ln>
            <a:solidFill>
              <a:srgbClr val="FFFFFF">
                <a:alpha val="0"/>
              </a:srgbClr>
            </a:solidFill>
          </a:ln>
        </p:spPr>
        <p:txBody>
          <a:bodyPr wrap="none" lIns="139700" tIns="0" rIns="139700" bIns="139700" rtlCol="0" anchor="ctr"/>
          <a:lstStyle/>
          <a:p>
            <a:pPr algn="l" indent="0" marL="0">
              <a:buNone/>
            </a:pPr>
            <a:r>
              <a:rPr lang="en-US" sz="1000" b="1" dirty="0">
                <a:solidFill>
                  <a:srgbClr val="B68C2E"/>
                </a:solidFill>
                <a:latin typeface="Noto Sans JP" pitchFamily="34" charset="0"/>
                <a:ea typeface="Noto Sans JP" pitchFamily="34" charset="-122"/>
                <a:cs typeface="Noto Sans JP" pitchFamily="34" charset="-120"/>
              </a:rPr>
              <a:t>💡 生徒の行動宣言例</a:t>
            </a:r>
            <a:endParaRPr lang="en-US" sz="1000" dirty="0"/>
          </a:p>
        </p:txBody>
      </p:sp>
      <p:sp>
        <p:nvSpPr>
          <p:cNvPr id="18" name="Text 15"/>
          <p:cNvSpPr txBox="1"/>
          <p:nvPr/>
        </p:nvSpPr>
        <p:spPr>
          <a:xfrm>
            <a:off x="9525305" y="4956962"/>
            <a:ext cx="7525512" cy="674827"/>
          </a:xfrm>
          <a:prstGeom prst="rect">
            <a:avLst/>
          </a:prstGeom>
          <a:noFill/>
          <a:ln/>
        </p:spPr>
        <p:txBody>
          <a:bodyPr wrap="square" lIns="0" tIns="0" rIns="0" bIns="0" rtlCol="0" anchor="t"/>
          <a:lstStyle/>
          <a:p>
            <a:pPr algn="l" indent="0" marL="0">
              <a:lnSpc>
                <a:spcPts val="1680"/>
              </a:lnSpc>
              <a:buNone/>
            </a:pPr>
            <a:r>
              <a:rPr lang="en-US" sz="1000" b="1" dirty="0">
                <a:solidFill>
                  <a:srgbClr val="B68C2E"/>
                </a:solidFill>
                <a:latin typeface="Noto Sans JP" pitchFamily="34" charset="0"/>
                <a:ea typeface="Noto Sans JP" pitchFamily="34" charset="-122"/>
                <a:cs typeface="Noto Sans JP" pitchFamily="34" charset="-120"/>
              </a:rPr>
              <a:t>【私のワクワク】</a:t>
            </a:r>
            <a:pPr algn="l" indent="0" marL="0">
              <a:lnSpc>
                <a:spcPts val="1680"/>
              </a:lnSpc>
              <a:buNone/>
            </a:pPr>
            <a:r>
              <a:rPr lang="en-US" sz="1000" dirty="0">
                <a:solidFill>
                  <a:srgbClr val="E5E7EB"/>
                </a:solidFill>
                <a:latin typeface="Noto Sans JP" pitchFamily="34" charset="0"/>
                <a:ea typeface="Noto Sans JP" pitchFamily="34" charset="-122"/>
                <a:cs typeface="Noto Sans JP" pitchFamily="34" charset="-120"/>
              </a:rPr>
              <a:t>「バックヤードでの正確で無駄のない鮮魚おろしの技術に心が踊った」</a:t>
            </a:r>
            <a:pPr algn="l" indent="0" marL="0">
              <a:lnSpc>
                <a:spcPts val="1680"/>
              </a:lnSpc>
              <a:buNone/>
            </a:pPr>
            <a:endParaRPr lang="en-US" sz="1000" dirty="0"/>
          </a:p>
          <a:p>
            <a:pPr algn="l" indent="0" marL="0">
              <a:lnSpc>
                <a:spcPts val="1680"/>
              </a:lnSpc>
              <a:buNone/>
            </a:pPr>
            <a:r>
              <a:rPr lang="en-US" sz="1000" b="1" dirty="0">
                <a:solidFill>
                  <a:srgbClr val="FFFFFF"/>
                </a:solidFill>
                <a:latin typeface="Noto Sans JP" pitchFamily="34" charset="0"/>
                <a:ea typeface="Noto Sans JP" pitchFamily="34" charset="-122"/>
                <a:cs typeface="Noto Sans JP" pitchFamily="34" charset="-120"/>
              </a:rPr>
              <a:t>【明日からの行動宣言】</a:t>
            </a:r>
            <a:pPr algn="l" indent="0" marL="0">
              <a:lnSpc>
                <a:spcPts val="1680"/>
              </a:lnSpc>
              <a:buNone/>
            </a:pPr>
            <a:r>
              <a:rPr lang="en-US" sz="1000" dirty="0">
                <a:solidFill>
                  <a:srgbClr val="E5E7EB"/>
                </a:solidFill>
                <a:latin typeface="Noto Sans JP" pitchFamily="34" charset="0"/>
                <a:ea typeface="Noto Sans JP" pitchFamily="34" charset="-122"/>
                <a:cs typeface="Noto Sans JP" pitchFamily="34" charset="-120"/>
              </a:rPr>
              <a:t>「毎日勉強に取り掛かる前に、プロの『前出し（整理整頓）』を真似して、机の上をきれいに整理整頓してからスタートし、集中できる時間を10分増やす」</a:t>
            </a:r>
            <a:endParaRPr lang="en-US" sz="1000" dirty="0"/>
          </a:p>
        </p:txBody>
      </p:sp>
      <p:sp>
        <p:nvSpPr>
          <p:cNvPr id="19" name="Text 16"/>
          <p:cNvSpPr txBox="1"/>
          <p:nvPr/>
        </p:nvSpPr>
        <p:spPr>
          <a:xfrm>
            <a:off x="857707" y="9620402"/>
            <a:ext cx="16573500" cy="133502"/>
          </a:xfrm>
          <a:prstGeom prst="rect">
            <a:avLst/>
          </a:prstGeom>
          <a:noFill/>
          <a:ln/>
        </p:spPr>
        <p:txBody>
          <a:bodyPr wrap="none" lIns="0" tIns="0" rIns="0" bIns="0" rtlCol="0" anchor="ctr"/>
          <a:lstStyle/>
          <a:p>
            <a:pPr algn="r" indent="0" marL="0">
              <a:buNone/>
            </a:pPr>
            <a:r>
              <a:rPr lang="en-US" sz="800" spc="99" kern="0" dirty="0">
                <a:solidFill>
                  <a:srgbClr val="A4ABB8"/>
                </a:solidFill>
                <a:latin typeface="IBM Plex Mono" pitchFamily="34" charset="0"/>
                <a:ea typeface="IBM Plex Mono" pitchFamily="34" charset="-122"/>
                <a:cs typeface="IBM Plex Mono" pitchFamily="34" charset="-120"/>
              </a:rPr>
              <a:t>CONFIDENTIAL · INTERNSHIP DISSECTION BRIEF · PAGE 07</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6FA"/>
        </a:solidFill>
      </p:bgPr>
    </p:bg>
    <p:spTree>
      <p:nvGrpSpPr>
        <p:cNvPr id="1" name=""/>
        <p:cNvGrpSpPr/>
        <p:nvPr/>
      </p:nvGrpSpPr>
      <p:grpSpPr>
        <a:xfrm>
          <a:off x="0" y="0"/>
          <a:ext cx="0" cy="0"/>
          <a:chOff x="0" y="0"/>
          <a:chExt cx="0" cy="0"/>
        </a:xfrm>
      </p:grpSpPr>
      <p:pic>
        <p:nvPicPr>
          <p:cNvPr id="2" name="Image 0" descr="gen-dedup-97fba22e14047e916a72d45c364dea0f.png">    </p:cNvPr>
          <p:cNvPicPr>
            <a:picLocks noChangeAspect="1"/>
          </p:cNvPicPr>
          <p:nvPr/>
        </p:nvPicPr>
        <p:blipFill>
          <a:blip r:embed="rId1"/>
          <a:srcRect l="0" r="0" t="-400" b="-400"/>
          <a:stretch/>
        </p:blipFill>
        <p:spPr>
          <a:xfrm>
            <a:off x="857707" y="1571854"/>
            <a:ext cx="16573500" cy="19202"/>
          </a:xfrm>
          <a:prstGeom prst="rect">
            <a:avLst/>
          </a:prstGeom>
        </p:spPr>
      </p:pic>
      <p:sp>
        <p:nvSpPr>
          <p:cNvPr id="3" name="Shape 0"/>
          <p:cNvSpPr/>
          <p:nvPr/>
        </p:nvSpPr>
        <p:spPr>
          <a:xfrm>
            <a:off x="857707" y="2000707"/>
            <a:ext cx="7830007" cy="6495898"/>
          </a:xfrm>
          <a:prstGeom prst="roundRect">
            <a:avLst>
              <a:gd name="adj" fmla="val 1168"/>
            </a:avLst>
          </a:prstGeom>
          <a:solidFill>
            <a:srgbClr val="FFFFFF"/>
          </a:solidFill>
          <a:ln w="12700">
            <a:solidFill>
              <a:srgbClr val="E5E7EB"/>
            </a:solidFill>
            <a:prstDash val="solid"/>
          </a:ln>
        </p:spPr>
      </p:sp>
      <p:pic>
        <p:nvPicPr>
          <p:cNvPr id="4" name="Image 1" descr="gen-dedup-7c7e65ee55ded00e7b28d26fdf51ffd2.png">    </p:cNvPr>
          <p:cNvPicPr>
            <a:picLocks noChangeAspect="1"/>
          </p:cNvPicPr>
          <p:nvPr/>
        </p:nvPicPr>
        <p:blipFill>
          <a:blip r:embed="rId2"/>
          <a:srcRect l="-5" r="-5" t="0" b="0"/>
          <a:stretch/>
        </p:blipFill>
        <p:spPr>
          <a:xfrm>
            <a:off x="9144000" y="2000707"/>
            <a:ext cx="8287207" cy="6476695"/>
          </a:xfrm>
          <a:prstGeom prst="rect">
            <a:avLst/>
          </a:prstGeom>
        </p:spPr>
      </p:pic>
      <p:sp>
        <p:nvSpPr>
          <p:cNvPr id="5" name="Text 1"/>
          <p:cNvSpPr txBox="1"/>
          <p:nvPr/>
        </p:nvSpPr>
        <p:spPr>
          <a:xfrm>
            <a:off x="857707" y="571500"/>
            <a:ext cx="16573500" cy="171907"/>
          </a:xfrm>
          <a:prstGeom prst="rect">
            <a:avLst/>
          </a:prstGeom>
          <a:noFill/>
          <a:ln/>
        </p:spPr>
        <p:txBody>
          <a:bodyPr wrap="none" lIns="0" tIns="0" rIns="0" bIns="0" rtlCol="0" anchor="ctr"/>
          <a:lstStyle/>
          <a:p>
            <a:pPr algn="l" indent="0" marL="0">
              <a:buNone/>
            </a:pPr>
            <a:r>
              <a:rPr lang="en-US" sz="1000" spc="210" kern="0" dirty="0">
                <a:solidFill>
                  <a:srgbClr val="B68C2E"/>
                </a:solidFill>
                <a:latin typeface="IBM Plex Mono" pitchFamily="34" charset="0"/>
                <a:ea typeface="IBM Plex Mono" pitchFamily="34" charset="-122"/>
                <a:cs typeface="IBM Plex Mono" pitchFamily="34" charset="-120"/>
              </a:rPr>
              <a:t>CATEGORY 05 // FUTURE VISION</a:t>
            </a:r>
            <a:endParaRPr lang="en-US" sz="1000" dirty="0"/>
          </a:p>
        </p:txBody>
      </p:sp>
      <p:sp>
        <p:nvSpPr>
          <p:cNvPr id="6" name="Text 2"/>
          <p:cNvSpPr txBox="1"/>
          <p:nvPr/>
        </p:nvSpPr>
        <p:spPr>
          <a:xfrm>
            <a:off x="857707" y="905256"/>
            <a:ext cx="16573500" cy="571500"/>
          </a:xfrm>
          <a:prstGeom prst="rect">
            <a:avLst/>
          </a:prstGeom>
          <a:noFill/>
          <a:ln/>
        </p:spPr>
        <p:txBody>
          <a:bodyPr wrap="none" lIns="0" tIns="0" rIns="0" bIns="0" rtlCol="0" anchor="ctr"/>
          <a:lstStyle/>
          <a:p>
            <a:pPr algn="l" indent="0" marL="0">
              <a:buNone/>
            </a:pPr>
            <a:r>
              <a:rPr lang="en-US" sz="3100" b="1" dirty="0">
                <a:solidFill>
                  <a:srgbClr val="1F2A44"/>
                </a:solidFill>
                <a:latin typeface="Noto Serif JP" pitchFamily="34" charset="0"/>
                <a:ea typeface="Noto Serif JP" pitchFamily="34" charset="-122"/>
                <a:cs typeface="Noto Serif JP" pitchFamily="34" charset="-120"/>
              </a:rPr>
              <a:t>【未来視点】10年後の「3大変化・ピンチ」と新規事業アイデア提案</a:t>
            </a:r>
            <a:endParaRPr lang="en-US" sz="3100" dirty="0"/>
          </a:p>
        </p:txBody>
      </p:sp>
      <p:sp>
        <p:nvSpPr>
          <p:cNvPr id="7" name="Text 3"/>
          <p:cNvSpPr txBox="1"/>
          <p:nvPr/>
        </p:nvSpPr>
        <p:spPr>
          <a:xfrm>
            <a:off x="1238098" y="2381098"/>
            <a:ext cx="7049110" cy="162763"/>
          </a:xfrm>
          <a:prstGeom prst="rect">
            <a:avLst/>
          </a:prstGeom>
          <a:noFill/>
          <a:ln/>
        </p:spPr>
        <p:txBody>
          <a:bodyPr wrap="none" lIns="0" tIns="0" rIns="0" bIns="0" rtlCol="0" anchor="ctr"/>
          <a:lstStyle/>
          <a:p>
            <a:pPr algn="l" indent="0" marL="0">
              <a:buNone/>
            </a:pPr>
            <a:r>
              <a:rPr lang="en-US" sz="900" b="1" dirty="0">
                <a:solidFill>
                  <a:srgbClr val="B68C2E"/>
                </a:solidFill>
                <a:latin typeface="IBM Plex Mono" pitchFamily="34" charset="0"/>
                <a:ea typeface="IBM Plex Mono" pitchFamily="34" charset="-122"/>
                <a:cs typeface="IBM Plex Mono" pitchFamily="34" charset="-120"/>
              </a:rPr>
              <a:t>QUESTION 21 · MACRO ANALYSIS</a:t>
            </a:r>
            <a:endParaRPr lang="en-US" sz="900" dirty="0"/>
          </a:p>
        </p:txBody>
      </p:sp>
      <p:sp>
        <p:nvSpPr>
          <p:cNvPr id="8" name="Text 4"/>
          <p:cNvSpPr txBox="1"/>
          <p:nvPr/>
        </p:nvSpPr>
        <p:spPr>
          <a:xfrm>
            <a:off x="1238098" y="2619756"/>
            <a:ext cx="7049110" cy="381305"/>
          </a:xfrm>
          <a:prstGeom prst="rect">
            <a:avLst/>
          </a:prstGeom>
          <a:noFill/>
          <a:ln/>
        </p:spPr>
        <p:txBody>
          <a:bodyPr wrap="none" lIns="0" tIns="0" rIns="0" bIns="0" rtlCol="0" anchor="ctr"/>
          <a:lstStyle/>
          <a:p>
            <a:pPr algn="l" indent="0" marL="0">
              <a:buNone/>
            </a:pPr>
            <a:r>
              <a:rPr lang="en-US" sz="2100" b="1" dirty="0">
                <a:solidFill>
                  <a:srgbClr val="1F2A44"/>
                </a:solidFill>
                <a:latin typeface="Noto Serif JP" pitchFamily="34" charset="0"/>
                <a:ea typeface="Noto Serif JP" pitchFamily="34" charset="-122"/>
                <a:cs typeface="Noto Serif JP" pitchFamily="34" charset="-120"/>
              </a:rPr>
              <a:t>10年後のマクロ環境変化と「3つのピンチ」</a:t>
            </a:r>
            <a:endParaRPr lang="en-US" sz="2100" dirty="0"/>
          </a:p>
        </p:txBody>
      </p:sp>
      <p:sp>
        <p:nvSpPr>
          <p:cNvPr id="9" name="Text 5"/>
          <p:cNvSpPr txBox="1"/>
          <p:nvPr/>
        </p:nvSpPr>
        <p:spPr>
          <a:xfrm>
            <a:off x="1238098" y="3133649"/>
            <a:ext cx="7049110" cy="505663"/>
          </a:xfrm>
          <a:prstGeom prst="rect">
            <a:avLst/>
          </a:prstGeom>
          <a:noFill/>
          <a:ln/>
        </p:spPr>
        <p:txBody>
          <a:bodyPr wrap="square" lIns="0" tIns="0" rIns="0" bIns="0" rtlCol="0" anchor="ctr"/>
          <a:lstStyle/>
          <a:p>
            <a:pPr algn="l" indent="0" marL="0">
              <a:buNone/>
            </a:pPr>
            <a:r>
              <a:rPr lang="en-US" sz="1100" dirty="0">
                <a:solidFill>
                  <a:srgbClr val="5A6271"/>
                </a:solidFill>
                <a:latin typeface="Noto Sans JP" pitchFamily="34" charset="0"/>
                <a:ea typeface="Noto Sans JP" pitchFamily="34" charset="-122"/>
                <a:cs typeface="Noto Sans JP" pitchFamily="34" charset="-120"/>
              </a:rPr>
              <a:t>このワークシートで最も知的創造力を問われるのが、10年後の未来予測です。マクロ社会変化を「技術革新」「人口減少・高齢化」「環境配慮」の3つの軸に細分化して捉えます。</a:t>
            </a:r>
            <a:endParaRPr lang="en-US" sz="1100" dirty="0"/>
          </a:p>
        </p:txBody>
      </p:sp>
      <p:sp>
        <p:nvSpPr>
          <p:cNvPr id="10" name="Shape 6"/>
          <p:cNvSpPr/>
          <p:nvPr/>
        </p:nvSpPr>
        <p:spPr>
          <a:xfrm>
            <a:off x="1238098" y="3862426"/>
            <a:ext cx="342900" cy="342900"/>
          </a:xfrm>
          <a:prstGeom prst="ellipse">
            <a:avLst/>
          </a:prstGeom>
          <a:solidFill>
            <a:srgbClr val="F4F6FA"/>
          </a:solidFill>
          <a:ln w="12700">
            <a:solidFill>
              <a:srgbClr val="FFFFFF">
                <a:alpha val="0"/>
              </a:srgbClr>
            </a:solidFill>
            <a:prstDash val="solid"/>
          </a:ln>
        </p:spPr>
      </p:sp>
      <p:sp>
        <p:nvSpPr>
          <p:cNvPr id="11" name="Text 7"/>
          <p:cNvSpPr/>
          <p:nvPr/>
        </p:nvSpPr>
        <p:spPr>
          <a:xfrm>
            <a:off x="1238098" y="3862426"/>
            <a:ext cx="342900" cy="342900"/>
          </a:xfrm>
          <a:prstGeom prst="rect">
            <a:avLst/>
          </a:prstGeom>
          <a:solidFill>
            <a:srgbClr val="FFFFFF">
              <a:alpha val="0"/>
            </a:srgbClr>
          </a:solidFill>
          <a:ln>
            <a:solidFill>
              <a:srgbClr val="FFFFFF">
                <a:alpha val="0"/>
              </a:srgbClr>
            </a:solidFill>
          </a:ln>
        </p:spPr>
        <p:txBody>
          <a:bodyPr wrap="none" lIns="0" tIns="0" rIns="0" bIns="0" rtlCol="0" anchor="ctr"/>
          <a:lstStyle/>
          <a:p>
            <a:pPr algn="ctr" indent="0" marL="0">
              <a:buNone/>
            </a:pPr>
            <a:r>
              <a:rPr lang="en-US" sz="1000" b="1" dirty="0">
                <a:solidFill>
                  <a:srgbClr val="B68C2E"/>
                </a:solidFill>
                <a:latin typeface="IBM Plex Mono" pitchFamily="34" charset="0"/>
                <a:ea typeface="IBM Plex Mono" pitchFamily="34" charset="-122"/>
                <a:cs typeface="IBM Plex Mono" pitchFamily="34" charset="-120"/>
              </a:rPr>
              <a:t>01</a:t>
            </a:r>
            <a:endParaRPr lang="en-US" sz="1000" dirty="0"/>
          </a:p>
        </p:txBody>
      </p:sp>
      <p:sp>
        <p:nvSpPr>
          <p:cNvPr id="12" name="Text 8"/>
          <p:cNvSpPr txBox="1"/>
          <p:nvPr/>
        </p:nvSpPr>
        <p:spPr>
          <a:xfrm>
            <a:off x="1714500" y="3862426"/>
            <a:ext cx="6572707" cy="200254"/>
          </a:xfrm>
          <a:prstGeom prst="rect">
            <a:avLst/>
          </a:prstGeom>
          <a:noFill/>
          <a:ln/>
        </p:spPr>
        <p:txBody>
          <a:bodyPr wrap="none" lIns="0" tIns="0" rIns="0" bIns="0" rtlCol="0" anchor="ctr"/>
          <a:lstStyle/>
          <a:p>
            <a:pPr algn="l" indent="0" marL="0">
              <a:buNone/>
            </a:pPr>
            <a:r>
              <a:rPr lang="en-US" sz="1100" b="1" dirty="0">
                <a:solidFill>
                  <a:srgbClr val="1F2A44"/>
                </a:solidFill>
                <a:latin typeface="Noto Sans JP" pitchFamily="34" charset="0"/>
                <a:ea typeface="Noto Sans JP" pitchFamily="34" charset="-122"/>
                <a:cs typeface="Noto Sans JP" pitchFamily="34" charset="-120"/>
              </a:rPr>
              <a:t>A. 技術革新・AI化（どう進む？）</a:t>
            </a:r>
            <a:endParaRPr lang="en-US" sz="1100" dirty="0"/>
          </a:p>
        </p:txBody>
      </p:sp>
      <p:sp>
        <p:nvSpPr>
          <p:cNvPr id="13" name="Text 9"/>
          <p:cNvSpPr txBox="1"/>
          <p:nvPr/>
        </p:nvSpPr>
        <p:spPr>
          <a:xfrm>
            <a:off x="1714500" y="4081882"/>
            <a:ext cx="6572707" cy="181051"/>
          </a:xfrm>
          <a:prstGeom prst="rect">
            <a:avLst/>
          </a:prstGeom>
          <a:noFill/>
          <a:ln/>
        </p:spPr>
        <p:txBody>
          <a:bodyPr wrap="none" lIns="0" tIns="0" rIns="0" bIns="0" rtlCol="0" anchor="ctr"/>
          <a:lstStyle/>
          <a:p>
            <a:pPr algn="l" indent="0" marL="0">
              <a:buNone/>
            </a:pPr>
            <a:r>
              <a:rPr lang="en-US" sz="900" dirty="0">
                <a:solidFill>
                  <a:srgbClr val="5A6271"/>
                </a:solidFill>
                <a:latin typeface="Noto Sans JP" pitchFamily="34" charset="0"/>
                <a:ea typeface="Noto Sans JP" pitchFamily="34" charset="-122"/>
                <a:cs typeface="Noto Sans JP" pitchFamily="34" charset="-120"/>
              </a:rPr>
              <a:t>自動化やロボット化によるプロの仕事の代替・変化。</a:t>
            </a:r>
            <a:endParaRPr lang="en-US" sz="900" dirty="0"/>
          </a:p>
        </p:txBody>
      </p:sp>
      <p:sp>
        <p:nvSpPr>
          <p:cNvPr id="14" name="Shape 10"/>
          <p:cNvSpPr/>
          <p:nvPr/>
        </p:nvSpPr>
        <p:spPr>
          <a:xfrm>
            <a:off x="1238098" y="4414723"/>
            <a:ext cx="342900" cy="342900"/>
          </a:xfrm>
          <a:prstGeom prst="ellipse">
            <a:avLst/>
          </a:prstGeom>
          <a:solidFill>
            <a:srgbClr val="F4F6FA"/>
          </a:solidFill>
          <a:ln w="12700">
            <a:solidFill>
              <a:srgbClr val="FFFFFF">
                <a:alpha val="0"/>
              </a:srgbClr>
            </a:solidFill>
            <a:prstDash val="solid"/>
          </a:ln>
        </p:spPr>
      </p:sp>
      <p:sp>
        <p:nvSpPr>
          <p:cNvPr id="15" name="Text 11"/>
          <p:cNvSpPr/>
          <p:nvPr/>
        </p:nvSpPr>
        <p:spPr>
          <a:xfrm>
            <a:off x="1238098" y="4414723"/>
            <a:ext cx="342900" cy="342900"/>
          </a:xfrm>
          <a:prstGeom prst="rect">
            <a:avLst/>
          </a:prstGeom>
          <a:solidFill>
            <a:srgbClr val="FFFFFF">
              <a:alpha val="0"/>
            </a:srgbClr>
          </a:solidFill>
          <a:ln>
            <a:solidFill>
              <a:srgbClr val="FFFFFF">
                <a:alpha val="0"/>
              </a:srgbClr>
            </a:solidFill>
          </a:ln>
        </p:spPr>
        <p:txBody>
          <a:bodyPr wrap="none" lIns="0" tIns="0" rIns="0" bIns="0" rtlCol="0" anchor="ctr"/>
          <a:lstStyle/>
          <a:p>
            <a:pPr algn="ctr" indent="0" marL="0">
              <a:buNone/>
            </a:pPr>
            <a:r>
              <a:rPr lang="en-US" sz="1000" b="1" dirty="0">
                <a:solidFill>
                  <a:srgbClr val="B68C2E"/>
                </a:solidFill>
                <a:latin typeface="IBM Plex Mono" pitchFamily="34" charset="0"/>
                <a:ea typeface="IBM Plex Mono" pitchFamily="34" charset="-122"/>
                <a:cs typeface="IBM Plex Mono" pitchFamily="34" charset="-120"/>
              </a:rPr>
              <a:t>02</a:t>
            </a:r>
            <a:endParaRPr lang="en-US" sz="1000" dirty="0"/>
          </a:p>
        </p:txBody>
      </p:sp>
      <p:sp>
        <p:nvSpPr>
          <p:cNvPr id="16" name="Text 12"/>
          <p:cNvSpPr txBox="1"/>
          <p:nvPr/>
        </p:nvSpPr>
        <p:spPr>
          <a:xfrm>
            <a:off x="1714500" y="4414723"/>
            <a:ext cx="6572707" cy="200254"/>
          </a:xfrm>
          <a:prstGeom prst="rect">
            <a:avLst/>
          </a:prstGeom>
          <a:noFill/>
          <a:ln/>
        </p:spPr>
        <p:txBody>
          <a:bodyPr wrap="none" lIns="0" tIns="0" rIns="0" bIns="0" rtlCol="0" anchor="ctr"/>
          <a:lstStyle/>
          <a:p>
            <a:pPr algn="l" indent="0" marL="0">
              <a:buNone/>
            </a:pPr>
            <a:r>
              <a:rPr lang="en-US" sz="1100" b="1" dirty="0">
                <a:solidFill>
                  <a:srgbClr val="1F2A44"/>
                </a:solidFill>
                <a:latin typeface="Noto Sans JP" pitchFamily="34" charset="0"/>
                <a:ea typeface="Noto Sans JP" pitchFamily="34" charset="-122"/>
                <a:cs typeface="Noto Sans JP" pitchFamily="34" charset="-120"/>
              </a:rPr>
              <a:t>B. 人口減少・超高齢化（どう対応する？）</a:t>
            </a:r>
            <a:endParaRPr lang="en-US" sz="1100" dirty="0"/>
          </a:p>
        </p:txBody>
      </p:sp>
      <p:sp>
        <p:nvSpPr>
          <p:cNvPr id="17" name="Text 13"/>
          <p:cNvSpPr txBox="1"/>
          <p:nvPr/>
        </p:nvSpPr>
        <p:spPr>
          <a:xfrm>
            <a:off x="1714500" y="4634179"/>
            <a:ext cx="6572707" cy="181051"/>
          </a:xfrm>
          <a:prstGeom prst="rect">
            <a:avLst/>
          </a:prstGeom>
          <a:noFill/>
          <a:ln/>
        </p:spPr>
        <p:txBody>
          <a:bodyPr wrap="none" lIns="0" tIns="0" rIns="0" bIns="0" rtlCol="0" anchor="ctr"/>
          <a:lstStyle/>
          <a:p>
            <a:pPr algn="l" indent="0" marL="0">
              <a:buNone/>
            </a:pPr>
            <a:r>
              <a:rPr lang="en-US" sz="900" dirty="0">
                <a:solidFill>
                  <a:srgbClr val="5A6271"/>
                </a:solidFill>
                <a:latin typeface="Noto Sans JP" pitchFamily="34" charset="0"/>
                <a:ea typeface="Noto Sans JP" pitchFamily="34" charset="-122"/>
                <a:cs typeface="Noto Sans JP" pitchFamily="34" charset="-120"/>
              </a:rPr>
              <a:t>働き手不足や顧客層の縮小が、自社のビジネスにもたらす危機。</a:t>
            </a:r>
            <a:endParaRPr lang="en-US" sz="900" dirty="0"/>
          </a:p>
        </p:txBody>
      </p:sp>
      <p:sp>
        <p:nvSpPr>
          <p:cNvPr id="18" name="Shape 14"/>
          <p:cNvSpPr/>
          <p:nvPr/>
        </p:nvSpPr>
        <p:spPr>
          <a:xfrm>
            <a:off x="1238098" y="4967021"/>
            <a:ext cx="342900" cy="342900"/>
          </a:xfrm>
          <a:prstGeom prst="ellipse">
            <a:avLst/>
          </a:prstGeom>
          <a:solidFill>
            <a:srgbClr val="F4F6FA"/>
          </a:solidFill>
          <a:ln w="12700">
            <a:solidFill>
              <a:srgbClr val="FFFFFF">
                <a:alpha val="0"/>
              </a:srgbClr>
            </a:solidFill>
            <a:prstDash val="solid"/>
          </a:ln>
        </p:spPr>
      </p:sp>
      <p:sp>
        <p:nvSpPr>
          <p:cNvPr id="19" name="Text 15"/>
          <p:cNvSpPr/>
          <p:nvPr/>
        </p:nvSpPr>
        <p:spPr>
          <a:xfrm>
            <a:off x="1238098" y="4967021"/>
            <a:ext cx="342900" cy="342900"/>
          </a:xfrm>
          <a:prstGeom prst="rect">
            <a:avLst/>
          </a:prstGeom>
          <a:solidFill>
            <a:srgbClr val="FFFFFF">
              <a:alpha val="0"/>
            </a:srgbClr>
          </a:solidFill>
          <a:ln>
            <a:solidFill>
              <a:srgbClr val="FFFFFF">
                <a:alpha val="0"/>
              </a:srgbClr>
            </a:solidFill>
          </a:ln>
        </p:spPr>
        <p:txBody>
          <a:bodyPr wrap="none" lIns="0" tIns="0" rIns="0" bIns="0" rtlCol="0" anchor="ctr"/>
          <a:lstStyle/>
          <a:p>
            <a:pPr algn="ctr" indent="0" marL="0">
              <a:buNone/>
            </a:pPr>
            <a:r>
              <a:rPr lang="en-US" sz="1000" b="1" dirty="0">
                <a:solidFill>
                  <a:srgbClr val="B68C2E"/>
                </a:solidFill>
                <a:latin typeface="IBM Plex Mono" pitchFamily="34" charset="0"/>
                <a:ea typeface="IBM Plex Mono" pitchFamily="34" charset="-122"/>
                <a:cs typeface="IBM Plex Mono" pitchFamily="34" charset="-120"/>
              </a:rPr>
              <a:t>03</a:t>
            </a:r>
            <a:endParaRPr lang="en-US" sz="1000" dirty="0"/>
          </a:p>
        </p:txBody>
      </p:sp>
      <p:sp>
        <p:nvSpPr>
          <p:cNvPr id="20" name="Text 16"/>
          <p:cNvSpPr txBox="1"/>
          <p:nvPr/>
        </p:nvSpPr>
        <p:spPr>
          <a:xfrm>
            <a:off x="1714500" y="4967021"/>
            <a:ext cx="6572707" cy="200254"/>
          </a:xfrm>
          <a:prstGeom prst="rect">
            <a:avLst/>
          </a:prstGeom>
          <a:noFill/>
          <a:ln/>
        </p:spPr>
        <p:txBody>
          <a:bodyPr wrap="none" lIns="0" tIns="0" rIns="0" bIns="0" rtlCol="0" anchor="ctr"/>
          <a:lstStyle/>
          <a:p>
            <a:pPr algn="l" indent="0" marL="0">
              <a:buNone/>
            </a:pPr>
            <a:r>
              <a:rPr lang="en-US" sz="1100" b="1" dirty="0">
                <a:solidFill>
                  <a:srgbClr val="1F2A44"/>
                </a:solidFill>
                <a:latin typeface="Noto Sans JP" pitchFamily="34" charset="0"/>
                <a:ea typeface="Noto Sans JP" pitchFamily="34" charset="-122"/>
                <a:cs typeface="Noto Sans JP" pitchFamily="34" charset="-120"/>
              </a:rPr>
              <a:t>C. 環境・ルール・気候（どう責任を果たす？）</a:t>
            </a:r>
            <a:endParaRPr lang="en-US" sz="1100" dirty="0"/>
          </a:p>
        </p:txBody>
      </p:sp>
      <p:sp>
        <p:nvSpPr>
          <p:cNvPr id="21" name="Text 17"/>
          <p:cNvSpPr txBox="1"/>
          <p:nvPr/>
        </p:nvSpPr>
        <p:spPr>
          <a:xfrm>
            <a:off x="1714500" y="5186477"/>
            <a:ext cx="6572707" cy="181051"/>
          </a:xfrm>
          <a:prstGeom prst="rect">
            <a:avLst/>
          </a:prstGeom>
          <a:noFill/>
          <a:ln/>
        </p:spPr>
        <p:txBody>
          <a:bodyPr wrap="none" lIns="0" tIns="0" rIns="0" bIns="0" rtlCol="0" anchor="ctr"/>
          <a:lstStyle/>
          <a:p>
            <a:pPr algn="l" indent="0" marL="0">
              <a:buNone/>
            </a:pPr>
            <a:r>
              <a:rPr lang="en-US" sz="900" dirty="0">
                <a:solidFill>
                  <a:srgbClr val="5A6271"/>
                </a:solidFill>
                <a:latin typeface="Noto Sans JP" pitchFamily="34" charset="0"/>
                <a:ea typeface="Noto Sans JP" pitchFamily="34" charset="-122"/>
                <a:cs typeface="Noto Sans JP" pitchFamily="34" charset="-120"/>
              </a:rPr>
              <a:t>脱炭素、温暖化対策、プラスチック削減、地域環境への配慮。</a:t>
            </a:r>
            <a:endParaRPr lang="en-US" sz="900" dirty="0"/>
          </a:p>
        </p:txBody>
      </p:sp>
      <p:sp>
        <p:nvSpPr>
          <p:cNvPr id="22" name="Text 18"/>
          <p:cNvSpPr txBox="1"/>
          <p:nvPr/>
        </p:nvSpPr>
        <p:spPr>
          <a:xfrm>
            <a:off x="9525305" y="2381098"/>
            <a:ext cx="7525512" cy="162763"/>
          </a:xfrm>
          <a:prstGeom prst="rect">
            <a:avLst/>
          </a:prstGeom>
          <a:noFill/>
          <a:ln/>
        </p:spPr>
        <p:txBody>
          <a:bodyPr wrap="none" lIns="0" tIns="0" rIns="0" bIns="0" rtlCol="0" anchor="ctr"/>
          <a:lstStyle/>
          <a:p>
            <a:pPr algn="l" indent="0" marL="0">
              <a:buNone/>
            </a:pPr>
            <a:r>
              <a:rPr lang="en-US" sz="900" b="1" dirty="0">
                <a:solidFill>
                  <a:srgbClr val="B68C2E"/>
                </a:solidFill>
                <a:latin typeface="IBM Plex Mono" pitchFamily="34" charset="0"/>
                <a:ea typeface="IBM Plex Mono" pitchFamily="34" charset="-122"/>
                <a:cs typeface="IBM Plex Mono" pitchFamily="34" charset="-120"/>
              </a:rPr>
              <a:t>QUESTION 22 · STRATEGIC PROPOSAL</a:t>
            </a:r>
            <a:endParaRPr lang="en-US" sz="900" dirty="0"/>
          </a:p>
        </p:txBody>
      </p:sp>
      <p:sp>
        <p:nvSpPr>
          <p:cNvPr id="23" name="Text 19"/>
          <p:cNvSpPr txBox="1"/>
          <p:nvPr/>
        </p:nvSpPr>
        <p:spPr>
          <a:xfrm>
            <a:off x="9525305" y="2619756"/>
            <a:ext cx="7525512" cy="381305"/>
          </a:xfrm>
          <a:prstGeom prst="rect">
            <a:avLst/>
          </a:prstGeom>
          <a:noFill/>
          <a:ln/>
        </p:spPr>
        <p:txBody>
          <a:bodyPr wrap="none" lIns="0" tIns="0" rIns="0" bIns="0" rtlCol="0" anchor="ctr"/>
          <a:lstStyle/>
          <a:p>
            <a:pPr algn="l" indent="0" marL="0">
              <a:buNone/>
            </a:pPr>
            <a:r>
              <a:rPr lang="en-US" sz="2100" b="1" dirty="0">
                <a:solidFill>
                  <a:srgbClr val="FFFFFF"/>
                </a:solidFill>
                <a:latin typeface="Noto Serif JP" pitchFamily="34" charset="0"/>
                <a:ea typeface="Noto Serif JP" pitchFamily="34" charset="-122"/>
                <a:cs typeface="Noto Serif JP" pitchFamily="34" charset="-120"/>
              </a:rPr>
              <a:t>勝手にアイデア提案（新規事業の創出）</a:t>
            </a:r>
            <a:endParaRPr lang="en-US" sz="2100" dirty="0"/>
          </a:p>
        </p:txBody>
      </p:sp>
      <p:sp>
        <p:nvSpPr>
          <p:cNvPr id="24" name="Text 20"/>
          <p:cNvSpPr txBox="1"/>
          <p:nvPr/>
        </p:nvSpPr>
        <p:spPr>
          <a:xfrm>
            <a:off x="9525305" y="3145536"/>
            <a:ext cx="7525512" cy="1151230"/>
          </a:xfrm>
          <a:prstGeom prst="rect">
            <a:avLst/>
          </a:prstGeom>
          <a:noFill/>
          <a:ln/>
        </p:spPr>
        <p:txBody>
          <a:bodyPr wrap="square" lIns="0" tIns="0" rIns="0" bIns="0" rtlCol="0" anchor="t"/>
          <a:lstStyle/>
          <a:p>
            <a:pPr algn="l" indent="0" marL="0">
              <a:lnSpc>
                <a:spcPts val="2160"/>
              </a:lnSpc>
              <a:buNone/>
            </a:pPr>
            <a:r>
              <a:rPr lang="en-US" sz="1200" dirty="0">
                <a:solidFill>
                  <a:srgbClr val="E5E7EB"/>
                </a:solidFill>
                <a:latin typeface="Noto Sans JP" pitchFamily="34" charset="0"/>
                <a:ea typeface="Noto Sans JP" pitchFamily="34" charset="-122"/>
                <a:cs typeface="Noto Sans JP" pitchFamily="34" charset="-120"/>
              </a:rPr>
              <a:t>10年後の未来予測と、Q10で発見した「独自の強み」を掛け合わせ、その企業が取るべき革新的な「新企画・事業アイデア」を独自のネーミングと共に勝手にプロ成して提案する最高のステップです。</a:t>
            </a:r>
            <a:pPr algn="l" indent="0" marL="0">
              <a:lnSpc>
                <a:spcPts val="2160"/>
              </a:lnSpc>
              <a:buNone/>
            </a:pPr>
            <a:endParaRPr lang="en-US" sz="1200" dirty="0"/>
          </a:p>
          <a:p>
            <a:pPr algn="l" indent="0" marL="0">
              <a:lnSpc>
                <a:spcPts val="2160"/>
              </a:lnSpc>
              <a:buNone/>
            </a:pPr>
            <a:r>
              <a:rPr lang="en-US" sz="1200" dirty="0">
                <a:solidFill>
                  <a:srgbClr val="E5E7EB"/>
                </a:solidFill>
                <a:latin typeface="Noto Sans JP" pitchFamily="34" charset="0"/>
                <a:ea typeface="Noto Sans JP" pitchFamily="34" charset="-122"/>
                <a:cs typeface="Noto Sans JP" pitchFamily="34" charset="-120"/>
              </a:rPr>
              <a:t>単なる受け身のインターンシップから、自ら課題解決に取り組む「ビジネスパーソンの一歩」へ。生徒が探究学習を終える際の、最強のアウトプット（主体的価値創造）をデザインします。</a:t>
            </a:r>
            <a:endParaRPr lang="en-US" sz="1200" dirty="0"/>
          </a:p>
        </p:txBody>
      </p:sp>
      <p:sp>
        <p:nvSpPr>
          <p:cNvPr id="25" name="Shape 21"/>
          <p:cNvSpPr/>
          <p:nvPr/>
        </p:nvSpPr>
        <p:spPr>
          <a:xfrm>
            <a:off x="9525305" y="4573829"/>
            <a:ext cx="7524598" cy="9144"/>
          </a:xfrm>
          <a:prstGeom prst="rect">
            <a:avLst/>
          </a:prstGeom>
          <a:solidFill>
            <a:srgbClr val="B68C2E"/>
          </a:solidFill>
          <a:ln w="12700">
            <a:solidFill>
              <a:srgbClr val="B68C2E">
                <a:alpha val="0"/>
              </a:srgbClr>
            </a:solidFill>
            <a:prstDash val="solid"/>
          </a:ln>
        </p:spPr>
      </p:sp>
      <p:sp>
        <p:nvSpPr>
          <p:cNvPr id="26" name="Text 22"/>
          <p:cNvSpPr txBox="1"/>
          <p:nvPr/>
        </p:nvSpPr>
        <p:spPr>
          <a:xfrm>
            <a:off x="9525305" y="4716475"/>
            <a:ext cx="7525512" cy="191110"/>
          </a:xfrm>
          <a:prstGeom prst="rect">
            <a:avLst/>
          </a:prstGeom>
          <a:solidFill>
            <a:srgbClr val="FFFFFF">
              <a:alpha val="0"/>
            </a:srgbClr>
          </a:solidFill>
          <a:ln>
            <a:solidFill>
              <a:srgbClr val="FFFFFF">
                <a:alpha val="0"/>
              </a:srgbClr>
            </a:solidFill>
          </a:ln>
        </p:spPr>
        <p:txBody>
          <a:bodyPr wrap="none" lIns="139700" tIns="0" rIns="139700" bIns="139700" rtlCol="0" anchor="ctr"/>
          <a:lstStyle/>
          <a:p>
            <a:pPr algn="l" indent="0" marL="0">
              <a:buNone/>
            </a:pPr>
            <a:r>
              <a:rPr lang="en-US" sz="1000" b="1" dirty="0">
                <a:solidFill>
                  <a:srgbClr val="B68C2E"/>
                </a:solidFill>
                <a:latin typeface="Noto Sans JP" pitchFamily="34" charset="0"/>
                <a:ea typeface="Noto Sans JP" pitchFamily="34" charset="-122"/>
                <a:cs typeface="Noto Sans JP" pitchFamily="34" charset="-120"/>
              </a:rPr>
              <a:t>💡 マルヤの新事業企画提案の例</a:t>
            </a:r>
            <a:endParaRPr lang="en-US" sz="1000" dirty="0"/>
          </a:p>
        </p:txBody>
      </p:sp>
      <p:sp>
        <p:nvSpPr>
          <p:cNvPr id="27" name="Text 23"/>
          <p:cNvSpPr txBox="1"/>
          <p:nvPr/>
        </p:nvSpPr>
        <p:spPr>
          <a:xfrm>
            <a:off x="9525305" y="4956962"/>
            <a:ext cx="7525512" cy="674827"/>
          </a:xfrm>
          <a:prstGeom prst="rect">
            <a:avLst/>
          </a:prstGeom>
          <a:noFill/>
          <a:ln/>
        </p:spPr>
        <p:txBody>
          <a:bodyPr wrap="square" lIns="0" tIns="0" rIns="0" bIns="0" rtlCol="0" anchor="t"/>
          <a:lstStyle/>
          <a:p>
            <a:pPr algn="l" indent="0" marL="0">
              <a:lnSpc>
                <a:spcPts val="1680"/>
              </a:lnSpc>
              <a:buNone/>
            </a:pPr>
            <a:r>
              <a:rPr lang="en-US" sz="1000" b="1" dirty="0">
                <a:solidFill>
                  <a:srgbClr val="B68C2E"/>
                </a:solidFill>
                <a:latin typeface="Noto Sans JP" pitchFamily="34" charset="0"/>
                <a:ea typeface="Noto Sans JP" pitchFamily="34" charset="-122"/>
                <a:cs typeface="Noto Sans JP" pitchFamily="34" charset="-120"/>
              </a:rPr>
              <a:t>【新企画名】</a:t>
            </a:r>
            <a:pPr algn="l" indent="0" marL="0">
              <a:lnSpc>
                <a:spcPts val="1680"/>
              </a:lnSpc>
              <a:buNone/>
            </a:pPr>
            <a:r>
              <a:rPr lang="en-US" sz="1000" dirty="0">
                <a:solidFill>
                  <a:srgbClr val="E5E7EB"/>
                </a:solidFill>
                <a:latin typeface="Noto Sans JP" pitchFamily="34" charset="0"/>
                <a:ea typeface="Noto Sans JP" pitchFamily="34" charset="-122"/>
                <a:cs typeface="Noto Sans JP" pitchFamily="34" charset="-120"/>
              </a:rPr>
              <a:t>「超ローカル移動マルシェ『マルヤ・スマイル便』」</a:t>
            </a:r>
            <a:pPr algn="l" indent="0" marL="0">
              <a:lnSpc>
                <a:spcPts val="1680"/>
              </a:lnSpc>
              <a:buNone/>
            </a:pPr>
            <a:endParaRPr lang="en-US" sz="1000" dirty="0"/>
          </a:p>
          <a:p>
            <a:pPr algn="l" indent="0" marL="0">
              <a:lnSpc>
                <a:spcPts val="1680"/>
              </a:lnSpc>
              <a:buNone/>
            </a:pPr>
            <a:r>
              <a:rPr lang="en-US" sz="1000" b="1" dirty="0">
                <a:solidFill>
                  <a:srgbClr val="FFFFFF"/>
                </a:solidFill>
                <a:latin typeface="Noto Sans JP" pitchFamily="34" charset="0"/>
                <a:ea typeface="Noto Sans JP" pitchFamily="34" charset="-122"/>
                <a:cs typeface="Noto Sans JP" pitchFamily="34" charset="-120"/>
              </a:rPr>
              <a:t>【内容】</a:t>
            </a:r>
            <a:pPr algn="l" indent="0" marL="0">
              <a:lnSpc>
                <a:spcPts val="1680"/>
              </a:lnSpc>
              <a:buNone/>
            </a:pPr>
            <a:r>
              <a:rPr lang="en-US" sz="1000" dirty="0">
                <a:solidFill>
                  <a:srgbClr val="E5E7EB"/>
                </a:solidFill>
                <a:latin typeface="Noto Sans JP" pitchFamily="34" charset="0"/>
                <a:ea typeface="Noto Sans JP" pitchFamily="34" charset="-122"/>
                <a:cs typeface="Noto Sans JP" pitchFamily="34" charset="-120"/>
              </a:rPr>
              <a:t>仕入れバイヤーの調達力を活かし、過疎地のお年寄り向けに移動店舗カーを展開、店内の厨房で手作りした出来立ての「あったか惣菜」を直接届ける、超高齢化対策を兼ねた新事業モデル。</a:t>
            </a:r>
            <a:endParaRPr lang="en-US" sz="1000" dirty="0"/>
          </a:p>
        </p:txBody>
      </p:sp>
      <p:sp>
        <p:nvSpPr>
          <p:cNvPr id="28" name="Text 24"/>
          <p:cNvSpPr txBox="1"/>
          <p:nvPr/>
        </p:nvSpPr>
        <p:spPr>
          <a:xfrm>
            <a:off x="857707" y="9620402"/>
            <a:ext cx="16573500" cy="133502"/>
          </a:xfrm>
          <a:prstGeom prst="rect">
            <a:avLst/>
          </a:prstGeom>
          <a:noFill/>
          <a:ln/>
        </p:spPr>
        <p:txBody>
          <a:bodyPr wrap="none" lIns="0" tIns="0" rIns="0" bIns="0" rtlCol="0" anchor="ctr"/>
          <a:lstStyle/>
          <a:p>
            <a:pPr algn="r" indent="0" marL="0">
              <a:buNone/>
            </a:pPr>
            <a:r>
              <a:rPr lang="en-US" sz="800" spc="99" kern="0" dirty="0">
                <a:solidFill>
                  <a:srgbClr val="A4ABB8"/>
                </a:solidFill>
                <a:latin typeface="IBM Plex Mono" pitchFamily="34" charset="0"/>
                <a:ea typeface="IBM Plex Mono" pitchFamily="34" charset="-122"/>
                <a:cs typeface="IBM Plex Mono" pitchFamily="34" charset="-120"/>
              </a:rPr>
              <a:t>CONFIDENTIAL · INTERNSHIP DISSECTION BRIEF · PAGE 08</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gen-dedup-97fba22e14047e916a72d45c364dea0f.png">    </p:cNvPr>
          <p:cNvPicPr>
            <a:picLocks noChangeAspect="1"/>
          </p:cNvPicPr>
          <p:nvPr/>
        </p:nvPicPr>
        <p:blipFill>
          <a:blip r:embed="rId1"/>
          <a:srcRect l="0" r="0" t="-400" b="-400"/>
          <a:stretch/>
        </p:blipFill>
        <p:spPr>
          <a:xfrm>
            <a:off x="857707" y="1571854"/>
            <a:ext cx="16573500" cy="19202"/>
          </a:xfrm>
          <a:prstGeom prst="rect">
            <a:avLst/>
          </a:prstGeom>
        </p:spPr>
      </p:pic>
      <p:sp>
        <p:nvSpPr>
          <p:cNvPr id="3" name="Shape 0"/>
          <p:cNvSpPr/>
          <p:nvPr/>
        </p:nvSpPr>
        <p:spPr>
          <a:xfrm>
            <a:off x="857707" y="2000707"/>
            <a:ext cx="5143500" cy="6476695"/>
          </a:xfrm>
          <a:prstGeom prst="roundRect">
            <a:avLst>
              <a:gd name="adj" fmla="val 1120"/>
            </a:avLst>
          </a:prstGeom>
          <a:solidFill>
            <a:srgbClr val="F4F6FA"/>
          </a:solidFill>
          <a:ln w="12700">
            <a:solidFill>
              <a:srgbClr val="FFFFFF">
                <a:alpha val="0"/>
              </a:srgbClr>
            </a:solidFill>
            <a:prstDash val="solid"/>
          </a:ln>
        </p:spPr>
      </p:sp>
      <p:sp>
        <p:nvSpPr>
          <p:cNvPr id="4" name="Shape 1"/>
          <p:cNvSpPr/>
          <p:nvPr/>
        </p:nvSpPr>
        <p:spPr>
          <a:xfrm>
            <a:off x="6572707" y="2000707"/>
            <a:ext cx="5143500" cy="6476695"/>
          </a:xfrm>
          <a:prstGeom prst="roundRect">
            <a:avLst>
              <a:gd name="adj" fmla="val 1120"/>
            </a:avLst>
          </a:prstGeom>
          <a:solidFill>
            <a:srgbClr val="F4F6FA"/>
          </a:solidFill>
          <a:ln w="12700">
            <a:solidFill>
              <a:srgbClr val="FFFFFF">
                <a:alpha val="0"/>
              </a:srgbClr>
            </a:solidFill>
            <a:prstDash val="solid"/>
          </a:ln>
        </p:spPr>
      </p:sp>
      <p:pic>
        <p:nvPicPr>
          <p:cNvPr id="5" name="Image 1" descr="gen-dedup-15252f8d1e19111b7843548266db5bdf.png">    </p:cNvPr>
          <p:cNvPicPr>
            <a:picLocks noChangeAspect="1"/>
          </p:cNvPicPr>
          <p:nvPr/>
        </p:nvPicPr>
        <p:blipFill>
          <a:blip r:embed="rId2"/>
          <a:srcRect l="-2" r="-2" t="0" b="0"/>
          <a:stretch/>
        </p:blipFill>
        <p:spPr>
          <a:xfrm>
            <a:off x="12287707" y="2000707"/>
            <a:ext cx="5143500" cy="6476695"/>
          </a:xfrm>
          <a:prstGeom prst="rect">
            <a:avLst/>
          </a:prstGeom>
        </p:spPr>
      </p:pic>
      <p:sp>
        <p:nvSpPr>
          <p:cNvPr id="6" name="Text 2"/>
          <p:cNvSpPr txBox="1"/>
          <p:nvPr/>
        </p:nvSpPr>
        <p:spPr>
          <a:xfrm>
            <a:off x="857707" y="571500"/>
            <a:ext cx="16573500" cy="171907"/>
          </a:xfrm>
          <a:prstGeom prst="rect">
            <a:avLst/>
          </a:prstGeom>
          <a:noFill/>
          <a:ln/>
        </p:spPr>
        <p:txBody>
          <a:bodyPr wrap="none" lIns="0" tIns="0" rIns="0" bIns="0" rtlCol="0" anchor="ctr"/>
          <a:lstStyle/>
          <a:p>
            <a:pPr algn="l" indent="0" marL="0">
              <a:buNone/>
            </a:pPr>
            <a:r>
              <a:rPr lang="en-US" sz="1000" spc="210" kern="0" dirty="0">
                <a:solidFill>
                  <a:srgbClr val="B68C2E"/>
                </a:solidFill>
                <a:latin typeface="IBM Plex Mono" pitchFamily="34" charset="0"/>
                <a:ea typeface="IBM Plex Mono" pitchFamily="34" charset="-122"/>
                <a:cs typeface="IBM Plex Mono" pitchFamily="34" charset="-120"/>
              </a:rPr>
              <a:t>APPLICATION INTERFACE &amp; FEATURES // THE DIGITAL SYSTEM</a:t>
            </a:r>
            <a:endParaRPr lang="en-US" sz="1000" dirty="0"/>
          </a:p>
        </p:txBody>
      </p:sp>
      <p:sp>
        <p:nvSpPr>
          <p:cNvPr id="7" name="Text 3"/>
          <p:cNvSpPr txBox="1"/>
          <p:nvPr/>
        </p:nvSpPr>
        <p:spPr>
          <a:xfrm>
            <a:off x="857707" y="905256"/>
            <a:ext cx="16573500" cy="571500"/>
          </a:xfrm>
          <a:prstGeom prst="rect">
            <a:avLst/>
          </a:prstGeom>
          <a:noFill/>
          <a:ln/>
        </p:spPr>
        <p:txBody>
          <a:bodyPr wrap="none" lIns="0" tIns="0" rIns="0" bIns="0" rtlCol="0" anchor="ctr"/>
          <a:lstStyle/>
          <a:p>
            <a:pPr algn="l" indent="0" marL="0">
              <a:buNone/>
            </a:pPr>
            <a:r>
              <a:rPr lang="en-US" sz="3100" b="1" dirty="0">
                <a:solidFill>
                  <a:srgbClr val="1F2A44"/>
                </a:solidFill>
                <a:latin typeface="Noto Serif JP" pitchFamily="34" charset="0"/>
                <a:ea typeface="Noto Serif JP" pitchFamily="34" charset="-122"/>
                <a:cs typeface="Noto Serif JP" pitchFamily="34" charset="-120"/>
              </a:rPr>
              <a:t>【アプリ機能】教育現場のリアルに寄り添うハイブリッド支援設計</a:t>
            </a:r>
            <a:endParaRPr lang="en-US" sz="3100" dirty="0"/>
          </a:p>
        </p:txBody>
      </p:sp>
      <p:sp>
        <p:nvSpPr>
          <p:cNvPr id="8" name="Text 4"/>
          <p:cNvSpPr txBox="1"/>
          <p:nvPr/>
        </p:nvSpPr>
        <p:spPr>
          <a:xfrm>
            <a:off x="1238098" y="2381098"/>
            <a:ext cx="4381805" cy="162763"/>
          </a:xfrm>
          <a:prstGeom prst="rect">
            <a:avLst/>
          </a:prstGeom>
          <a:noFill/>
          <a:ln/>
        </p:spPr>
        <p:txBody>
          <a:bodyPr wrap="none" lIns="0" tIns="0" rIns="0" bIns="0" rtlCol="0" anchor="ctr"/>
          <a:lstStyle/>
          <a:p>
            <a:pPr algn="l" indent="0" marL="0">
              <a:buNone/>
            </a:pPr>
            <a:r>
              <a:rPr lang="en-US" sz="900" b="1" dirty="0">
                <a:solidFill>
                  <a:srgbClr val="B68C2E"/>
                </a:solidFill>
                <a:latin typeface="IBM Plex Mono" pitchFamily="34" charset="0"/>
                <a:ea typeface="IBM Plex Mono" pitchFamily="34" charset="-122"/>
                <a:cs typeface="IBM Plex Mono" pitchFamily="34" charset="-120"/>
              </a:rPr>
              <a:t>FEATURE 01</a:t>
            </a:r>
            <a:endParaRPr lang="en-US" sz="900" dirty="0"/>
          </a:p>
        </p:txBody>
      </p:sp>
      <p:sp>
        <p:nvSpPr>
          <p:cNvPr id="9" name="Text 5"/>
          <p:cNvSpPr txBox="1"/>
          <p:nvPr/>
        </p:nvSpPr>
        <p:spPr>
          <a:xfrm>
            <a:off x="1238098" y="2619756"/>
            <a:ext cx="4381805" cy="352958"/>
          </a:xfrm>
          <a:prstGeom prst="rect">
            <a:avLst/>
          </a:prstGeom>
          <a:noFill/>
          <a:ln/>
        </p:spPr>
        <p:txBody>
          <a:bodyPr wrap="none" lIns="0" tIns="0" rIns="0" bIns="0" rtlCol="0" anchor="ctr"/>
          <a:lstStyle/>
          <a:p>
            <a:pPr algn="l" indent="0" marL="0">
              <a:buNone/>
            </a:pPr>
            <a:r>
              <a:rPr lang="en-US" sz="1900" b="1" dirty="0">
                <a:solidFill>
                  <a:srgbClr val="1F2A44"/>
                </a:solidFill>
                <a:latin typeface="Noto Serif JP" pitchFamily="34" charset="0"/>
                <a:ea typeface="Noto Serif JP" pitchFamily="34" charset="-122"/>
                <a:cs typeface="Noto Serif JP" pitchFamily="34" charset="-120"/>
              </a:rPr>
              <a:t>A4手書き印刷最適化</a:t>
            </a:r>
            <a:endParaRPr lang="en-US" sz="1900" dirty="0"/>
          </a:p>
        </p:txBody>
      </p:sp>
      <p:sp>
        <p:nvSpPr>
          <p:cNvPr id="10" name="Text 6"/>
          <p:cNvSpPr txBox="1"/>
          <p:nvPr/>
        </p:nvSpPr>
        <p:spPr>
          <a:xfrm>
            <a:off x="1238098" y="3010205"/>
            <a:ext cx="4381805" cy="162763"/>
          </a:xfrm>
          <a:prstGeom prst="rect">
            <a:avLst/>
          </a:prstGeom>
          <a:noFill/>
          <a:ln/>
        </p:spPr>
        <p:txBody>
          <a:bodyPr wrap="none" lIns="0" tIns="0" rIns="0" bIns="0" rtlCol="0" anchor="ctr"/>
          <a:lstStyle/>
          <a:p>
            <a:pPr algn="l" indent="0" marL="0">
              <a:buNone/>
            </a:pPr>
            <a:r>
              <a:rPr lang="en-US" sz="900" b="1" dirty="0">
                <a:solidFill>
                  <a:srgbClr val="5A6271"/>
                </a:solidFill>
                <a:latin typeface="IBM Plex Mono" pitchFamily="34" charset="0"/>
                <a:ea typeface="IBM Plex Mono" pitchFamily="34" charset="-122"/>
                <a:cs typeface="IBM Plex Mono" pitchFamily="34" charset="-120"/>
              </a:rPr>
              <a:t>A4 PRINT READY</a:t>
            </a:r>
            <a:endParaRPr lang="en-US" sz="900" dirty="0"/>
          </a:p>
        </p:txBody>
      </p:sp>
      <p:sp>
        <p:nvSpPr>
          <p:cNvPr id="11" name="Text 7"/>
          <p:cNvSpPr txBox="1"/>
          <p:nvPr/>
        </p:nvSpPr>
        <p:spPr>
          <a:xfrm>
            <a:off x="1238098" y="3316529"/>
            <a:ext cx="4381805" cy="2246681"/>
          </a:xfrm>
          <a:prstGeom prst="rect">
            <a:avLst/>
          </a:prstGeom>
          <a:noFill/>
          <a:ln/>
        </p:spPr>
        <p:txBody>
          <a:bodyPr wrap="square" lIns="0" tIns="0" rIns="0" bIns="0" rtlCol="0" anchor="t"/>
          <a:lstStyle/>
          <a:p>
            <a:pPr algn="l" indent="0" marL="0">
              <a:lnSpc>
                <a:spcPts val="2160"/>
              </a:lnSpc>
              <a:buNone/>
            </a:pPr>
            <a:r>
              <a:rPr lang="en-US" sz="1200" dirty="0">
                <a:solidFill>
                  <a:srgbClr val="5A6271"/>
                </a:solidFill>
                <a:latin typeface="Noto Sans JP" pitchFamily="34" charset="0"/>
                <a:ea typeface="Noto Sans JP" pitchFamily="34" charset="-122"/>
                <a:cs typeface="Noto Sans JP" pitchFamily="34" charset="-120"/>
              </a:rPr>
              <a:t>デジタル端末の導入が進む教育現場ですが、「現場への持ち込み制限」や「書くことで思考を深める教育的意義」から手書きのニーズは依然として非常に高いです。</a:t>
            </a:r>
            <a:pPr algn="l" indent="0" marL="0">
              <a:lnSpc>
                <a:spcPts val="2160"/>
              </a:lnSpc>
              <a:buNone/>
            </a:pPr>
            <a:endParaRPr lang="en-US" sz="1200" dirty="0"/>
          </a:p>
          <a:p>
            <a:pPr algn="l" indent="0" marL="0">
              <a:lnSpc>
                <a:spcPts val="2160"/>
              </a:lnSpc>
              <a:buNone/>
            </a:pPr>
            <a:endParaRPr lang="en-US" sz="1200" dirty="0"/>
          </a:p>
          <a:p>
            <a:pPr algn="l" indent="0" marL="0">
              <a:lnSpc>
                <a:spcPts val="2160"/>
              </a:lnSpc>
              <a:buNone/>
            </a:pPr>
            <a:r>
              <a:rPr lang="en-US" sz="1200" dirty="0">
                <a:solidFill>
                  <a:srgbClr val="5A6271"/>
                </a:solidFill>
                <a:latin typeface="Noto Sans JP" pitchFamily="34" charset="0"/>
                <a:ea typeface="Noto Sans JP" pitchFamily="34" charset="-122"/>
                <a:cs typeface="Noto Sans JP" pitchFamily="34" charset="-120"/>
              </a:rPr>
              <a:t>本アプリは、ボタン一つで入力フォームを完全に手書き用の美しい点線記入枠に変換。A4用紙に極めてきれいに収まる印刷（PDF出力）に対応し、手書きでも高品質なシートを実現します。</a:t>
            </a:r>
            <a:endParaRPr lang="en-US" sz="1200" dirty="0"/>
          </a:p>
        </p:txBody>
      </p:sp>
      <p:sp>
        <p:nvSpPr>
          <p:cNvPr id="12" name="Text 8"/>
          <p:cNvSpPr txBox="1"/>
          <p:nvPr/>
        </p:nvSpPr>
        <p:spPr>
          <a:xfrm>
            <a:off x="6953098" y="2381098"/>
            <a:ext cx="4381805" cy="162763"/>
          </a:xfrm>
          <a:prstGeom prst="rect">
            <a:avLst/>
          </a:prstGeom>
          <a:noFill/>
          <a:ln/>
        </p:spPr>
        <p:txBody>
          <a:bodyPr wrap="none" lIns="0" tIns="0" rIns="0" bIns="0" rtlCol="0" anchor="ctr"/>
          <a:lstStyle/>
          <a:p>
            <a:pPr algn="l" indent="0" marL="0">
              <a:buNone/>
            </a:pPr>
            <a:r>
              <a:rPr lang="en-US" sz="900" b="1" dirty="0">
                <a:solidFill>
                  <a:srgbClr val="B68C2E"/>
                </a:solidFill>
                <a:latin typeface="IBM Plex Mono" pitchFamily="34" charset="0"/>
                <a:ea typeface="IBM Plex Mono" pitchFamily="34" charset="-122"/>
                <a:cs typeface="IBM Plex Mono" pitchFamily="34" charset="-120"/>
              </a:rPr>
              <a:t>FEATURE 02</a:t>
            </a:r>
            <a:endParaRPr lang="en-US" sz="900" dirty="0"/>
          </a:p>
        </p:txBody>
      </p:sp>
      <p:sp>
        <p:nvSpPr>
          <p:cNvPr id="13" name="Text 9"/>
          <p:cNvSpPr txBox="1"/>
          <p:nvPr/>
        </p:nvSpPr>
        <p:spPr>
          <a:xfrm>
            <a:off x="6953098" y="2619756"/>
            <a:ext cx="4381805" cy="352958"/>
          </a:xfrm>
          <a:prstGeom prst="rect">
            <a:avLst/>
          </a:prstGeom>
          <a:noFill/>
          <a:ln/>
        </p:spPr>
        <p:txBody>
          <a:bodyPr wrap="none" lIns="0" tIns="0" rIns="0" bIns="0" rtlCol="0" anchor="ctr"/>
          <a:lstStyle/>
          <a:p>
            <a:pPr algn="l" indent="0" marL="0">
              <a:buNone/>
            </a:pPr>
            <a:r>
              <a:rPr lang="en-US" sz="1900" b="1" dirty="0">
                <a:solidFill>
                  <a:srgbClr val="1F2A44"/>
                </a:solidFill>
                <a:latin typeface="Noto Serif JP" pitchFamily="34" charset="0"/>
                <a:ea typeface="Noto Serif JP" pitchFamily="34" charset="-122"/>
                <a:cs typeface="Noto Serif JP" pitchFamily="34" charset="-120"/>
              </a:rPr>
              <a:t>Live XP進捗トラッカー</a:t>
            </a:r>
            <a:endParaRPr lang="en-US" sz="1900" dirty="0"/>
          </a:p>
        </p:txBody>
      </p:sp>
      <p:sp>
        <p:nvSpPr>
          <p:cNvPr id="14" name="Text 10"/>
          <p:cNvSpPr txBox="1"/>
          <p:nvPr/>
        </p:nvSpPr>
        <p:spPr>
          <a:xfrm>
            <a:off x="6953098" y="3010205"/>
            <a:ext cx="4381805" cy="162763"/>
          </a:xfrm>
          <a:prstGeom prst="rect">
            <a:avLst/>
          </a:prstGeom>
          <a:noFill/>
          <a:ln/>
        </p:spPr>
        <p:txBody>
          <a:bodyPr wrap="none" lIns="0" tIns="0" rIns="0" bIns="0" rtlCol="0" anchor="ctr"/>
          <a:lstStyle/>
          <a:p>
            <a:pPr algn="l" indent="0" marL="0">
              <a:buNone/>
            </a:pPr>
            <a:r>
              <a:rPr lang="en-US" sz="900" b="1" dirty="0">
                <a:solidFill>
                  <a:srgbClr val="5A6271"/>
                </a:solidFill>
                <a:latin typeface="IBM Plex Mono" pitchFamily="34" charset="0"/>
                <a:ea typeface="IBM Plex Mono" pitchFamily="34" charset="-122"/>
                <a:cs typeface="IBM Plex Mono" pitchFamily="34" charset="-120"/>
              </a:rPr>
              <a:t>QUEST PROGRESS / GAMIFICATION</a:t>
            </a:r>
            <a:endParaRPr lang="en-US" sz="900" dirty="0"/>
          </a:p>
        </p:txBody>
      </p:sp>
      <p:sp>
        <p:nvSpPr>
          <p:cNvPr id="15" name="Text 11"/>
          <p:cNvSpPr txBox="1"/>
          <p:nvPr/>
        </p:nvSpPr>
        <p:spPr>
          <a:xfrm>
            <a:off x="6953098" y="3316529"/>
            <a:ext cx="4381805" cy="2246681"/>
          </a:xfrm>
          <a:prstGeom prst="rect">
            <a:avLst/>
          </a:prstGeom>
          <a:noFill/>
          <a:ln/>
        </p:spPr>
        <p:txBody>
          <a:bodyPr wrap="square" lIns="0" tIns="0" rIns="0" bIns="0" rtlCol="0" anchor="t"/>
          <a:lstStyle/>
          <a:p>
            <a:pPr algn="l" indent="0" marL="0">
              <a:lnSpc>
                <a:spcPts val="2160"/>
              </a:lnSpc>
              <a:buNone/>
            </a:pPr>
            <a:r>
              <a:rPr lang="en-US" sz="1200" dirty="0">
                <a:solidFill>
                  <a:srgbClr val="5A6271"/>
                </a:solidFill>
                <a:latin typeface="Noto Sans JP" pitchFamily="34" charset="0"/>
                <a:ea typeface="Noto Sans JP" pitchFamily="34" charset="-122"/>
                <a:cs typeface="Noto Sans JP" pitchFamily="34" charset="-120"/>
              </a:rPr>
              <a:t>長大なワークシート（22問）に直面すると、多くの生徒は書くことへの意欲を失いがちになります。</a:t>
            </a:r>
            <a:pPr algn="l" indent="0" marL="0">
              <a:lnSpc>
                <a:spcPts val="2160"/>
              </a:lnSpc>
              <a:buNone/>
            </a:pPr>
            <a:endParaRPr lang="en-US" sz="1200" dirty="0"/>
          </a:p>
          <a:p>
            <a:pPr algn="l" indent="0" marL="0">
              <a:lnSpc>
                <a:spcPts val="2160"/>
              </a:lnSpc>
              <a:buNone/>
            </a:pPr>
            <a:endParaRPr lang="en-US" sz="1200" dirty="0"/>
          </a:p>
          <a:p>
            <a:pPr algn="l" indent="0" marL="0">
              <a:lnSpc>
                <a:spcPts val="2160"/>
              </a:lnSpc>
              <a:buNone/>
            </a:pPr>
            <a:r>
              <a:rPr lang="en-US" sz="1200" dirty="0">
                <a:solidFill>
                  <a:srgbClr val="5A6271"/>
                </a:solidFill>
                <a:latin typeface="Noto Sans JP" pitchFamily="34" charset="0"/>
                <a:ea typeface="Noto Sans JP" pitchFamily="34" charset="-122"/>
                <a:cs typeface="Noto Sans JP" pitchFamily="34" charset="-120"/>
              </a:rPr>
              <a:t>本アプリは入力進捗率をリアルタイムに集計。回答状況に合わせて、進捗パーセンテージ、プログレスバーが稼働し、「未記入」「ビギナー」「アドベンチャラー」「プロフェッショナル」「マスター」といったランク変化を可視化（Live XP機能）。探究クエスト感覚で生徒のモチベーションを高めます。</a:t>
            </a:r>
            <a:endParaRPr lang="en-US" sz="1200" dirty="0"/>
          </a:p>
        </p:txBody>
      </p:sp>
      <p:sp>
        <p:nvSpPr>
          <p:cNvPr id="16" name="Text 12"/>
          <p:cNvSpPr txBox="1"/>
          <p:nvPr/>
        </p:nvSpPr>
        <p:spPr>
          <a:xfrm>
            <a:off x="12668098" y="2381098"/>
            <a:ext cx="4381805" cy="162763"/>
          </a:xfrm>
          <a:prstGeom prst="rect">
            <a:avLst/>
          </a:prstGeom>
          <a:noFill/>
          <a:ln/>
        </p:spPr>
        <p:txBody>
          <a:bodyPr wrap="none" lIns="0" tIns="0" rIns="0" bIns="0" rtlCol="0" anchor="ctr"/>
          <a:lstStyle/>
          <a:p>
            <a:pPr algn="l" indent="0" marL="0">
              <a:buNone/>
            </a:pPr>
            <a:r>
              <a:rPr lang="en-US" sz="900" b="1" dirty="0">
                <a:solidFill>
                  <a:srgbClr val="B68C2E"/>
                </a:solidFill>
                <a:latin typeface="IBM Plex Mono" pitchFamily="34" charset="0"/>
                <a:ea typeface="IBM Plex Mono" pitchFamily="34" charset="-122"/>
                <a:cs typeface="IBM Plex Mono" pitchFamily="34" charset="-120"/>
              </a:rPr>
              <a:t>FEATURE 03</a:t>
            </a:r>
            <a:endParaRPr lang="en-US" sz="900" dirty="0"/>
          </a:p>
        </p:txBody>
      </p:sp>
      <p:sp>
        <p:nvSpPr>
          <p:cNvPr id="17" name="Text 13"/>
          <p:cNvSpPr txBox="1"/>
          <p:nvPr/>
        </p:nvSpPr>
        <p:spPr>
          <a:xfrm>
            <a:off x="12668098" y="2619756"/>
            <a:ext cx="4381805" cy="352958"/>
          </a:xfrm>
          <a:prstGeom prst="rect">
            <a:avLst/>
          </a:prstGeom>
          <a:noFill/>
          <a:ln/>
        </p:spPr>
        <p:txBody>
          <a:bodyPr wrap="none" lIns="0" tIns="0" rIns="0" bIns="0" rtlCol="0" anchor="ctr"/>
          <a:lstStyle/>
          <a:p>
            <a:pPr algn="l" indent="0" marL="0">
              <a:buNone/>
            </a:pPr>
            <a:r>
              <a:rPr lang="en-US" sz="1900" b="1" dirty="0">
                <a:solidFill>
                  <a:srgbClr val="FFFFFF"/>
                </a:solidFill>
                <a:latin typeface="Noto Serif JP" pitchFamily="34" charset="0"/>
                <a:ea typeface="Noto Serif JP" pitchFamily="34" charset="-122"/>
                <a:cs typeface="Noto Serif JP" pitchFamily="34" charset="-120"/>
              </a:rPr>
              <a:t>整理＆プレゼン資料作成変換</a:t>
            </a:r>
            <a:endParaRPr lang="en-US" sz="1900" dirty="0"/>
          </a:p>
        </p:txBody>
      </p:sp>
      <p:sp>
        <p:nvSpPr>
          <p:cNvPr id="18" name="Text 14"/>
          <p:cNvSpPr txBox="1"/>
          <p:nvPr/>
        </p:nvSpPr>
        <p:spPr>
          <a:xfrm>
            <a:off x="12668098" y="3010205"/>
            <a:ext cx="4381805" cy="162763"/>
          </a:xfrm>
          <a:prstGeom prst="rect">
            <a:avLst/>
          </a:prstGeom>
          <a:noFill/>
          <a:ln/>
        </p:spPr>
        <p:txBody>
          <a:bodyPr wrap="none" lIns="0" tIns="0" rIns="0" bIns="0" rtlCol="0" anchor="ctr"/>
          <a:lstStyle/>
          <a:p>
            <a:pPr algn="l" indent="0" marL="0">
              <a:buNone/>
            </a:pPr>
            <a:r>
              <a:rPr lang="en-US" sz="900" b="1" dirty="0">
                <a:solidFill>
                  <a:srgbClr val="B68C2E"/>
                </a:solidFill>
                <a:latin typeface="IBM Plex Mono" pitchFamily="34" charset="0"/>
                <a:ea typeface="IBM Plex Mono" pitchFamily="34" charset="-122"/>
                <a:cs typeface="IBM Plex Mono" pitchFamily="34" charset="-120"/>
              </a:rPr>
              <a:t>SLIDE BUILDER OPTIMIZATION</a:t>
            </a:r>
            <a:endParaRPr lang="en-US" sz="900" dirty="0"/>
          </a:p>
        </p:txBody>
      </p:sp>
      <p:sp>
        <p:nvSpPr>
          <p:cNvPr id="19" name="Text 15"/>
          <p:cNvSpPr txBox="1"/>
          <p:nvPr/>
        </p:nvSpPr>
        <p:spPr>
          <a:xfrm>
            <a:off x="12668098" y="3316529"/>
            <a:ext cx="4381805" cy="2246681"/>
          </a:xfrm>
          <a:prstGeom prst="rect">
            <a:avLst/>
          </a:prstGeom>
          <a:noFill/>
          <a:ln/>
        </p:spPr>
        <p:txBody>
          <a:bodyPr wrap="square" lIns="0" tIns="0" rIns="0" bIns="0" rtlCol="0" anchor="t"/>
          <a:lstStyle/>
          <a:p>
            <a:pPr algn="l" indent="0" marL="0">
              <a:lnSpc>
                <a:spcPts val="2160"/>
              </a:lnSpc>
              <a:buNone/>
            </a:pPr>
            <a:r>
              <a:rPr lang="en-US" sz="1200" dirty="0">
                <a:solidFill>
                  <a:srgbClr val="E5E7EB"/>
                </a:solidFill>
                <a:latin typeface="Noto Sans JP" pitchFamily="34" charset="0"/>
                <a:ea typeface="Noto Sans JP" pitchFamily="34" charset="-122"/>
                <a:cs typeface="Noto Sans JP" pitchFamily="34" charset="-120"/>
              </a:rPr>
              <a:t>手書きメモやバラバラに入力された内容を、ワンクリックで「プレゼンテーション発表スライド用」の整理されたビューに切り替えます。</a:t>
            </a:r>
            <a:pPr algn="l" indent="0" marL="0">
              <a:lnSpc>
                <a:spcPts val="2160"/>
              </a:lnSpc>
              <a:buNone/>
            </a:pPr>
            <a:endParaRPr lang="en-US" sz="1200" dirty="0"/>
          </a:p>
          <a:p>
            <a:pPr algn="l" indent="0" marL="0">
              <a:lnSpc>
                <a:spcPts val="2160"/>
              </a:lnSpc>
              <a:buNone/>
            </a:pPr>
            <a:endParaRPr lang="en-US" sz="1200" dirty="0"/>
          </a:p>
          <a:p>
            <a:pPr algn="l" indent="0" marL="0">
              <a:lnSpc>
                <a:spcPts val="2160"/>
              </a:lnSpc>
              <a:buNone/>
            </a:pPr>
            <a:r>
              <a:rPr lang="en-US" sz="1200" dirty="0">
                <a:solidFill>
                  <a:srgbClr val="E5E7EB"/>
                </a:solidFill>
                <a:latin typeface="Noto Sans JP" pitchFamily="34" charset="0"/>
                <a:ea typeface="Noto Sans JP" pitchFamily="34" charset="-122"/>
                <a:cs typeface="Noto Sans JP" pitchFamily="34" charset="-120"/>
              </a:rPr>
              <a:t>生徒自身が書いた回答内容が、スライドのタイトル・弾丸（箇条書き）・重要なまとめとして瞬時にビジュアル整理され、探究活動の最終目的である「発表プレゼンの準備」が最速で完結する仕組みです。</a:t>
            </a:r>
            <a:endParaRPr lang="en-US" sz="1200" dirty="0"/>
          </a:p>
        </p:txBody>
      </p:sp>
      <p:sp>
        <p:nvSpPr>
          <p:cNvPr id="20" name="Text 16"/>
          <p:cNvSpPr txBox="1"/>
          <p:nvPr/>
        </p:nvSpPr>
        <p:spPr>
          <a:xfrm>
            <a:off x="857707" y="9620402"/>
            <a:ext cx="16573500" cy="133502"/>
          </a:xfrm>
          <a:prstGeom prst="rect">
            <a:avLst/>
          </a:prstGeom>
          <a:noFill/>
          <a:ln/>
        </p:spPr>
        <p:txBody>
          <a:bodyPr wrap="none" lIns="0" tIns="0" rIns="0" bIns="0" rtlCol="0" anchor="ctr"/>
          <a:lstStyle/>
          <a:p>
            <a:pPr algn="r" indent="0" marL="0">
              <a:buNone/>
            </a:pPr>
            <a:r>
              <a:rPr lang="en-US" sz="800" spc="99" kern="0" dirty="0">
                <a:solidFill>
                  <a:srgbClr val="A4ABB8"/>
                </a:solidFill>
                <a:latin typeface="IBM Plex Mono" pitchFamily="34" charset="0"/>
                <a:ea typeface="IBM Plex Mono" pitchFamily="34" charset="-122"/>
                <a:cs typeface="IBM Plex Mono" pitchFamily="34" charset="-120"/>
              </a:rPr>
              <a:t>CONFIDENTIAL · INTERNSHIP DISSECTION BRIEF · PAGE 09</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F2A44"/>
        </a:solidFill>
      </p:bgPr>
    </p:bg>
    <p:spTree>
      <p:nvGrpSpPr>
        <p:cNvPr id="1" name=""/>
        <p:cNvGrpSpPr/>
        <p:nvPr/>
      </p:nvGrpSpPr>
      <p:grpSpPr>
        <a:xfrm>
          <a:off x="0" y="0"/>
          <a:ext cx="0" cy="0"/>
          <a:chOff x="0" y="0"/>
          <a:chExt cx="0" cy="0"/>
        </a:xfrm>
      </p:grpSpPr>
      <p:pic>
        <p:nvPicPr>
          <p:cNvPr id="2" name="Image 0" descr="gen-dedup-328f8a46f023124c6147fa8b2e4a7f88.png">    </p:cNvPr>
          <p:cNvPicPr>
            <a:picLocks noChangeAspect="1"/>
          </p:cNvPicPr>
          <p:nvPr/>
        </p:nvPicPr>
        <p:blipFill>
          <a:blip r:embed="rId1"/>
          <a:srcRect l="0" r="0" t="0" b="0"/>
          <a:stretch/>
        </p:blipFill>
        <p:spPr>
          <a:xfrm>
            <a:off x="0" y="0"/>
            <a:ext cx="5715000" cy="5715000"/>
          </a:xfrm>
          <a:prstGeom prst="rect">
            <a:avLst/>
          </a:prstGeom>
        </p:spPr>
      </p:pic>
      <p:pic>
        <p:nvPicPr>
          <p:cNvPr id="3" name="Image 1" descr="gen-dedup-cc79123283050b06d2e5ba49b9303c46.png">    </p:cNvPr>
          <p:cNvPicPr>
            <a:picLocks noChangeAspect="1"/>
          </p:cNvPicPr>
          <p:nvPr/>
        </p:nvPicPr>
        <p:blipFill>
          <a:blip r:embed="rId2"/>
          <a:srcRect l="0" r="0" t="0" b="0"/>
          <a:stretch/>
        </p:blipFill>
        <p:spPr>
          <a:xfrm>
            <a:off x="10668305" y="2667305"/>
            <a:ext cx="7619695" cy="7619695"/>
          </a:xfrm>
          <a:prstGeom prst="rect">
            <a:avLst/>
          </a:prstGeom>
        </p:spPr>
      </p:pic>
      <p:pic>
        <p:nvPicPr>
          <p:cNvPr id="4" name="Image 2" descr="gen-dedup-09948e9ed4bb5643666ec853ceac0401.png">    </p:cNvPr>
          <p:cNvPicPr>
            <a:picLocks noChangeAspect="1"/>
          </p:cNvPicPr>
          <p:nvPr/>
        </p:nvPicPr>
        <p:blipFill>
          <a:blip r:embed="rId3"/>
          <a:srcRect l="-2083" r="-2083" t="0" b="0"/>
          <a:stretch/>
        </p:blipFill>
        <p:spPr>
          <a:xfrm>
            <a:off x="857707" y="1143000"/>
            <a:ext cx="16573500" cy="9144"/>
          </a:xfrm>
          <a:prstGeom prst="rect">
            <a:avLst/>
          </a:prstGeom>
        </p:spPr>
      </p:pic>
      <p:sp>
        <p:nvSpPr>
          <p:cNvPr id="5" name="Text 0"/>
          <p:cNvSpPr txBox="1"/>
          <p:nvPr/>
        </p:nvSpPr>
        <p:spPr>
          <a:xfrm>
            <a:off x="857707" y="1429207"/>
            <a:ext cx="16573500" cy="191110"/>
          </a:xfrm>
          <a:prstGeom prst="rect">
            <a:avLst/>
          </a:prstGeom>
          <a:noFill/>
          <a:ln/>
        </p:spPr>
        <p:txBody>
          <a:bodyPr wrap="none" lIns="0" tIns="0" rIns="0" bIns="0" rtlCol="0" anchor="ctr"/>
          <a:lstStyle/>
          <a:p>
            <a:pPr algn="l" indent="0" marL="0">
              <a:buNone/>
            </a:pPr>
            <a:r>
              <a:rPr lang="en-US" sz="1200" spc="384" kern="0" dirty="0">
                <a:solidFill>
                  <a:srgbClr val="B68C2E"/>
                </a:solidFill>
                <a:latin typeface="IBM Plex Mono" pitchFamily="34" charset="0"/>
                <a:ea typeface="IBM Plex Mono" pitchFamily="34" charset="-122"/>
                <a:cs typeface="IBM Plex Mono" pitchFamily="34" charset="-120"/>
              </a:rPr>
              <a:t>THE NEXT STEP // ACTION ROADMAP</a:t>
            </a:r>
            <a:endParaRPr lang="en-US" sz="1200" dirty="0"/>
          </a:p>
        </p:txBody>
      </p:sp>
      <p:sp>
        <p:nvSpPr>
          <p:cNvPr id="6" name="Text 1"/>
          <p:cNvSpPr txBox="1"/>
          <p:nvPr/>
        </p:nvSpPr>
        <p:spPr>
          <a:xfrm>
            <a:off x="857707" y="2095805"/>
            <a:ext cx="16573500" cy="1714500"/>
          </a:xfrm>
          <a:prstGeom prst="rect">
            <a:avLst/>
          </a:prstGeom>
          <a:noFill/>
          <a:ln/>
        </p:spPr>
        <p:txBody>
          <a:bodyPr wrap="square" lIns="0" tIns="0" rIns="0" bIns="0" rtlCol="0" anchor="t"/>
          <a:lstStyle/>
          <a:p>
            <a:pPr algn="l" indent="0" marL="0">
              <a:buNone/>
            </a:pPr>
            <a:r>
              <a:rPr lang="en-US" sz="4200" b="1" dirty="0">
                <a:solidFill>
                  <a:srgbClr val="FFFFFF"/>
                </a:solidFill>
                <a:latin typeface="Noto Serif JP" pitchFamily="34" charset="0"/>
                <a:ea typeface="Noto Serif JP" pitchFamily="34" charset="-122"/>
                <a:cs typeface="Noto Serif JP" pitchFamily="34" charset="-120"/>
              </a:rPr>
              <a:t>解剖シートを書き終えたら、</a:t>
            </a:r>
            <a:pPr algn="l" indent="0" marL="0">
              <a:buNone/>
            </a:pPr>
            <a:endParaRPr lang="en-US" sz="4200" dirty="0"/>
          </a:p>
          <a:p>
            <a:pPr algn="l" indent="0" marL="0">
              <a:buNone/>
            </a:pPr>
            <a:r>
              <a:rPr lang="en-US" sz="4200" b="1" dirty="0">
                <a:solidFill>
                  <a:srgbClr val="FFFFFF"/>
                </a:solidFill>
                <a:latin typeface="Noto Serif JP" pitchFamily="34" charset="0"/>
                <a:ea typeface="Noto Serif JP" pitchFamily="34" charset="-122"/>
                <a:cs typeface="Noto Serif JP" pitchFamily="34" charset="-120"/>
              </a:rPr>
              <a:t>プレゼンテーションスライドへ！</a:t>
            </a:r>
            <a:endParaRPr lang="en-US" sz="4200" dirty="0"/>
          </a:p>
        </p:txBody>
      </p:sp>
      <p:sp>
        <p:nvSpPr>
          <p:cNvPr id="7" name="Text 2"/>
          <p:cNvSpPr txBox="1"/>
          <p:nvPr/>
        </p:nvSpPr>
        <p:spPr>
          <a:xfrm>
            <a:off x="857707" y="3937406"/>
            <a:ext cx="16573500" cy="825703"/>
          </a:xfrm>
          <a:prstGeom prst="rect">
            <a:avLst/>
          </a:prstGeom>
          <a:noFill/>
          <a:ln/>
        </p:spPr>
        <p:txBody>
          <a:bodyPr wrap="square" lIns="0" tIns="0" rIns="0" bIns="0" rtlCol="0" anchor="t"/>
          <a:lstStyle/>
          <a:p>
            <a:pPr algn="l" indent="0" marL="0">
              <a:lnSpc>
                <a:spcPts val="2970"/>
              </a:lnSpc>
              <a:buNone/>
            </a:pPr>
            <a:r>
              <a:rPr lang="en-US" sz="1600" dirty="0">
                <a:solidFill>
                  <a:srgbClr val="E5E7EB"/>
                </a:solidFill>
                <a:latin typeface="Noto Sans JP" pitchFamily="34" charset="0"/>
                <a:ea typeface="Noto Sans JP" pitchFamily="34" charset="-122"/>
                <a:cs typeface="Noto Sans JP" pitchFamily="34" charset="-120"/>
              </a:rPr>
              <a:t>インターンシップ解剖シートを埋めたとき、生徒の中には「ビジネスをシステムとして深く理解した最高のデータベース」が完成しています。</a:t>
            </a:r>
            <a:pPr algn="l" indent="0" marL="0">
              <a:lnSpc>
                <a:spcPts val="2970"/>
              </a:lnSpc>
              <a:buNone/>
            </a:pPr>
            <a:endParaRPr lang="en-US" sz="1600" dirty="0"/>
          </a:p>
          <a:p>
            <a:pPr algn="l" indent="0" marL="0">
              <a:lnSpc>
                <a:spcPts val="2970"/>
              </a:lnSpc>
              <a:buNone/>
            </a:pPr>
            <a:r>
              <a:rPr lang="en-US" sz="1600" dirty="0">
                <a:solidFill>
                  <a:srgbClr val="E5E7EB"/>
                </a:solidFill>
                <a:latin typeface="Noto Sans JP" pitchFamily="34" charset="0"/>
                <a:ea typeface="Noto Sans JP" pitchFamily="34" charset="-122"/>
                <a:cs typeface="Noto Sans JP" pitchFamily="34" charset="-120"/>
              </a:rPr>
              <a:t>このアプリを使い終えたら、いよいよ学んだことを他者に共有する発表活動（プレゼン作成）が始まります。</a:t>
            </a:r>
            <a:endParaRPr lang="en-US" sz="1600" dirty="0"/>
          </a:p>
        </p:txBody>
      </p:sp>
      <p:sp>
        <p:nvSpPr>
          <p:cNvPr id="8" name="Shape 3"/>
          <p:cNvSpPr/>
          <p:nvPr/>
        </p:nvSpPr>
        <p:spPr>
          <a:xfrm>
            <a:off x="857707" y="5524805"/>
            <a:ext cx="5277002" cy="1971446"/>
          </a:xfrm>
          <a:prstGeom prst="roundRect">
            <a:avLst>
              <a:gd name="adj" fmla="val 2922"/>
            </a:avLst>
          </a:prstGeom>
          <a:solidFill>
            <a:srgbClr val="FFFFFF">
              <a:alpha val="4000"/>
            </a:srgbClr>
          </a:solidFill>
          <a:ln w="12700">
            <a:solidFill>
              <a:srgbClr val="B68C2E">
                <a:alpha val="30000"/>
              </a:srgbClr>
            </a:solidFill>
            <a:prstDash val="solid"/>
          </a:ln>
        </p:spPr>
      </p:sp>
      <p:sp>
        <p:nvSpPr>
          <p:cNvPr id="9" name="Text 4"/>
          <p:cNvSpPr txBox="1"/>
          <p:nvPr/>
        </p:nvSpPr>
        <p:spPr>
          <a:xfrm>
            <a:off x="1152144" y="5820156"/>
            <a:ext cx="4686300" cy="171907"/>
          </a:xfrm>
          <a:prstGeom prst="rect">
            <a:avLst/>
          </a:prstGeom>
          <a:noFill/>
          <a:ln/>
        </p:spPr>
        <p:txBody>
          <a:bodyPr wrap="none" lIns="0" tIns="0" rIns="0" bIns="0" rtlCol="0" anchor="ctr"/>
          <a:lstStyle/>
          <a:p>
            <a:pPr algn="l" indent="0" marL="0">
              <a:buNone/>
            </a:pPr>
            <a:r>
              <a:rPr lang="en-US" sz="1000" b="1" dirty="0">
                <a:solidFill>
                  <a:srgbClr val="B68C2E"/>
                </a:solidFill>
                <a:latin typeface="IBM Plex Mono" pitchFamily="34" charset="0"/>
                <a:ea typeface="IBM Plex Mono" pitchFamily="34" charset="-122"/>
                <a:cs typeface="IBM Plex Mono" pitchFamily="34" charset="-120"/>
              </a:rPr>
              <a:t>STEP 01</a:t>
            </a:r>
            <a:endParaRPr lang="en-US" sz="1000" dirty="0"/>
          </a:p>
        </p:txBody>
      </p:sp>
      <p:sp>
        <p:nvSpPr>
          <p:cNvPr id="10" name="Text 5"/>
          <p:cNvSpPr txBox="1"/>
          <p:nvPr/>
        </p:nvSpPr>
        <p:spPr>
          <a:xfrm>
            <a:off x="1152144" y="6086246"/>
            <a:ext cx="4686300" cy="333756"/>
          </a:xfrm>
          <a:prstGeom prst="rect">
            <a:avLst/>
          </a:prstGeom>
          <a:noFill/>
          <a:ln/>
        </p:spPr>
        <p:txBody>
          <a:bodyPr wrap="none" lIns="0" tIns="0" rIns="0" bIns="0" rtlCol="0" anchor="ctr"/>
          <a:lstStyle/>
          <a:p>
            <a:pPr algn="l" indent="0" marL="0">
              <a:buNone/>
            </a:pPr>
            <a:r>
              <a:rPr lang="en-US" sz="1800" b="1" dirty="0">
                <a:solidFill>
                  <a:srgbClr val="FFFFFF"/>
                </a:solidFill>
                <a:latin typeface="Noto Serif JP" pitchFamily="34" charset="0"/>
                <a:ea typeface="Noto Serif JP" pitchFamily="34" charset="-122"/>
                <a:cs typeface="Noto Serif JP" pitchFamily="34" charset="-120"/>
              </a:rPr>
              <a:t>アプリで回答を「整理」</a:t>
            </a:r>
            <a:endParaRPr lang="en-US" sz="1800" dirty="0"/>
          </a:p>
        </p:txBody>
      </p:sp>
      <p:sp>
        <p:nvSpPr>
          <p:cNvPr id="11" name="Text 6"/>
          <p:cNvSpPr txBox="1"/>
          <p:nvPr/>
        </p:nvSpPr>
        <p:spPr>
          <a:xfrm>
            <a:off x="1152144" y="6515100"/>
            <a:ext cx="4686300" cy="685800"/>
          </a:xfrm>
          <a:prstGeom prst="rect">
            <a:avLst/>
          </a:prstGeom>
          <a:noFill/>
          <a:ln/>
        </p:spPr>
        <p:txBody>
          <a:bodyPr wrap="square" lIns="0" tIns="0" rIns="0" bIns="0" rtlCol="0" anchor="ctr"/>
          <a:lstStyle/>
          <a:p>
            <a:pPr algn="l" indent="0" marL="0">
              <a:buNone/>
            </a:pPr>
            <a:r>
              <a:rPr lang="en-US" sz="1100" dirty="0">
                <a:solidFill>
                  <a:srgbClr val="A4ABB8"/>
                </a:solidFill>
                <a:latin typeface="Noto Sans JP" pitchFamily="34" charset="0"/>
                <a:ea typeface="Noto Sans JP" pitchFamily="34" charset="-122"/>
                <a:cs typeface="Noto Sans JP" pitchFamily="34" charset="-120"/>
              </a:rPr>
              <a:t>手書きまたはアプリに入力した22の全回答を、アプリの「整理」機能を使って、プレゼンテーションに適した要約・箇条書きビューへと最適化します。</a:t>
            </a:r>
            <a:endParaRPr lang="en-US" sz="1100" dirty="0"/>
          </a:p>
        </p:txBody>
      </p:sp>
      <p:sp>
        <p:nvSpPr>
          <p:cNvPr id="12" name="Shape 7"/>
          <p:cNvSpPr/>
          <p:nvPr/>
        </p:nvSpPr>
        <p:spPr>
          <a:xfrm>
            <a:off x="6508699" y="5524805"/>
            <a:ext cx="5277002" cy="1971446"/>
          </a:xfrm>
          <a:prstGeom prst="roundRect">
            <a:avLst>
              <a:gd name="adj" fmla="val 2922"/>
            </a:avLst>
          </a:prstGeom>
          <a:solidFill>
            <a:srgbClr val="FFFFFF">
              <a:alpha val="4000"/>
            </a:srgbClr>
          </a:solidFill>
          <a:ln w="12700">
            <a:solidFill>
              <a:srgbClr val="B68C2E">
                <a:alpha val="30000"/>
              </a:srgbClr>
            </a:solidFill>
            <a:prstDash val="solid"/>
          </a:ln>
        </p:spPr>
      </p:sp>
      <p:sp>
        <p:nvSpPr>
          <p:cNvPr id="13" name="Text 8"/>
          <p:cNvSpPr txBox="1"/>
          <p:nvPr/>
        </p:nvSpPr>
        <p:spPr>
          <a:xfrm>
            <a:off x="6804050" y="5820156"/>
            <a:ext cx="4686300" cy="171907"/>
          </a:xfrm>
          <a:prstGeom prst="rect">
            <a:avLst/>
          </a:prstGeom>
          <a:noFill/>
          <a:ln/>
        </p:spPr>
        <p:txBody>
          <a:bodyPr wrap="none" lIns="0" tIns="0" rIns="0" bIns="0" rtlCol="0" anchor="ctr"/>
          <a:lstStyle/>
          <a:p>
            <a:pPr algn="l" indent="0" marL="0">
              <a:buNone/>
            </a:pPr>
            <a:r>
              <a:rPr lang="en-US" sz="1000" b="1" dirty="0">
                <a:solidFill>
                  <a:srgbClr val="B68C2E"/>
                </a:solidFill>
                <a:latin typeface="IBM Plex Mono" pitchFamily="34" charset="0"/>
                <a:ea typeface="IBM Plex Mono" pitchFamily="34" charset="-122"/>
                <a:cs typeface="IBM Plex Mono" pitchFamily="34" charset="-120"/>
              </a:rPr>
              <a:t>STEP 02</a:t>
            </a:r>
            <a:endParaRPr lang="en-US" sz="1000" dirty="0"/>
          </a:p>
        </p:txBody>
      </p:sp>
      <p:sp>
        <p:nvSpPr>
          <p:cNvPr id="14" name="Text 9"/>
          <p:cNvSpPr txBox="1"/>
          <p:nvPr/>
        </p:nvSpPr>
        <p:spPr>
          <a:xfrm>
            <a:off x="6804050" y="6086246"/>
            <a:ext cx="4686300" cy="333756"/>
          </a:xfrm>
          <a:prstGeom prst="rect">
            <a:avLst/>
          </a:prstGeom>
          <a:noFill/>
          <a:ln/>
        </p:spPr>
        <p:txBody>
          <a:bodyPr wrap="none" lIns="0" tIns="0" rIns="0" bIns="0" rtlCol="0" anchor="ctr"/>
          <a:lstStyle/>
          <a:p>
            <a:pPr algn="l" indent="0" marL="0">
              <a:buNone/>
            </a:pPr>
            <a:r>
              <a:rPr lang="en-US" sz="1800" b="1" dirty="0">
                <a:solidFill>
                  <a:srgbClr val="FFFFFF"/>
                </a:solidFill>
                <a:latin typeface="Noto Serif JP" pitchFamily="34" charset="0"/>
                <a:ea typeface="Noto Serif JP" pitchFamily="34" charset="-122"/>
                <a:cs typeface="Noto Serif JP" pitchFamily="34" charset="-120"/>
              </a:rPr>
              <a:t>構成案（プロット）の作成</a:t>
            </a:r>
            <a:endParaRPr lang="en-US" sz="1800" dirty="0"/>
          </a:p>
        </p:txBody>
      </p:sp>
      <p:sp>
        <p:nvSpPr>
          <p:cNvPr id="15" name="Text 10"/>
          <p:cNvSpPr txBox="1"/>
          <p:nvPr/>
        </p:nvSpPr>
        <p:spPr>
          <a:xfrm>
            <a:off x="6804050" y="6515100"/>
            <a:ext cx="4686300" cy="685800"/>
          </a:xfrm>
          <a:prstGeom prst="rect">
            <a:avLst/>
          </a:prstGeom>
          <a:noFill/>
          <a:ln/>
        </p:spPr>
        <p:txBody>
          <a:bodyPr wrap="square" lIns="0" tIns="0" rIns="0" bIns="0" rtlCol="0" anchor="ctr"/>
          <a:lstStyle/>
          <a:p>
            <a:pPr algn="l" indent="0" marL="0">
              <a:buNone/>
            </a:pPr>
            <a:r>
              <a:rPr lang="en-US" sz="1100" dirty="0">
                <a:solidFill>
                  <a:srgbClr val="A4ABB8"/>
                </a:solidFill>
                <a:latin typeface="Noto Sans JP" pitchFamily="34" charset="0"/>
                <a:ea typeface="Noto Sans JP" pitchFamily="34" charset="-122"/>
                <a:cs typeface="Noto Sans JP" pitchFamily="34" charset="-120"/>
              </a:rPr>
              <a:t>本アプリのカテゴリ構造（基本情報、事業運営、職種連携、キャリア視点、未来アイデア）に沿って、スライド5〜10枚の発表シナリオを自動的に組み立てます。</a:t>
            </a:r>
            <a:endParaRPr lang="en-US" sz="1100" dirty="0"/>
          </a:p>
        </p:txBody>
      </p:sp>
      <p:sp>
        <p:nvSpPr>
          <p:cNvPr id="16" name="Shape 11"/>
          <p:cNvSpPr/>
          <p:nvPr/>
        </p:nvSpPr>
        <p:spPr>
          <a:xfrm>
            <a:off x="12160606" y="5524805"/>
            <a:ext cx="5277002" cy="1971446"/>
          </a:xfrm>
          <a:prstGeom prst="roundRect">
            <a:avLst>
              <a:gd name="adj" fmla="val 2922"/>
            </a:avLst>
          </a:prstGeom>
          <a:solidFill>
            <a:srgbClr val="FFFFFF">
              <a:alpha val="4000"/>
            </a:srgbClr>
          </a:solidFill>
          <a:ln w="12700">
            <a:solidFill>
              <a:srgbClr val="B68C2E">
                <a:alpha val="30000"/>
              </a:srgbClr>
            </a:solidFill>
            <a:prstDash val="solid"/>
          </a:ln>
        </p:spPr>
      </p:sp>
      <p:sp>
        <p:nvSpPr>
          <p:cNvPr id="17" name="Text 12"/>
          <p:cNvSpPr txBox="1"/>
          <p:nvPr/>
        </p:nvSpPr>
        <p:spPr>
          <a:xfrm>
            <a:off x="12455957" y="5820156"/>
            <a:ext cx="4686300" cy="171907"/>
          </a:xfrm>
          <a:prstGeom prst="rect">
            <a:avLst/>
          </a:prstGeom>
          <a:noFill/>
          <a:ln/>
        </p:spPr>
        <p:txBody>
          <a:bodyPr wrap="none" lIns="0" tIns="0" rIns="0" bIns="0" rtlCol="0" anchor="ctr"/>
          <a:lstStyle/>
          <a:p>
            <a:pPr algn="l" indent="0" marL="0">
              <a:buNone/>
            </a:pPr>
            <a:r>
              <a:rPr lang="en-US" sz="1000" b="1" dirty="0">
                <a:solidFill>
                  <a:srgbClr val="B68C2E"/>
                </a:solidFill>
                <a:latin typeface="IBM Plex Mono" pitchFamily="34" charset="0"/>
                <a:ea typeface="IBM Plex Mono" pitchFamily="34" charset="-122"/>
                <a:cs typeface="IBM Plex Mono" pitchFamily="34" charset="-120"/>
              </a:rPr>
              <a:t>STEP 03</a:t>
            </a:r>
            <a:endParaRPr lang="en-US" sz="1000" dirty="0"/>
          </a:p>
        </p:txBody>
      </p:sp>
      <p:sp>
        <p:nvSpPr>
          <p:cNvPr id="18" name="Text 13"/>
          <p:cNvSpPr txBox="1"/>
          <p:nvPr/>
        </p:nvSpPr>
        <p:spPr>
          <a:xfrm>
            <a:off x="12455957" y="6086246"/>
            <a:ext cx="4686300" cy="333756"/>
          </a:xfrm>
          <a:prstGeom prst="rect">
            <a:avLst/>
          </a:prstGeom>
          <a:noFill/>
          <a:ln/>
        </p:spPr>
        <p:txBody>
          <a:bodyPr wrap="none" lIns="0" tIns="0" rIns="0" bIns="0" rtlCol="0" anchor="ctr"/>
          <a:lstStyle/>
          <a:p>
            <a:pPr algn="l" indent="0" marL="0">
              <a:buNone/>
            </a:pPr>
            <a:r>
              <a:rPr lang="en-US" sz="1800" b="1" dirty="0">
                <a:solidFill>
                  <a:srgbClr val="FFFFFF"/>
                </a:solidFill>
                <a:latin typeface="Noto Serif JP" pitchFamily="34" charset="0"/>
                <a:ea typeface="Noto Serif JP" pitchFamily="34" charset="-122"/>
                <a:cs typeface="Noto Serif JP" pitchFamily="34" charset="-120"/>
              </a:rPr>
              <a:t>洗練された発表資料に変換</a:t>
            </a:r>
            <a:endParaRPr lang="en-US" sz="1800" dirty="0"/>
          </a:p>
        </p:txBody>
      </p:sp>
      <p:sp>
        <p:nvSpPr>
          <p:cNvPr id="19" name="Text 14"/>
          <p:cNvSpPr txBox="1"/>
          <p:nvPr/>
        </p:nvSpPr>
        <p:spPr>
          <a:xfrm>
            <a:off x="12455957" y="6515100"/>
            <a:ext cx="4686300" cy="685800"/>
          </a:xfrm>
          <a:prstGeom prst="rect">
            <a:avLst/>
          </a:prstGeom>
          <a:noFill/>
          <a:ln/>
        </p:spPr>
        <p:txBody>
          <a:bodyPr wrap="square" lIns="0" tIns="0" rIns="0" bIns="0" rtlCol="0" anchor="ctr"/>
          <a:lstStyle/>
          <a:p>
            <a:pPr algn="l" indent="0" marL="0">
              <a:buNone/>
            </a:pPr>
            <a:r>
              <a:rPr lang="en-US" sz="1100" dirty="0">
                <a:solidFill>
                  <a:srgbClr val="A4ABB8"/>
                </a:solidFill>
                <a:latin typeface="Noto Sans JP" pitchFamily="34" charset="0"/>
                <a:ea typeface="Noto Sans JP" pitchFamily="34" charset="-122"/>
                <a:cs typeface="Noto Sans JP" pitchFamily="34" charset="-120"/>
              </a:rPr>
              <a:t>整理された論理構造をそのままスライドに転記（または本ツールからPPTX/HTMLとしてエクスポート）し、外資系コンサル品質の洗練されたビジュアルで説得力のある最終報告を完成。</a:t>
            </a:r>
            <a:endParaRPr lang="en-US" sz="1100" dirty="0"/>
          </a:p>
        </p:txBody>
      </p:sp>
      <p:sp>
        <p:nvSpPr>
          <p:cNvPr id="20" name="Text 15"/>
          <p:cNvSpPr txBox="1"/>
          <p:nvPr/>
        </p:nvSpPr>
        <p:spPr>
          <a:xfrm>
            <a:off x="857707" y="9620402"/>
            <a:ext cx="16573500" cy="133502"/>
          </a:xfrm>
          <a:prstGeom prst="rect">
            <a:avLst/>
          </a:prstGeom>
          <a:noFill/>
          <a:ln/>
        </p:spPr>
        <p:txBody>
          <a:bodyPr wrap="none" lIns="0" tIns="0" rIns="0" bIns="0" rtlCol="0" anchor="ctr"/>
          <a:lstStyle/>
          <a:p>
            <a:pPr algn="l" indent="0" marL="0">
              <a:buNone/>
            </a:pPr>
            <a:r>
              <a:rPr lang="en-US" sz="800" spc="99" kern="0" dirty="0">
                <a:solidFill>
                  <a:srgbClr val="A4ABB8"/>
                </a:solidFill>
                <a:latin typeface="IBM Plex Mono" pitchFamily="34" charset="0"/>
                <a:ea typeface="IBM Plex Mono" pitchFamily="34" charset="-122"/>
                <a:cs typeface="IBM Plex Mono" pitchFamily="34" charset="-120"/>
              </a:rPr>
              <a:t>CONFIDENTIAL · INTERNSHIP DISSECTION BRIEF · PAGE 10</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Generated by Gen-Spark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Multi-page HTML Content</dc:title>
  <dc:subject>PptxGenJS Presentation</dc:subject>
  <dc:creator>Visual Extract to PPTX Converter</dc:creator>
  <cp:lastModifiedBy>Visual Extract to PPTX Converter</cp:lastModifiedBy>
  <cp:revision>1</cp:revision>
  <dcterms:created xsi:type="dcterms:W3CDTF">2026-07-20T17:39:14Z</dcterms:created>
  <dcterms:modified xsi:type="dcterms:W3CDTF">2026-07-20T17:39:14Z</dcterms:modified>
</cp:coreProperties>
</file>